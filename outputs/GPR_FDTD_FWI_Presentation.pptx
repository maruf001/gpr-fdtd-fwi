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yourself. This is a complete from-scratch implementation in Python — no external EM solvers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GPR used in bridge deck inspection, concrete assessment. Current practice relies on manual interpretation. FWI automates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sections, ~20 min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Yee's 1966 innovation. Staggering gives 2nd-order accuracy for free and automatically satisfies div B 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parameter has a physical justification. 2mm grid = 16 pts/wavelength at max Ricker frequency in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we aim to recover. Concrete eps_r=6, rebar PEC (sigma=1e7). 3 rebars at 50mm cover, 100mm spacing.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rebar produces a characteristic hyperbola. Apex = lateral position, curvature = concrete velocity.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GIF animation live if possible. Wavefront refracts at air-concrete, reflects off rebars, CPML absorbs at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frames the core challenge. Direct FD gradient is O(N) simulations.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adjoint method computes the full gradient with only 2 simulations per source: one forward, one adjoint.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critical for trusting inversion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gradient is correct but the step size is severely limited.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know rebars are circular. Exploit this prior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3 rebars recovered with sub-grid accuracy. Grid spacing is 2mm, so &lt;3mm error is within 1-2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43.5% misfit reduction. Trace comparisons show good waveform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proof: the inverted model reproduces the observed B-scan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Speedup increases with grid size. For production 3D problems, expect 30-100x.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GPU CPML port was verified to produce exactly the same traces as the CPU version — zero numerical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Debye dispersion causes frequency-dependent velocity and attenuation.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source is omnidirectional; dipole has directional pattern. 40% effect highlights importance of antenna modeling for quantitative FWI.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 frequencies have smooth misfit landscape — optimizer escapes local minima. Each stage inherits the previous result as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Entire codebase from scratch. No external EM solver libraries.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for questions. Mention: dual-parameter adjoint and 3D extension as natural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2D FDTD Forward Modeling &amp; Full-Waveform</a:t>
            </a:r>
            <a:br/>
            <a:r>
              <a:t>Inversion for Ground-Penetrating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CCDD"/>
                </a:solidFill>
                <a:latin typeface="Calibri"/>
              </a:defRPr>
            </a:pPr>
            <a:r>
              <a:t>Rebar Detection in Reinforced Concrete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Abdullah Maruf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Motivation: GPR for Concrete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Ground-Penetrating Radar (GPR) is the standard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non-destructive method for imaging rebars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Challenge: B-scan hyperbolas give qualitative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locations — not quantitative geometry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Goal: Recover rebar positions &amp; sizes from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waveform data using physics-based inversion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From scratch: ~2,500 lines of Python</a:t>
            </a:r>
          </a:p>
        </p:txBody>
      </p:sp>
      <p:pic>
        <p:nvPicPr>
          <p:cNvPr id="5" name="Picture 4" descr="scanning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5943600" cy="41164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D32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Forward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2D TMz FDTD with CPML boundaries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23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D32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423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Inversion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Adjoint-state gradient + geometry-based FWI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383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D32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GPU Acceleration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CuPy-based speedup (3-7x)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343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D32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343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Extensions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343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Dispersion, antenna, multi-scale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3035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D32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303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Key results and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FDTD Method: The Yee Staggered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TMz polarisation: Ez, Hx, Hy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 and H staggered by half a grid cell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Leapfrog time-stepping: H → E → H → ...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Second-order accurate, energy-conserving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No matrix inversions (fully explicit)</a:t>
            </a:r>
          </a:p>
        </p:txBody>
      </p:sp>
      <p:pic>
        <p:nvPicPr>
          <p:cNvPr id="5" name="Picture 4" descr="yee_gri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88720"/>
            <a:ext cx="6217920" cy="65562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Simulation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37160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51435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Justification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Grid spacing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&gt;=16 pts/wavelength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Time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4.24 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90% of CFL limit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500 x 300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280 x 180 cells + PML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1.5 GHz Ricker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Standard for concrete GPR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Rebars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 x 12 mm 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50 mm cover, 100 mm spacing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CPML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15 layers, cubic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~60 dB absorption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101 positions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50-450 mm, 4 mm step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Ground-Truth Model</a:t>
            </a:r>
          </a:p>
        </p:txBody>
      </p:sp>
      <p:pic>
        <p:nvPicPr>
          <p:cNvPr id="4" name="Picture 3" descr="ground_tr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232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Forward Result: B-Scan Radargram</a:t>
            </a:r>
          </a:p>
        </p:txBody>
      </p:sp>
      <p:pic>
        <p:nvPicPr>
          <p:cNvPr id="4" name="Picture 3" descr="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772400" cy="55325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828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3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rebar hyperbolas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3657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6/6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tests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Wave Propagation Through Concrete</a:t>
            </a:r>
          </a:p>
        </p:txBody>
      </p:sp>
      <p:pic>
        <p:nvPicPr>
          <p:cNvPr id="4" name="Picture 3" descr="wave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Full animation available: outputs/animations/wave_propagation.gif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Inversion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Given: observed B-scan data d_obs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Find: permittivity model m that explains the data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Misfit: J(m) = 0.5 * ||d_obs - d_syn(m)||^2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Naive approach: perturb each of 50,000 grid cells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→ 50,000 forward simulations per gradient!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50,000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114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~4 hrs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per naive gradient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Adjoint-State Method: Efficient Gradients</a:t>
            </a:r>
          </a:p>
        </p:txBody>
      </p:sp>
      <p:pic>
        <p:nvPicPr>
          <p:cNvPr id="4" name="Picture 3" descr="inversion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3606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14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Forward: source at Tx → illumination of each grid cell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Adjoint: time-reversed residual at Rx → sensitivity map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Cross-correlate → gradient at every pixel simultaneously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41148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2 sims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not 50,000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Adjoint Gradient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Gold standard: compare adjoint gradient vs finite differences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Perturbed individual pixels, ran forward simulation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Agreement at max-sensitivity pixel: 0.4% relative error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Random pixels: 0.85-1.09 ratio (expected FD truncation error)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Conclusion: adjoint implementation is mathematically correct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Any convergence issues are NOT gradient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0.4%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FD agreement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Pixel-Wise FWI: The Convergence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50,400 parameters (every grid cell in concrete region)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Step-size analysis: only alpha &lt;= 3e-4 produces descent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At best step: misfit reduces by 1.7e-5 per iteration from J = 14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Would need ~50,000 iterations to recover rebars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Root cause: 50K simultaneous pixel changes → nonlinear overshooting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Needs: pseudo-Hessian preconditioning, multi-scale frequency, source encoding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This motivates the geometry-based approach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Insight: Geometry-Based Parameterisation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  <a:latin typeface="Calibri"/>
              </a:defRPr>
            </a:pPr>
            <a:r>
              <a:t>Pixel-wise FWI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50,000 parameters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Adjoint gradient (expensive)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Extremely slow convergence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Needs advanced preconditioning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Calibri"/>
              </a:defRPr>
            </a:pPr>
            <a:r>
              <a:t>Geometry-based FWI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9 parameters (x, z, r per rebar)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FD gradient (affordable at 9 params)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Fast convergence (Nelder-Mead)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GPU-accelerated forward sims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50K → 9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parameters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Inversion Results: Rebar Recovery</a:t>
            </a:r>
          </a:p>
        </p:txBody>
      </p:sp>
      <p:pic>
        <p:nvPicPr>
          <p:cNvPr id="4" name="Picture 3" descr="invers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229600" cy="2393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371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&lt; 3 mm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position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9260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&lt; 1 mm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depth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448056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3.0%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NRMS model error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Convergence &amp; Signal Comparison</a:t>
            </a:r>
          </a:p>
        </p:txBody>
      </p:sp>
      <p:pic>
        <p:nvPicPr>
          <p:cNvPr id="4" name="Picture 3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1414881"/>
          </a:xfrm>
          <a:prstGeom prst="rect">
            <a:avLst/>
          </a:prstGeom>
        </p:spPr>
      </p:pic>
      <p:pic>
        <p:nvPicPr>
          <p:cNvPr id="5" name="Picture 4" descr="sign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97280"/>
            <a:ext cx="5029200" cy="199682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B-Scan Data Fit: Observed vs Inverted</a:t>
            </a:r>
          </a:p>
        </p:txBody>
      </p:sp>
      <p:pic>
        <p:nvPicPr>
          <p:cNvPr id="4" name="Picture 3" descr="bscan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3749039" cy="2668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Observed</a:t>
            </a:r>
          </a:p>
        </p:txBody>
      </p:sp>
      <p:pic>
        <p:nvPicPr>
          <p:cNvPr id="6" name="Picture 5" descr="bscan_i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71600"/>
            <a:ext cx="3749039" cy="26686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Inverted</a:t>
            </a:r>
          </a:p>
        </p:txBody>
      </p:sp>
      <p:pic>
        <p:nvPicPr>
          <p:cNvPr id="8" name="Picture 7" descr="residual_b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371600"/>
            <a:ext cx="3749039" cy="26594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Residual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GPU Acceleration</a:t>
            </a:r>
          </a:p>
        </p:txBody>
      </p:sp>
      <p:pic>
        <p:nvPicPr>
          <p:cNvPr id="4" name="Picture 3" descr="gpu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27190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CuPy: drop-in NumPy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replacement for GPU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NVIDIA GB10 (DGX Spark)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128 GB unified memory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FDTD stencil is inherently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parallel: 1 thread/cell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0292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3-7x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speedup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Extension: GPU CPML (Full GPU Time-Stepping)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Ported all 8 PML boundary corrections to GPU (CuPy vectorised ops)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Replaced per-layer Python loops with 2D array broadcasting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All psi auxiliary arrays reside on GPU — no CPU-GPU transfers during stepping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Verification: bit-identical traces vs CPU reference (zero error at float64)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Result: complete GPU-resident FDTD loop (H update + CPML + E update + CPML + source)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Bit-identical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to CPU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Extension: Dispersive Materials (Debye Model)</a:t>
            </a:r>
          </a:p>
        </p:txBody>
      </p:sp>
      <p:pic>
        <p:nvPicPr>
          <p:cNvPr id="4" name="Picture 3" descr="dispers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3627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Single-pole Debye ADE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eps_inf=5.0, eps_s=7.0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tau = 0.1 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Adds polarisation current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to E-field update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Significant for quantitative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FWI with real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0292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~20%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trace effect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Extension: Distributed Dipole Antenna Model</a:t>
            </a:r>
          </a:p>
        </p:txBody>
      </p:sp>
      <p:pic>
        <p:nvPicPr>
          <p:cNvPr id="4" name="Picture 3" descr="antenn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235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0" y="50292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~40%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amplitude effect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Extension: Multi-Scale Frequency Continuation</a:t>
            </a:r>
          </a:p>
        </p:txBody>
      </p:sp>
      <p:pic>
        <p:nvPicPr>
          <p:cNvPr id="4" name="Picture 3" descr="multiscal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53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Progressive refinement: 0.5 GHz (coarse) → 1.0 GHz (medium) → 1.5 GHz (fine)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Software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core/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463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FDTD engine, CPML, materials, geometry, source, 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inversion/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240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Adjoint, objective, regularisation, optimizer, geometry, multi-scale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gpu/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CuPy FDTD, GPU CPML, benchmarking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visualization/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794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All plotting modules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tests/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6 verification tests (all pass)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0292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D32"/>
                </a:solidFill>
                <a:latin typeface="Calibri"/>
              </a:defRPr>
            </a:pPr>
            <a:r>
              <a:t>~2,500</a:t>
            </a:r>
          </a:p>
          <a:p>
            <a:pPr algn="ctr">
              <a:defRPr sz="1400">
                <a:solidFill>
                  <a:srgbClr val="333333"/>
                </a:solidFill>
                <a:latin typeface="Calibri"/>
              </a:defRPr>
            </a:pPr>
            <a:r>
              <a:t>lines of Python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Summary &amp; Key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Complete 2D TMz FDTD solver with CPML — 6/6 tests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Adjoint gradient validated to 0.4% vs finite differences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Geometry inversion: 9 params, &lt; 3 mm position error, &lt; 1 mm 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GPU acceleration: 3-7x speedup (CuPy), bit-identical CPML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Extensions: Debye dispersion (~20%), dipole antenna (~40%),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multi-scale frequency continuation, dual-parameter adjoint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7548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All from scratch — ~2,500 lines of documented 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BCCDD"/>
                </a:solidFill>
                <a:latin typeface="Calibri"/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