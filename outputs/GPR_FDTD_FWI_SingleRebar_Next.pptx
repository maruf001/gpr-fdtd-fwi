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deck ended at exact-synthetic recovery on the 1 mm grid. This deck is the systematic stress test that follows, organised around five published FWI strategies. The deck order mirrors what we learned: rule out the OT hypothesis (cycle skipping), test bandwidth scheduling (helpful for seeding, not for radius), test frequency weighting (use 1.5 GHz-only or carry_low_25), test W2 (rejected as a radius objective), find the dominant new failure mode (source wavelet mismatch), and assemble a production source-profiled polish that recovers radius and source jointly.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slide; we will not dwell on it. The rest of the deck uses these acronyms freely, so jump back here if anything is unclear. The left column has general FWI, GPR, and FDTD terms. The right column has paper-specific and numerical terms, including the five paper methods and the two W2 hyperparameters. The name carry_low_25 is one we coined for the frequency-weighting scheme that puts 25 percent weight on the 1 GHz residual and full weight on the 1.5 GHz residual; it shows up in the frequency-weighting section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entries on the left matter more than the others. 'High-radius basin' is the wrong local minimum at about 6.95 mm radius that Powell consistently finds — it will come up on most of the later slides. 'Depth-radius coupling' is the physical reason that basin exists: a deeper rebar trades against a larger radius and produces an almost identical waveform. The grid-polish entry is a carry-over from the first deck but central enough to repeat here. The right column lists features of the production source-profiled polish later in the deck — when 'source profile' and 'distinct-radius margin' appear, the definitions are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of this whole arc is deliberate. We did not pick a single paper and try to apply it; we collected five distinct strategies for FWI failure modes and tested each as a hypothesis. The pattern was the same every time: build the smallest reusable piece of the paper's machinery, put it through a controlled landscape gate, and only decide whether to adopt it based on what the landscape says — before any optimiser integration. That order matters. If we had wired W2 into Powell first, we would have burned compute to learn the same lesson the landscape test delivered cheaply.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points to land from this slide. First, the WRI relaxation is a structural change to the optimisation — the wave equation is no longer a hard constraint enforced exactly each iteration, it is a penalty term, so the wavefield can be slightly inconsistent with the model in exchange for better basin behaviour. Second, the cumulative-frequency idea is independent of WRI itself, and that is the part we actually adopted — we added per-frequency objective contributions and a frequency-weight CLI flag, which is what makes the carry_low_25 scheme possible later in the deck. Third, our deferral of full WRI is conditional, not categorical. If a future setup creates an initial-model failure that source handling cannot fix, WRI moves back onto the table; the docs/experiments/28 tracker has the design notes.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most important detail in PEBDD is that the same band-pass filter is applied to both observed and modelled traces inside the objective. Older bandwidth methods filtered only the modelled side through the source wavelet, and they did not survive on field data. PEBDD did. Our adoption is faithful to that detail — the matched-filter band-pass lives in inversion/trace_filters.py and is applied identically to both d_obs and d_syn before the residual is computed. The schedule itself we re-derived from actual residual spectra after seeing that our first-pass guessed bands did not carry radius information; that story takes up the next several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design points on this slide deserve unpacking. First, the trace fingerprint — converting each trace to a 2D pseudo probability density over time and amplitude and then taking marginals — is what lets optimal transport work on signed oscillatory data without a heavy normalisation. That is a different approach from the W2 / Softplus method in the next paper, which transforms the trace itself into a non-negative mass distribution. Second, the sparse-gradient idea using random master points away from the antennas is a regularisation choice with a side benefit — gradients become independent of the specific distance measure, so swapping in a new objective does not require deriving a new adjoint. That property makes the OT-LS framework unusually flexible for trying objectives quickly.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two-gate structure of our W2 evaluation is important — we did not dismiss W2 from theoretical arguments alone. We replicated the paper's positive claim about shift convexity on shifted Ricker pulses, and only then ran the same machinery on the actual rebar landscape. The negative result on the rebar landscape is specific to this single-rebar radius problem; it is not a general judgement on W2 for FWI. Two more things to keep in mind: β, the Softplus scale, and ε, the Sinkhorn entropy regularisation, are hyperparameters that must be chosen, and Sinkhorn cost grows with trace length. Both of these are reasons to test in a controlled landscape gate before wiring W2 into an optimiser.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IFWI deferral is the most subtle one in the deck. The risk is not that IFWI does not work — it does, in the paper's own results. The risk is what it can be made to fit. A free neural residual field around the rebar could match observed data perfectly while leaving the radius estimate wrong, because the radius error would be absorbed into the residual field as a small material perturbation. That would make our radius confidence number meaningless. The future-prototype design in tracker 29 is intentionally constrained for exactly this reason: explicit geometry stays the primary unknown, the neural residual is small, smooth, and regularised, and held-out scan positions validate that the residual generalises rather than absorbs errors. That constrained version is what we would build first if we did revisit IFWI.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deck roadmap. The order of the rest of the presentation follows the rows of this table top to bottom. First we rule out OT as a radius solver and keep its diagnostic. Then we test bandwidth scheduling and keep it only as a seed builder. Then frequency weighting, where we discover unweighted multi-frequency dilutes radius margin and carry_low_25 is the best compromise. Then W2, where we run two gates — the shift-convexity test passes, the rebar landscape fails, and W2 gets rejected as a final radius objective. Then material parameters, which turn out not to explain the radius bias. Then the wavelet-mismatch finding, which is the new contribution from this arc. And finally the production runner that synthesises the surviving ideas. The OT-LS paper actually appears twice — once directly for the cycle-skipping hypothesis, and once indirectly because it shares PEBDD's concern about source-wavelet handling on field data.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Module: inversion/trace_distances.py. Runner: run_single_rebar_trace_diagnostics.py. We added per-frequency trace_shift_by_frequency to every new single_rebar_summary. The design point of mentioning this on the slide is *not* that OT is bad — it is that the diagnostic itself ruled out the branch for the current problem before any expensive optimizer integration. Even at 10% noise the wrong-radius candidate still passes the half-period gate.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on this slide is what rules out the OT branch for our specific problem. Three observations to land. First, the OT-LS paper's whole motivation is cycle skipping at scale — the trigger condition for using OT is NRCCC less than 1, meaning some traces are out of phase by more than half a period. Second, every one of our wrong-radius candidates already sits at NRCCC equal to 1, including under 5% and 10% noise; the paper itself would say 'use least squares here'. Third, the wrong-radius rows do have very slightly higher RCCC than the polished true rows, but the absolute value — about 0.003 of a period — is two orders of magnitude below the 0.5 gate. So the radius issue is an amplitude and detail issue, not a transport issue. That observation drives the next section on PEBDD bandwidth and eventually motivates the source-profiling work that closes the deck. We keep the NRCCC diagnostic available because field data may still have basin-finding problems that this synthetic case does not.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this stage the bands were chosen by inspection: 0.2 to 0.8 GHz, then 0.2 to 1.1, then 0.2 to 1.5, then the full band. The matched band-pass filter lives in inversion/trace_filters.py and is exposed through the --objective-bandpass-ghz CLI flag with a taper width. The fact that this first-pass schedule did not move radius is what motivated the spectrum-driven design on the next few slides; we will see that the residual energy that actually distinguishes nearby radii does not live in the 0.2–0.8 GHz band at 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bars go in chronological order. The grey bar on the left is the initial seed at radius 6.76 mm. Stage 1 with the low band brings radius down to 6.57 — that is a real improvement. Stage 2, which expands the band to 1.1 GHz, drifts back up to 6.86. The red bar in the middle is the control: stage 1 seed followed by a full-band Powell run without polish — it returns to the same 6.955 mm wrong basin as the original first-arc Powell result, which tells us the regression is caused by the full-band Powell objective itself, not by any particular staging choice. The two green bars are the only ones that land at the true 6.0 mm, and both of them used the polish stage.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filtered objective at the end of this stage is about 1e-4 and the full-data NRMS is about 1.07 percent — both small numbers. But the recovered model still has the rebar slightly off in depth and at the wrong radius. The PEBDD-faithful detail here is that the observed and synthetic traces are filtered through the same band-pass before the residual is computed; older bandwidth-expansion methods filtered only the modelled side through the source wavelet, and that is the difference that made PEBDD survive on field data.</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Full-data NRMS (normalised RMS over the unfiltered traces) actually improves to about 0.79%, but the recovered radius worsens from 6.57 mm back toward 6.86 mm. This is the single most important lesson from the PEBDD-first-pass section: data fit and radius fidelity can move in opposite directions when the objective expansion reactivates the depth-radius tradeoff. The expanded band lets the optimiser explore amplitude detail the low band could not see, but the dominant valley in that detail is the high-radius basin, not the true r = 6.0 mm minimum. This behaviour was not predictable from the paper's claims alone — it is specific to our rasterised-geometry setting and is what motivates the polish stage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polish candidates here are radius 6.0 mm with misfit zero, radius 6.2 with misfit 1.04e-3, and radius 6.8 with misfit 2.08e-3. That is exactly the same ranking the simpler single-frequency polish produced in the first deck. The implication is unambiguous: even with the multi-stage bandwidth schedule wrapped around it, the polish stage is what does the radius work. PEBDD as we have implemented it has not added to radius accuracy; it has only added compute cost. This is the first hard evidence that PEBDD on its own cannot solve radius, and it sets up the spectrum-design section that asks whether the band choices themselves were wrong. One caveat: this is the exact-synthetic case. Under noise the same conclusion holds, but the polish stage starts to need careful early-stop thresholds to avoid following noise instead of geometry.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run isolates blame between two suspects. Either the staged path itself is unstable — maybe stage 2 destabilised something — or the full-band Powell objective is the cause because of the depth-radius valley we discussed earlier. If the staged path were at fault, removing the polish step would still leave us at a moderate radius. If the full-band objective were at fault, we would land back at the original wrong basin. The result is unambiguous: r = 6.955 mm, exactly the same as the original first-arc Powell result. The full-band Powell objective is the cause, not the staging. That conclusion lets us promote the 'stage 1 seed → polish only' variant on the next slide, which removes the full-band Powell step entirely.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variant we promote on exact data: low-band Powell to land in the right basin, then full-band polish to select radius. It is faster than the full Powell-plus-polish path because we skip the most expensive Powell stage. The caveat is that this only works on exact data — under noise the low-band stage does not move radius much, and the next slide shows the noise variant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additive-noise seeds, 5 percent and 10 percent RMS. The low-band Powell stage stays near r = 7.0 mm in both cases — it does not move radius under noise. The polish stage is what recovers the true 6.0 mm. So under noise the low-band stage is a seed-builder, not a radius corrector, and the headline is the same as the exact-data case: bandwidth scheduling moves rough seeds into the right window, but the polish stage is the radius selector.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new pieces of plumbing were added here. First, per-frequency reporting in the summary JSON, so we can see which source band a candidate's misfit actually came from. Second, a --frequency-weights CLI flag for weighted averaging across frequencies. These two together set up the frequency-weighting matrix that we will see in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recovered model panel looks the same as the earlier polish results because the true model has zero misfit at both frequencies. The interesting information is in the margin numbers. At r = 6.2 mm, the 1.0 GHz objective gives a misfit of 3.56e-5, while the 1.5 GHz objective gives 1.04e-3 — roughly a thirty-times ratio. When we average the two equally, the effective margin drops to about 5.4e-4, roughly halfway between. The conclusion to take away when designing multi-frequency objectives: equal weighting is not neutral. It dilutes the most informative frequency.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lives in two files: inversion/spectrum_analysis.py for the core logic, and run_single_rebar_spectrum_design.py for the experiment runner. The three spectra — source, observed, and candidate residual — are all saved as a single CSV so we can re-render at any zoom level. The figures on the next three slides are re-rendered with the x-axis cropped to 0–4 GHz, because the original saved figures extend to about 250 GHz Nyquist and the relevant content is invisible at that scale.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runner reports the 5-to-95 percent source-energy band as 0.75 to 2.5 GHz, with peak at 1.5 GHz, which matches the nominal centre frequency of the Ricker pulse. This sets a hard upper limit for any band design that comes next: anything we ask the inversion objective to fit above about 2.5 GHz is fitting noise or numerical content, not real source content. It also explains why the W2 / Sinkhorn experiments later in the deck need to downsample along the time axis — the source band is narrow compared to the trace sampling rate, so most of the trace samples carry no source information and are pure simulator overhead from Sinkhorn's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Notice that the observed spectrum peak is at 0.75 GHz, not 1.5 GHz. That can surprise the audience: the source carrier is 1.5 GHz, but by the time the wave has propagated through air, crossed the air-concrete interface, scattered off the rebar, and returned through the Tx–Rx geometry, the energy distribution has shifted downward. The important caveat is that this does not mean the radius information lives at 0.75 GHz. The radius-discriminating part is in the residual, not in the observed trace itself — and the next slide shows the residual spectra explicitly.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numerical context behind this chart: for the r = 6.2 mm near-radius candidate, the residual energy captured by progressively wider bands is 2.1 percent in 0.2–0.8 GHz, 5.5 percent in 0.35–1.10, 22.5 percent in 0.35–1.50, 60.4 percent in 0.35–2.00, and 89.7 percent in 0.35–2.50. So the difference between r = 6.0 and r = 6.2 lives almost entirely above 1 GHz, with the peak near 2 GHz. This single chart is what justified the spectrum-derived schedule on the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runner is run_single_rebar_bandwidth_schedule.py. Each stage's outputs are saved as a nested directory inside the experiment directory — stage01_0.35_1.10GHz, stage02_0.35_1.50GHz, and so on, ending with a final_fullband_coarse_polish stage. This run is the controlled comparison to the first-pass PEBDD: the same staged shape, but with bands chosen by the spectrum tool rather than by guesswork.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Powell stages move slightly away from truth as the band widens — from 6.864 in stage 1 up to 6.930 in stage 4. The right interpretation is that radius is already as well determined as Powell can make it in the lowest band, and the wider bands reactivate the depth-radius valley rather than adding new constraints. Polish is what removes the bias. The headline of this section is the same as the first-pass section: bandwidth scheduling helps with seed building, not with radius selection.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Normalised root-mean-square misfit is zero on both the model and the data. The polish margin — the objective gap between the chosen r = 6.0 mm and the next-best r = 6.2 mm — is about 1.04e-3, identical to the simpler polish from the first arc. So the bandwidth schedule did not change the radius evidence the polish stage operates on; it only ensured the polish started inside the right (x, z) window.</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runner is run_single_rebar_frequency_weight_matrix.py. Weight schemes are specified as comma-separated lists — for example, '0.25,1' means 25 percent weight on the 1.0 GHz residual and full weight on the 1.5 GHz residual. The runner reports the best-radius-versus-next-radius margin per scheme, so the schemes can be ranked at a glance from a single output table.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distinct-radius margins between r = 6.0 and r = 6.2 are: 3.56e-5 for low_only, 1.04e-3 for onepointfive_only, 5.36e-4 for unweighted, 8.37e-4 for carry_low_25, and 7.03e-4 for carry_low_50. The pattern is intuitive once we have seen the spectrum-design slide: 1.0 GHz is below the residual-energy band that distinguishes nearby radii, so it carries little radius information, and equal averaging just dilutes the useful evidence from 1.5 GHz.</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panels are nearly identical, which is the point: the ranking is robust to the noise level. The practical recommendation from this whole matrix is: use 1.5 GHz-only least squares for the final radius decision; use carry_low_25 if a low-frequency contribution is needed for basin continuity — for example, when the initial seed is poorer and we still need some sensitivity to broad-scale features. Never use the unweighted equal average for radius selection; the margin loss is consistent across noise levels.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W2 module lives in inversion/trace_wasserstein.py as a standalone object with unit tests. The Softplus scale β controls how strongly the signed waveform is transformed before being normalised to a mass distribution; the Sinkhorn entropy regularisation ε trades transport accuracy for numerical stability. We test three β values — 4, 8, and 12 — as a small sensitivity sweep. We call this gate 1 because passing the trace-shift test is necessary but not sufficient for W2 to be useful on the actual radius problem; gate 2 is the rebar landscape three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L2 panel on the left hits zero only at the shift-equals-zero point, but it rises and then falls again on each side — that second mountain is the cycle-skip trap that misleads optimisers. The W2 panel on the right is U-shaped and monotonic on both sides of zero for all three β values. β = 12 has the sharpest curvature near the minimum, which would matter for an optimiser. We use β = 8 on the next slide for the rebar landscape as a balance between sharpness and numerical stability.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runner is run_single_rebar_w2_landscape.py. The downsample parameter is needed because Sinkhorn on the full trace length is expensive — ds = 16 means we take every sixteenth sample of the muted trace before computing W2. The key story to land here is that the W2 paper's claim about shifts genuinely holds — we just saw that in gate 1 — but the radius problem in our setup is not a shift problem, so W2's advantage does not transfer.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panels reach zero at r = 6.0 mm, but the L2 plot on the left has wings on the order of 1e-3, while the W2 plot on the right has wings on the order of 1e-7. The downsample-equals-8 version in experiment 051 is qualitatively identical, so this is not a numerical artefact of how we set up Sinkhorn. The decision is to reject W2 as the final radius objective for this problem. We keep the module available because it may still be useful as a basin diagnostic for future poor initial models or field data, but for radius selection we stay with least squares.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runner is run_single_rebar_material_tradeoff.py. The top four candidates in the saved summary tell the whole story. Rank 1 is the true model: r = 6.0, εr = 6.0, σ = 1e7, misfit zero. Ranks 2 and 3 are also r = 6.0 with εr = 6.0, but with σ values of 1e6 and 1e5 — and the misfit values are tiny, 3.18e-10 and 3.85e-8. That is the saturation: once σ is high enough for the rebar to behave as a perfect conductor, the exact value stops mattering. Rank 4 is r = 6.2 with the true εr, and the misfit is 1.04e-3 — the familiar radius margin. The εr value is genuinely identified; the σ value is saturated above 1e5 S/m. That tells us we do not need to introduce free material parameters into the radius optimiser at this stage.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runner is run_single_rebar_wavelet_mismatch.py. The modelled source wavelet stays at the nominal 1.5 GHz Ricker; only the observed truth changes from case to case. This is the first experiment series in the deck where we allow any aspect of the source to be wrong, and it is where the most important new finding of this arc comes from. The fix unfolds across four slides — each slide adds one nuisance parameter to the objective and shows which mismatch cases recover and which do not.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best-radius per case tells the story. Nominal recovers 6.0 mm, fc_low10 pegs to the lower grid bound at 5.4, fc_high10 pegs to the upper bound at 7.8, delay_+50 ps goes to 5.4, delay_−50 ps goes to 7.8, amp_low10 stays at 6.0, and amp_high10 moves to 7.0. The asymmetry is real: pegging to the lower bound corresponds to a slower observed wavelet — later arrival, longer period — while pegging to the upper bound corresponds to a faster one. This is the kind of failure that would only show up after moving to real data. It is the motivation for the three nuisance-parameter slides that follow, which fix the cases one at a time.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optimal scalar amplitude for each candidate has a closed form — it is the standard inner-product over norm-squared ratio, the dot product of d_obs and d_syn divided by the dot product of d_syn with itself. That makes it essentially free compared to the cost of a forward solve. The amp_high10 line, where the observed source was scaled by 1.1, now sits on top of the nominal line. The fc_low10, fc_high10, delay_+50, and delay_-50 lines are unchanged because amplitude fitting cannot absorb phase or bandwidth differences. The takeaway is that amplitude is the smallest, cheapest nuisance parameter that meaningfully reduces source-mismatch bias — if the budget only allows one, this is the one to add.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time-shift grid is small on purpose — minus 80, minus 50, minus 25, zero, plus 25, plus 50, plus 80 picoseconds. The shift is global per scan position, meaning one value per (scan, candidate) pair, not a free per-trace parameter; that keeps the nuisance space small enough to enumerate exhaustively. The delay-plus-50 and delay-minus-50 cases now land back at r = 6.0 mm because a global plus 50 picosecond shift in the modelled trace fully absorbs a minus 50 picosecond observed mismatch. The fc_low10 case partially recovers — the best radius moves from the lower grid bound at 5.4 mm up to 6.2 mm — because a time shift can partially compensate for a longer-period observed pulse, but fc_high10 still fails. Bandwidth mismatch is fundamentally different from a pure time shift and needs its own nuisance parameter, which the next slide adds.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frequency-scale grid is small on purpose — just three values, 0.9, 1.0, and 1.1 — because each value needs its own FDTD forward solve, so the grid is the expensive part of the nuisance fit. All seven mismatch cases now land at r = 6.0 mm. This slide is the diagnostic matrix that tells us the three-piece source profile — amplitude scalar, time-shift grid, and frequency-scale grid — is sufficient to absorb the kinds of mismatch we tested. The next section packages the same three pieces into a reusable production polish runner.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source-profile module lives in inversion/source_profile.py and the runner is Stage 1 of the post-summary plan in tracker 31. It exists so that the next stage, which replicates results across noise and source-mismatch seeds, has a clean validated entry point. One design choice on this slide worth noting: the confidence reporting — top-k candidates plus distinct-radius margin — is part of the runner interface, not a separate analysis step. The pipeline does not produce a single point estimate; it produces a list.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nominal smoke run: 12 geometry candidates evaluated with no injected source mismatch. The source-profile parameters land at exactly the nominal values — frequency scale 1.0, shift 0 picoseconds, amplitude 1.000 — which is the right behaviour. The runner should not introduce drift when there is no mismatch to fit. The distinct-radius margin — the objective gap between the best radius and the best next-distinct radius — matches the earlier polish result at about 9.815e-4. The runner is conservative: it does not inflate margins or pull the source profile away from truth when no mismatch is present. That property is important because we want this runner to be safe to use as the default final stage, not just as an opt-in audit step.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run evaluates 52 geometry candidates with three modelled source-frequency scales each. The observed source was deliberately mismatched in three ways at once — centre frequency scaled by 1.1, time shifted by minus 50 picoseconds, and amplitude scaled by 1.1. The recovered source profile matches the injected one exactly: fc scale 1.1, shift minus 50 picoseconds, amplitude 1.100. This is the headline result of the whole arc — the production runner recovers both the geometry and the injected nuisance source parameters at the same time. Looking at the sub-ranks, a few r = 6.2 mm candidates also prefer a minus 25 picosecond shift, which is exactly the kind of competing explanation top-k reporting is meant to surface.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single-slide summary of the whole arc, organised by paper. The headline sits in the bottom row — the additional finding that was not in any of the five papers: source-wavelet profiling with a small structured nuisance fit per candidate. That is the most important new contribution of this arc, and it is the recipe the recommended pipeline is built around. Above that, the five papers each gave us something we kept — frequency weighting from WRI, the matched-filter band-pass from PEBDD, the trace-shift diagnostic from OT-LS, the W2 module as a landscape gate, and the frequency-principle staging idea from IFWI. Each paper also had a piece we ruled out for this specific problem, and each rejection is justified by a specific experiment number in the table. Two of the rejections are conditional, not categorical. WRI moves back onto the table if a future setup creates an initial-model failure source handling cannot fix. IFWI moves back onto the table when explicit nuisance parameters become insufficient for multi-rebar or field data.</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deferrals are conditional, not categorical. WRI becomes worth revisiting if a future use case creates a poor initial model where time-domain FDTD optimisation reliably fails. IFWI becomes worth revisiting when explicit nuisance parameters can no longer absorb material or background residuals — most likely with multi-rebar geometry or field data. Both tracker documents lay out a constrained design for a future prototype if either of those conditions is met.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five-step pipeline is the production recipe distilled from this whole arc. Walking through the steps: first, use the existing staged or PEBDD path only to bring x and z into the right basin — we should not expect it to fix radius. Second, evaluate the final radius with 1.5 GHz-only or carry_low_25 — never use unweighted multi-frequency, because it dilutes margin. Third, the radius decision is a local grid polish — a small enumeration over (z, r) — not Powell; continuous Powell sits in the depth-radius valley. Fourth, a per-candidate source profile combining amplitude, time-shift, and frequency-scale is mandatory before trusting any radius decision on data where the source may differ from nominal. Fifth, confidence is the distinct-radius margin and the top-k candidate list, not a single point estimate. The right column matters just as much — each 'not doing' item is a specific branch we tested and chose not to spend the next iteration on, with reasons in the relevant tracker documents.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closing slide. The choice here is deliberate: stay narrow, with a focused replication matrix and a scaling-out path, rather than opening another menu of new research branches. The hyperbola baseline on the right is intentionally non-FWI — having an independent method available makes the FWI result credible when we get to field-data validation.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2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332"/>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280160"/>
            <a:ext cx="2743200" cy="365760"/>
          </a:xfrm>
          <a:prstGeom prst="round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280160"/>
            <a:ext cx="2743200" cy="365760"/>
          </a:xfrm>
          <a:prstGeom prst="rect">
            <a:avLst/>
          </a:prstGeom>
          <a:noFill/>
        </p:spPr>
        <p:txBody>
          <a:bodyPr wrap="square">
            <a:spAutoFit/>
          </a:bodyPr>
          <a:lstStyle/>
          <a:p>
            <a:pPr algn="ctr">
              <a:defRPr sz="1300" b="1" i="0">
                <a:solidFill>
                  <a:srgbClr val="1A2332"/>
                </a:solidFill>
                <a:latin typeface="Calibri"/>
              </a:defRPr>
            </a:pPr>
            <a:r>
              <a:t>SECOND RESEARCH ARC</a:t>
            </a:r>
          </a:p>
        </p:txBody>
      </p:sp>
      <p:sp>
        <p:nvSpPr>
          <p:cNvPr id="5" name="TextBox 4"/>
          <p:cNvSpPr txBox="1"/>
          <p:nvPr/>
        </p:nvSpPr>
        <p:spPr>
          <a:xfrm>
            <a:off x="777240" y="1783080"/>
            <a:ext cx="10972800" cy="1188720"/>
          </a:xfrm>
          <a:prstGeom prst="rect">
            <a:avLst/>
          </a:prstGeom>
          <a:noFill/>
        </p:spPr>
        <p:txBody>
          <a:bodyPr wrap="square">
            <a:spAutoFit/>
          </a:bodyPr>
          <a:lstStyle/>
          <a:p>
            <a:pPr algn="l">
              <a:defRPr sz="4200" b="1" i="0">
                <a:solidFill>
                  <a:srgbClr val="FFFFFF"/>
                </a:solidFill>
                <a:latin typeface="Calibri"/>
              </a:defRPr>
            </a:pPr>
            <a:r>
              <a:t>Stress-testing the single-rebar pipeline</a:t>
            </a:r>
          </a:p>
        </p:txBody>
      </p:sp>
      <p:sp>
        <p:nvSpPr>
          <p:cNvPr id="6" name="TextBox 5"/>
          <p:cNvSpPr txBox="1"/>
          <p:nvPr/>
        </p:nvSpPr>
        <p:spPr>
          <a:xfrm>
            <a:off x="777240" y="2697480"/>
            <a:ext cx="10972800" cy="548640"/>
          </a:xfrm>
          <a:prstGeom prst="rect">
            <a:avLst/>
          </a:prstGeom>
          <a:noFill/>
        </p:spPr>
        <p:txBody>
          <a:bodyPr wrap="square">
            <a:spAutoFit/>
          </a:bodyPr>
          <a:lstStyle/>
          <a:p>
            <a:pPr algn="l">
              <a:defRPr sz="2200" b="0" i="1">
                <a:solidFill>
                  <a:srgbClr val="CCDDEE"/>
                </a:solidFill>
                <a:latin typeface="Calibri"/>
              </a:defRPr>
            </a:pPr>
            <a:r>
              <a:t>What assumption, if broken, actually moves radius?</a:t>
            </a:r>
          </a:p>
        </p:txBody>
      </p:sp>
      <p:sp>
        <p:nvSpPr>
          <p:cNvPr id="7" name="TextBox 6"/>
          <p:cNvSpPr txBox="1"/>
          <p:nvPr/>
        </p:nvSpPr>
        <p:spPr>
          <a:xfrm>
            <a:off x="777240" y="3200400"/>
            <a:ext cx="10972800" cy="548640"/>
          </a:xfrm>
          <a:prstGeom prst="rect">
            <a:avLst/>
          </a:prstGeom>
          <a:noFill/>
        </p:spPr>
        <p:txBody>
          <a:bodyPr wrap="square">
            <a:spAutoFit/>
          </a:bodyPr>
          <a:lstStyle/>
          <a:p>
            <a:pPr algn="l">
              <a:defRPr sz="1800" b="0" i="0">
                <a:solidFill>
                  <a:srgbClr val="AABBCC"/>
                </a:solidFill>
                <a:latin typeface="Calibri"/>
              </a:defRPr>
            </a:pPr>
            <a:r>
              <a:t>Five published FWI strategies as the menu of hypotheses</a:t>
            </a:r>
          </a:p>
        </p:txBody>
      </p:sp>
      <p:sp>
        <p:nvSpPr>
          <p:cNvPr id="8" name="Rounded Rectangle 7"/>
          <p:cNvSpPr/>
          <p:nvPr/>
        </p:nvSpPr>
        <p:spPr>
          <a:xfrm>
            <a:off x="7772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 y="4462272"/>
            <a:ext cx="3383280" cy="457200"/>
          </a:xfrm>
          <a:prstGeom prst="rect">
            <a:avLst/>
          </a:prstGeom>
          <a:noFill/>
        </p:spPr>
        <p:txBody>
          <a:bodyPr wrap="square">
            <a:spAutoFit/>
          </a:bodyPr>
          <a:lstStyle/>
          <a:p>
            <a:pPr algn="ctr">
              <a:defRPr sz="1800" b="1" i="0">
                <a:solidFill>
                  <a:srgbClr val="E8913A"/>
                </a:solidFill>
                <a:latin typeface="Calibri"/>
              </a:defRPr>
            </a:pPr>
            <a:r>
              <a:t>Source profiling</a:t>
            </a:r>
          </a:p>
        </p:txBody>
      </p:sp>
      <p:sp>
        <p:nvSpPr>
          <p:cNvPr id="10" name="TextBox 9"/>
          <p:cNvSpPr txBox="1"/>
          <p:nvPr/>
        </p:nvSpPr>
        <p:spPr>
          <a:xfrm>
            <a:off x="777240" y="4983480"/>
            <a:ext cx="3383280" cy="640080"/>
          </a:xfrm>
          <a:prstGeom prst="rect">
            <a:avLst/>
          </a:prstGeom>
          <a:noFill/>
        </p:spPr>
        <p:txBody>
          <a:bodyPr wrap="square">
            <a:spAutoFit/>
          </a:bodyPr>
          <a:lstStyle/>
          <a:p>
            <a:pPr algn="ctr">
              <a:defRPr sz="1300" b="0" i="0">
                <a:solidFill>
                  <a:srgbClr val="FFFFFF"/>
                </a:solidFill>
                <a:latin typeface="Calibri"/>
              </a:defRPr>
            </a:pPr>
            <a:r>
              <a:t>Amplitude + time-shift + center-frequency scale</a:t>
            </a:r>
          </a:p>
        </p:txBody>
      </p:sp>
      <p:sp>
        <p:nvSpPr>
          <p:cNvPr id="11" name="Rounded Rectangle 10"/>
          <p:cNvSpPr/>
          <p:nvPr/>
        </p:nvSpPr>
        <p:spPr>
          <a:xfrm>
            <a:off x="44348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434840" y="4462272"/>
            <a:ext cx="3383280" cy="457200"/>
          </a:xfrm>
          <a:prstGeom prst="rect">
            <a:avLst/>
          </a:prstGeom>
          <a:noFill/>
        </p:spPr>
        <p:txBody>
          <a:bodyPr wrap="square">
            <a:spAutoFit/>
          </a:bodyPr>
          <a:lstStyle/>
          <a:p>
            <a:pPr algn="ctr">
              <a:defRPr sz="1800" b="1" i="0">
                <a:solidFill>
                  <a:srgbClr val="E8913A"/>
                </a:solidFill>
                <a:latin typeface="Calibri"/>
              </a:defRPr>
            </a:pPr>
            <a:r>
              <a:t>Frequency weighting</a:t>
            </a:r>
          </a:p>
        </p:txBody>
      </p:sp>
      <p:sp>
        <p:nvSpPr>
          <p:cNvPr id="13" name="TextBox 12"/>
          <p:cNvSpPr txBox="1"/>
          <p:nvPr/>
        </p:nvSpPr>
        <p:spPr>
          <a:xfrm>
            <a:off x="4434840" y="4983480"/>
            <a:ext cx="3383280" cy="640080"/>
          </a:xfrm>
          <a:prstGeom prst="rect">
            <a:avLst/>
          </a:prstGeom>
          <a:noFill/>
        </p:spPr>
        <p:txBody>
          <a:bodyPr wrap="square">
            <a:spAutoFit/>
          </a:bodyPr>
          <a:lstStyle/>
          <a:p>
            <a:pPr algn="ctr">
              <a:defRPr sz="1300" b="0" i="0">
                <a:solidFill>
                  <a:srgbClr val="FFFFFF"/>
                </a:solidFill>
                <a:latin typeface="Calibri"/>
              </a:defRPr>
            </a:pPr>
            <a:r>
              <a:t>Lower bands for basin, 1.5 GHz for radius</a:t>
            </a:r>
          </a:p>
        </p:txBody>
      </p:sp>
      <p:sp>
        <p:nvSpPr>
          <p:cNvPr id="14" name="Rounded Rectangle 13"/>
          <p:cNvSpPr/>
          <p:nvPr/>
        </p:nvSpPr>
        <p:spPr>
          <a:xfrm>
            <a:off x="8092440" y="4297680"/>
            <a:ext cx="3383280" cy="1371600"/>
          </a:xfrm>
          <a:prstGeom prst="roundRect">
            <a:avLst/>
          </a:prstGeom>
          <a:solidFill>
            <a:srgbClr val="243B5E"/>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92440" y="4462272"/>
            <a:ext cx="3383280" cy="457200"/>
          </a:xfrm>
          <a:prstGeom prst="rect">
            <a:avLst/>
          </a:prstGeom>
          <a:noFill/>
        </p:spPr>
        <p:txBody>
          <a:bodyPr wrap="square">
            <a:spAutoFit/>
          </a:bodyPr>
          <a:lstStyle/>
          <a:p>
            <a:pPr algn="ctr">
              <a:defRPr sz="1800" b="1" i="0">
                <a:solidFill>
                  <a:srgbClr val="E8913A"/>
                </a:solidFill>
                <a:latin typeface="Calibri"/>
              </a:defRPr>
            </a:pPr>
            <a:r>
              <a:t>Polish, not Powell</a:t>
            </a:r>
          </a:p>
        </p:txBody>
      </p:sp>
      <p:sp>
        <p:nvSpPr>
          <p:cNvPr id="16" name="TextBox 15"/>
          <p:cNvSpPr txBox="1"/>
          <p:nvPr/>
        </p:nvSpPr>
        <p:spPr>
          <a:xfrm>
            <a:off x="8092440" y="4983480"/>
            <a:ext cx="3383280" cy="640080"/>
          </a:xfrm>
          <a:prstGeom prst="rect">
            <a:avLst/>
          </a:prstGeom>
          <a:noFill/>
        </p:spPr>
        <p:txBody>
          <a:bodyPr wrap="square">
            <a:spAutoFit/>
          </a:bodyPr>
          <a:lstStyle/>
          <a:p>
            <a:pPr algn="ctr">
              <a:defRPr sz="1300" b="0" i="0">
                <a:solidFill>
                  <a:srgbClr val="FFFFFF"/>
                </a:solidFill>
                <a:latin typeface="Calibri"/>
              </a:defRPr>
            </a:pPr>
            <a:r>
              <a:t>Local grid polish remains the radius selector</a:t>
            </a:r>
          </a:p>
        </p:txBody>
      </p:sp>
      <p:sp>
        <p:nvSpPr>
          <p:cNvPr id="17" name="TextBox 16"/>
          <p:cNvSpPr txBox="1"/>
          <p:nvPr/>
        </p:nvSpPr>
        <p:spPr>
          <a:xfrm>
            <a:off x="777240" y="6309360"/>
            <a:ext cx="10972800" cy="274320"/>
          </a:xfrm>
          <a:prstGeom prst="rect">
            <a:avLst/>
          </a:prstGeom>
          <a:noFill/>
        </p:spPr>
        <p:txBody>
          <a:bodyPr wrap="square">
            <a:spAutoFit/>
          </a:bodyPr>
          <a:lstStyle/>
          <a:p>
            <a:pPr algn="l">
              <a:defRPr sz="1200" b="0" i="0">
                <a:solidFill>
                  <a:srgbClr val="7F8C8D"/>
                </a:solidFill>
                <a:latin typeface="Calibri"/>
              </a:defRPr>
            </a:pPr>
            <a:r>
              <a:t>GPR-FDTD-FWI  •  experiments 024–058</a:t>
            </a:r>
          </a:p>
        </p:txBody>
      </p:sp>
      <p:sp>
        <p:nvSpPr>
          <p:cNvPr id="18" name="TextBox 17"/>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Abbreviations and shorthand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Used throughout the deck — refer back as needed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reference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a:t>
            </a:r>
          </a:p>
        </p:txBody>
      </p:sp>
      <p:sp>
        <p:nvSpPr>
          <p:cNvPr id="8" name="TextBox 7"/>
          <p:cNvSpPr txBox="1"/>
          <p:nvPr/>
        </p:nvSpPr>
        <p:spPr>
          <a:xfrm>
            <a:off x="365760" y="1280160"/>
            <a:ext cx="5532120" cy="457200"/>
          </a:xfrm>
          <a:prstGeom prst="rect">
            <a:avLst/>
          </a:prstGeom>
          <a:noFill/>
        </p:spPr>
        <p:txBody>
          <a:bodyPr wrap="square">
            <a:spAutoFit/>
          </a:bodyPr>
          <a:lstStyle/>
          <a:p>
            <a:r>
              <a:rPr sz="1100" b="1">
                <a:solidFill>
                  <a:srgbClr val="1A2332"/>
                </a:solidFill>
                <a:latin typeface="Calibri"/>
              </a:rPr>
              <a:t>FWI</a:t>
            </a:r>
            <a:r>
              <a:rPr sz="1000">
                <a:solidFill>
                  <a:srgbClr val="2C3E50"/>
                </a:solidFill>
                <a:latin typeface="Calibri"/>
              </a:rPr>
              <a:t>  —  Full-Waveform Inversion — fit a wave-equation forward model to observed traces.</a:t>
            </a:r>
          </a:p>
        </p:txBody>
      </p:sp>
      <p:sp>
        <p:nvSpPr>
          <p:cNvPr id="9" name="TextBox 8"/>
          <p:cNvSpPr txBox="1"/>
          <p:nvPr/>
        </p:nvSpPr>
        <p:spPr>
          <a:xfrm>
            <a:off x="365760" y="1691639"/>
            <a:ext cx="5532120" cy="457200"/>
          </a:xfrm>
          <a:prstGeom prst="rect">
            <a:avLst/>
          </a:prstGeom>
          <a:noFill/>
        </p:spPr>
        <p:txBody>
          <a:bodyPr wrap="square">
            <a:spAutoFit/>
          </a:bodyPr>
          <a:lstStyle/>
          <a:p>
            <a:r>
              <a:rPr sz="1100" b="1">
                <a:solidFill>
                  <a:srgbClr val="1A2332"/>
                </a:solidFill>
                <a:latin typeface="Calibri"/>
              </a:rPr>
              <a:t>GPR</a:t>
            </a:r>
            <a:r>
              <a:rPr sz="1000">
                <a:solidFill>
                  <a:srgbClr val="2C3E50"/>
                </a:solidFill>
                <a:latin typeface="Calibri"/>
              </a:rPr>
              <a:t>  —  Ground-Penetrating Radar.</a:t>
            </a:r>
          </a:p>
        </p:txBody>
      </p:sp>
      <p:sp>
        <p:nvSpPr>
          <p:cNvPr id="10" name="TextBox 9"/>
          <p:cNvSpPr txBox="1"/>
          <p:nvPr/>
        </p:nvSpPr>
        <p:spPr>
          <a:xfrm>
            <a:off x="365760" y="2103120"/>
            <a:ext cx="5532120" cy="457200"/>
          </a:xfrm>
          <a:prstGeom prst="rect">
            <a:avLst/>
          </a:prstGeom>
          <a:noFill/>
        </p:spPr>
        <p:txBody>
          <a:bodyPr wrap="square">
            <a:spAutoFit/>
          </a:bodyPr>
          <a:lstStyle/>
          <a:p>
            <a:r>
              <a:rPr sz="1100" b="1">
                <a:solidFill>
                  <a:srgbClr val="1A2332"/>
                </a:solidFill>
                <a:latin typeface="Calibri"/>
              </a:rPr>
              <a:t>FDTD</a:t>
            </a:r>
            <a:r>
              <a:rPr sz="1000">
                <a:solidFill>
                  <a:srgbClr val="2C3E50"/>
                </a:solidFill>
                <a:latin typeface="Calibri"/>
              </a:rPr>
              <a:t>  —  Finite-Difference Time-Domain — the wave-equation solver this project uses.</a:t>
            </a:r>
          </a:p>
        </p:txBody>
      </p:sp>
      <p:sp>
        <p:nvSpPr>
          <p:cNvPr id="11" name="TextBox 10"/>
          <p:cNvSpPr txBox="1"/>
          <p:nvPr/>
        </p:nvSpPr>
        <p:spPr>
          <a:xfrm>
            <a:off x="365760" y="2514600"/>
            <a:ext cx="5532120" cy="457200"/>
          </a:xfrm>
          <a:prstGeom prst="rect">
            <a:avLst/>
          </a:prstGeom>
          <a:noFill/>
        </p:spPr>
        <p:txBody>
          <a:bodyPr wrap="square">
            <a:spAutoFit/>
          </a:bodyPr>
          <a:lstStyle/>
          <a:p>
            <a:r>
              <a:rPr sz="1100" b="1">
                <a:solidFill>
                  <a:srgbClr val="1A2332"/>
                </a:solidFill>
                <a:latin typeface="Calibri"/>
              </a:rPr>
              <a:t>CPML</a:t>
            </a:r>
            <a:r>
              <a:rPr sz="1000">
                <a:solidFill>
                  <a:srgbClr val="2C3E50"/>
                </a:solidFill>
                <a:latin typeface="Calibri"/>
              </a:rPr>
              <a:t>  —  Convolutional Perfectly Matched Layer — the absorbing boundary used by the FDTD solver.</a:t>
            </a:r>
          </a:p>
        </p:txBody>
      </p:sp>
      <p:sp>
        <p:nvSpPr>
          <p:cNvPr id="12" name="TextBox 11"/>
          <p:cNvSpPr txBox="1"/>
          <p:nvPr/>
        </p:nvSpPr>
        <p:spPr>
          <a:xfrm>
            <a:off x="365760" y="3081528"/>
            <a:ext cx="5532120" cy="457200"/>
          </a:xfrm>
          <a:prstGeom prst="rect">
            <a:avLst/>
          </a:prstGeom>
          <a:noFill/>
        </p:spPr>
        <p:txBody>
          <a:bodyPr wrap="square">
            <a:spAutoFit/>
          </a:bodyPr>
          <a:lstStyle/>
          <a:p>
            <a:r>
              <a:rPr sz="1100" b="1">
                <a:solidFill>
                  <a:srgbClr val="1A2332"/>
                </a:solidFill>
                <a:latin typeface="Calibri"/>
              </a:rPr>
              <a:t>B-scan</a:t>
            </a:r>
            <a:r>
              <a:rPr sz="1000">
                <a:solidFill>
                  <a:srgbClr val="2C3E50"/>
                </a:solidFill>
                <a:latin typeface="Calibri"/>
              </a:rPr>
              <a:t>  —  GPR data array: lateral scan position × two-way time.</a:t>
            </a:r>
          </a:p>
        </p:txBody>
      </p:sp>
      <p:sp>
        <p:nvSpPr>
          <p:cNvPr id="13" name="TextBox 12"/>
          <p:cNvSpPr txBox="1"/>
          <p:nvPr/>
        </p:nvSpPr>
        <p:spPr>
          <a:xfrm>
            <a:off x="365760" y="3493008"/>
            <a:ext cx="5532120" cy="457200"/>
          </a:xfrm>
          <a:prstGeom prst="rect">
            <a:avLst/>
          </a:prstGeom>
          <a:noFill/>
        </p:spPr>
        <p:txBody>
          <a:bodyPr wrap="square">
            <a:spAutoFit/>
          </a:bodyPr>
          <a:lstStyle/>
          <a:p>
            <a:r>
              <a:rPr sz="1100" b="1">
                <a:solidFill>
                  <a:srgbClr val="1A2332"/>
                </a:solidFill>
                <a:latin typeface="Calibri"/>
              </a:rPr>
              <a:t>LS / L2</a:t>
            </a:r>
            <a:r>
              <a:rPr sz="1000">
                <a:solidFill>
                  <a:srgbClr val="2C3E50"/>
                </a:solidFill>
                <a:latin typeface="Calibri"/>
              </a:rPr>
              <a:t>  —  Least squares — the standard waveform misfit (sum of squared point-wise residuals).</a:t>
            </a:r>
          </a:p>
        </p:txBody>
      </p:sp>
      <p:sp>
        <p:nvSpPr>
          <p:cNvPr id="14" name="TextBox 13"/>
          <p:cNvSpPr txBox="1"/>
          <p:nvPr/>
        </p:nvSpPr>
        <p:spPr>
          <a:xfrm>
            <a:off x="365760" y="4059936"/>
            <a:ext cx="5532120" cy="457200"/>
          </a:xfrm>
          <a:prstGeom prst="rect">
            <a:avLst/>
          </a:prstGeom>
          <a:noFill/>
        </p:spPr>
        <p:txBody>
          <a:bodyPr wrap="square">
            <a:spAutoFit/>
          </a:bodyPr>
          <a:lstStyle/>
          <a:p>
            <a:r>
              <a:rPr sz="1100" b="1">
                <a:solidFill>
                  <a:srgbClr val="1A2332"/>
                </a:solidFill>
                <a:latin typeface="Calibri"/>
              </a:rPr>
              <a:t>NRMS</a:t>
            </a:r>
            <a:r>
              <a:rPr sz="1000">
                <a:solidFill>
                  <a:srgbClr val="2C3E50"/>
                </a:solidFill>
                <a:latin typeface="Calibri"/>
              </a:rPr>
              <a:t>  —  Normalised Root-Mean-Square misfit between two B-scans (or between two models).</a:t>
            </a:r>
          </a:p>
        </p:txBody>
      </p:sp>
      <p:sp>
        <p:nvSpPr>
          <p:cNvPr id="15" name="TextBox 14"/>
          <p:cNvSpPr txBox="1"/>
          <p:nvPr/>
        </p:nvSpPr>
        <p:spPr>
          <a:xfrm>
            <a:off x="365760" y="4471416"/>
            <a:ext cx="5532120" cy="457200"/>
          </a:xfrm>
          <a:prstGeom prst="rect">
            <a:avLst/>
          </a:prstGeom>
          <a:noFill/>
        </p:spPr>
        <p:txBody>
          <a:bodyPr wrap="square">
            <a:spAutoFit/>
          </a:bodyPr>
          <a:lstStyle/>
          <a:p>
            <a:r>
              <a:rPr sz="1100" b="1">
                <a:solidFill>
                  <a:srgbClr val="1A2332"/>
                </a:solidFill>
                <a:latin typeface="Calibri"/>
              </a:rPr>
              <a:t>εr</a:t>
            </a:r>
            <a:r>
              <a:rPr sz="1000">
                <a:solidFill>
                  <a:srgbClr val="2C3E50"/>
                </a:solidFill>
                <a:latin typeface="Calibri"/>
              </a:rPr>
              <a:t>  —  Relative permittivity (dielectric constant).</a:t>
            </a:r>
          </a:p>
        </p:txBody>
      </p:sp>
      <p:sp>
        <p:nvSpPr>
          <p:cNvPr id="16" name="TextBox 15"/>
          <p:cNvSpPr txBox="1"/>
          <p:nvPr/>
        </p:nvSpPr>
        <p:spPr>
          <a:xfrm>
            <a:off x="365760" y="4882896"/>
            <a:ext cx="5532120" cy="457200"/>
          </a:xfrm>
          <a:prstGeom prst="rect">
            <a:avLst/>
          </a:prstGeom>
          <a:noFill/>
        </p:spPr>
        <p:txBody>
          <a:bodyPr wrap="square">
            <a:spAutoFit/>
          </a:bodyPr>
          <a:lstStyle/>
          <a:p>
            <a:r>
              <a:rPr sz="1100" b="1">
                <a:solidFill>
                  <a:srgbClr val="1A2332"/>
                </a:solidFill>
                <a:latin typeface="Calibri"/>
              </a:rPr>
              <a:t>σ</a:t>
            </a:r>
            <a:r>
              <a:rPr sz="1000">
                <a:solidFill>
                  <a:srgbClr val="2C3E50"/>
                </a:solidFill>
                <a:latin typeface="Calibri"/>
              </a:rPr>
              <a:t>  —  Electrical conductivity, in S/m.</a:t>
            </a:r>
          </a:p>
        </p:txBody>
      </p:sp>
      <p:sp>
        <p:nvSpPr>
          <p:cNvPr id="17" name="TextBox 16"/>
          <p:cNvSpPr txBox="1"/>
          <p:nvPr/>
        </p:nvSpPr>
        <p:spPr>
          <a:xfrm>
            <a:off x="365760" y="5294376"/>
            <a:ext cx="5532120" cy="457200"/>
          </a:xfrm>
          <a:prstGeom prst="rect">
            <a:avLst/>
          </a:prstGeom>
          <a:noFill/>
        </p:spPr>
        <p:txBody>
          <a:bodyPr wrap="square">
            <a:spAutoFit/>
          </a:bodyPr>
          <a:lstStyle/>
          <a:p>
            <a:r>
              <a:rPr sz="1100" b="1">
                <a:solidFill>
                  <a:srgbClr val="1A2332"/>
                </a:solidFill>
                <a:latin typeface="Calibri"/>
              </a:rPr>
              <a:t>PEC</a:t>
            </a:r>
            <a:r>
              <a:rPr sz="1000">
                <a:solidFill>
                  <a:srgbClr val="2C3E50"/>
                </a:solidFill>
                <a:latin typeface="Calibri"/>
              </a:rPr>
              <a:t>  —  Perfect Electric Conductor — the steel-rebar idealisation in our forward model.</a:t>
            </a:r>
          </a:p>
        </p:txBody>
      </p:sp>
      <p:sp>
        <p:nvSpPr>
          <p:cNvPr id="18" name="TextBox 17"/>
          <p:cNvSpPr txBox="1"/>
          <p:nvPr/>
        </p:nvSpPr>
        <p:spPr>
          <a:xfrm>
            <a:off x="365760" y="5705856"/>
            <a:ext cx="5532120" cy="457200"/>
          </a:xfrm>
          <a:prstGeom prst="rect">
            <a:avLst/>
          </a:prstGeom>
          <a:noFill/>
        </p:spPr>
        <p:txBody>
          <a:bodyPr wrap="square">
            <a:spAutoFit/>
          </a:bodyPr>
          <a:lstStyle/>
          <a:p>
            <a:r>
              <a:rPr sz="1100" b="1">
                <a:solidFill>
                  <a:srgbClr val="1A2332"/>
                </a:solidFill>
                <a:latin typeface="Calibri"/>
              </a:rPr>
              <a:t>Tx / Rx</a:t>
            </a:r>
            <a:r>
              <a:rPr sz="1000">
                <a:solidFill>
                  <a:srgbClr val="2C3E50"/>
                </a:solidFill>
                <a:latin typeface="Calibri"/>
              </a:rPr>
              <a:t>  —  Transmitter / receiver antenna positions on the scan line.</a:t>
            </a:r>
          </a:p>
        </p:txBody>
      </p:sp>
      <p:sp>
        <p:nvSpPr>
          <p:cNvPr id="19" name="TextBox 18"/>
          <p:cNvSpPr txBox="1"/>
          <p:nvPr/>
        </p:nvSpPr>
        <p:spPr>
          <a:xfrm>
            <a:off x="365760" y="6117336"/>
            <a:ext cx="5532120" cy="457200"/>
          </a:xfrm>
          <a:prstGeom prst="rect">
            <a:avLst/>
          </a:prstGeom>
          <a:noFill/>
        </p:spPr>
        <p:txBody>
          <a:bodyPr wrap="square">
            <a:spAutoFit/>
          </a:bodyPr>
          <a:lstStyle/>
          <a:p>
            <a:r>
              <a:rPr sz="1100" b="1">
                <a:solidFill>
                  <a:srgbClr val="1A2332"/>
                </a:solidFill>
                <a:latin typeface="Calibri"/>
              </a:rPr>
              <a:t>fc</a:t>
            </a:r>
            <a:r>
              <a:rPr sz="1000">
                <a:solidFill>
                  <a:srgbClr val="2C3E50"/>
                </a:solidFill>
                <a:latin typeface="Calibri"/>
              </a:rPr>
              <a:t>  —  Source-wavelet centre frequency.</a:t>
            </a:r>
          </a:p>
        </p:txBody>
      </p:sp>
      <p:sp>
        <p:nvSpPr>
          <p:cNvPr id="20" name="TextBox 19"/>
          <p:cNvSpPr txBox="1"/>
          <p:nvPr/>
        </p:nvSpPr>
        <p:spPr>
          <a:xfrm>
            <a:off x="365760" y="6528816"/>
            <a:ext cx="5532120" cy="457200"/>
          </a:xfrm>
          <a:prstGeom prst="rect">
            <a:avLst/>
          </a:prstGeom>
          <a:noFill/>
        </p:spPr>
        <p:txBody>
          <a:bodyPr wrap="square">
            <a:spAutoFit/>
          </a:bodyPr>
          <a:lstStyle/>
          <a:p>
            <a:r>
              <a:rPr sz="1100" b="1">
                <a:solidFill>
                  <a:srgbClr val="1A2332"/>
                </a:solidFill>
                <a:latin typeface="Calibri"/>
              </a:rPr>
              <a:t>Ricker wavelet</a:t>
            </a:r>
            <a:r>
              <a:rPr sz="1000">
                <a:solidFill>
                  <a:srgbClr val="2C3E50"/>
                </a:solidFill>
                <a:latin typeface="Calibri"/>
              </a:rPr>
              <a:t>  —  The time-domain pulse used as our source (the negative second derivative of a Gaussian).</a:t>
            </a:r>
          </a:p>
        </p:txBody>
      </p:sp>
      <p:sp>
        <p:nvSpPr>
          <p:cNvPr id="21" name="TextBox 20"/>
          <p:cNvSpPr txBox="1"/>
          <p:nvPr/>
        </p:nvSpPr>
        <p:spPr>
          <a:xfrm>
            <a:off x="365760" y="7095744"/>
            <a:ext cx="5532120" cy="457200"/>
          </a:xfrm>
          <a:prstGeom prst="rect">
            <a:avLst/>
          </a:prstGeom>
          <a:noFill/>
        </p:spPr>
        <p:txBody>
          <a:bodyPr wrap="square">
            <a:spAutoFit/>
          </a:bodyPr>
          <a:lstStyle/>
          <a:p>
            <a:r>
              <a:rPr sz="1100" b="1">
                <a:solidFill>
                  <a:srgbClr val="1A2332"/>
                </a:solidFill>
                <a:latin typeface="Calibri"/>
              </a:rPr>
              <a:t>ps / mm</a:t>
            </a:r>
            <a:r>
              <a:rPr sz="1000">
                <a:solidFill>
                  <a:srgbClr val="2C3E50"/>
                </a:solidFill>
                <a:latin typeface="Calibri"/>
              </a:rPr>
              <a:t>  —  Picoseconds (10⁻¹² s) and millimetres — units we report time-shift and geometry in.</a:t>
            </a:r>
          </a:p>
        </p:txBody>
      </p:sp>
      <p:sp>
        <p:nvSpPr>
          <p:cNvPr id="22" name="TextBox 21"/>
          <p:cNvSpPr txBox="1"/>
          <p:nvPr/>
        </p:nvSpPr>
        <p:spPr>
          <a:xfrm>
            <a:off x="6263640" y="1280160"/>
            <a:ext cx="5532120" cy="457200"/>
          </a:xfrm>
          <a:prstGeom prst="rect">
            <a:avLst/>
          </a:prstGeom>
          <a:noFill/>
        </p:spPr>
        <p:txBody>
          <a:bodyPr wrap="square">
            <a:spAutoFit/>
          </a:bodyPr>
          <a:lstStyle/>
          <a:p>
            <a:r>
              <a:rPr sz="1100" b="1">
                <a:solidFill>
                  <a:srgbClr val="1A2332"/>
                </a:solidFill>
                <a:latin typeface="Calibri"/>
              </a:rPr>
              <a:t>WRI</a:t>
            </a:r>
            <a:r>
              <a:rPr sz="1000">
                <a:solidFill>
                  <a:srgbClr val="2C3E50"/>
                </a:solidFill>
                <a:latin typeface="Calibri"/>
              </a:rPr>
              <a:t>  —  Wavefield Reconstruction Inversion — paper 1 (Feng et al. 2022).</a:t>
            </a:r>
          </a:p>
        </p:txBody>
      </p:sp>
      <p:sp>
        <p:nvSpPr>
          <p:cNvPr id="23" name="TextBox 22"/>
          <p:cNvSpPr txBox="1"/>
          <p:nvPr/>
        </p:nvSpPr>
        <p:spPr>
          <a:xfrm>
            <a:off x="6263640" y="1691639"/>
            <a:ext cx="5532120" cy="457200"/>
          </a:xfrm>
          <a:prstGeom prst="rect">
            <a:avLst/>
          </a:prstGeom>
          <a:noFill/>
        </p:spPr>
        <p:txBody>
          <a:bodyPr wrap="square">
            <a:spAutoFit/>
          </a:bodyPr>
          <a:lstStyle/>
          <a:p>
            <a:r>
              <a:rPr sz="1100" b="1">
                <a:solidFill>
                  <a:srgbClr val="1A2332"/>
                </a:solidFill>
                <a:latin typeface="Calibri"/>
              </a:rPr>
              <a:t>PEBDD</a:t>
            </a:r>
            <a:r>
              <a:rPr sz="1000">
                <a:solidFill>
                  <a:srgbClr val="2C3E50"/>
                </a:solidFill>
                <a:latin typeface="Calibri"/>
              </a:rPr>
              <a:t>  —  Progressively Expanded Bandwidths of the Data — paper 2 (Zhou et al. 2021).</a:t>
            </a:r>
          </a:p>
        </p:txBody>
      </p:sp>
      <p:sp>
        <p:nvSpPr>
          <p:cNvPr id="24" name="TextBox 23"/>
          <p:cNvSpPr txBox="1"/>
          <p:nvPr/>
        </p:nvSpPr>
        <p:spPr>
          <a:xfrm>
            <a:off x="6263640" y="2103120"/>
            <a:ext cx="5532120" cy="457200"/>
          </a:xfrm>
          <a:prstGeom prst="rect">
            <a:avLst/>
          </a:prstGeom>
          <a:noFill/>
        </p:spPr>
        <p:txBody>
          <a:bodyPr wrap="square">
            <a:spAutoFit/>
          </a:bodyPr>
          <a:lstStyle/>
          <a:p>
            <a:r>
              <a:rPr sz="1100" b="1">
                <a:solidFill>
                  <a:srgbClr val="1A2332"/>
                </a:solidFill>
                <a:latin typeface="Calibri"/>
              </a:rPr>
              <a:t>OT</a:t>
            </a:r>
            <a:r>
              <a:rPr sz="1000">
                <a:solidFill>
                  <a:srgbClr val="2C3E50"/>
                </a:solidFill>
                <a:latin typeface="Calibri"/>
              </a:rPr>
              <a:t>  —  Optimal Transport — a family of distances between distributions.</a:t>
            </a:r>
          </a:p>
        </p:txBody>
      </p:sp>
      <p:sp>
        <p:nvSpPr>
          <p:cNvPr id="25" name="TextBox 24"/>
          <p:cNvSpPr txBox="1"/>
          <p:nvPr/>
        </p:nvSpPr>
        <p:spPr>
          <a:xfrm>
            <a:off x="6263640" y="2514600"/>
            <a:ext cx="5532120" cy="457200"/>
          </a:xfrm>
          <a:prstGeom prst="rect">
            <a:avLst/>
          </a:prstGeom>
          <a:noFill/>
        </p:spPr>
        <p:txBody>
          <a:bodyPr wrap="square">
            <a:spAutoFit/>
          </a:bodyPr>
          <a:lstStyle/>
          <a:p>
            <a:r>
              <a:rPr sz="1100" b="1">
                <a:solidFill>
                  <a:srgbClr val="1A2332"/>
                </a:solidFill>
                <a:latin typeface="Calibri"/>
              </a:rPr>
              <a:t>OT-LS</a:t>
            </a:r>
            <a:r>
              <a:rPr sz="1000">
                <a:solidFill>
                  <a:srgbClr val="2C3E50"/>
                </a:solidFill>
                <a:latin typeface="Calibri"/>
              </a:rPr>
              <a:t>  —  OT-then-LS hybrid objective — paper 3 (Hunziker et al. 2025).</a:t>
            </a:r>
          </a:p>
        </p:txBody>
      </p:sp>
      <p:sp>
        <p:nvSpPr>
          <p:cNvPr id="26" name="TextBox 25"/>
          <p:cNvSpPr txBox="1"/>
          <p:nvPr/>
        </p:nvSpPr>
        <p:spPr>
          <a:xfrm>
            <a:off x="6263640" y="2926080"/>
            <a:ext cx="5532120" cy="457200"/>
          </a:xfrm>
          <a:prstGeom prst="rect">
            <a:avLst/>
          </a:prstGeom>
          <a:noFill/>
        </p:spPr>
        <p:txBody>
          <a:bodyPr wrap="square">
            <a:spAutoFit/>
          </a:bodyPr>
          <a:lstStyle/>
          <a:p>
            <a:r>
              <a:rPr sz="1100" b="1">
                <a:solidFill>
                  <a:srgbClr val="1A2332"/>
                </a:solidFill>
                <a:latin typeface="Calibri"/>
              </a:rPr>
              <a:t>W2</a:t>
            </a:r>
            <a:r>
              <a:rPr sz="1000">
                <a:solidFill>
                  <a:srgbClr val="2C3E50"/>
                </a:solidFill>
                <a:latin typeface="Calibri"/>
              </a:rPr>
              <a:t>  —  Quadratic Wasserstein distance — a specific OT-based objective (paper 4, Lu et al. 2024).</a:t>
            </a:r>
          </a:p>
        </p:txBody>
      </p:sp>
      <p:sp>
        <p:nvSpPr>
          <p:cNvPr id="27" name="TextBox 26"/>
          <p:cNvSpPr txBox="1"/>
          <p:nvPr/>
        </p:nvSpPr>
        <p:spPr>
          <a:xfrm>
            <a:off x="6263640" y="3493008"/>
            <a:ext cx="5532120" cy="457200"/>
          </a:xfrm>
          <a:prstGeom prst="rect">
            <a:avLst/>
          </a:prstGeom>
          <a:noFill/>
        </p:spPr>
        <p:txBody>
          <a:bodyPr wrap="square">
            <a:spAutoFit/>
          </a:bodyPr>
          <a:lstStyle/>
          <a:p>
            <a:r>
              <a:rPr sz="1100" b="1">
                <a:solidFill>
                  <a:srgbClr val="1A2332"/>
                </a:solidFill>
                <a:latin typeface="Calibri"/>
              </a:rPr>
              <a:t>IFWI</a:t>
            </a:r>
            <a:r>
              <a:rPr sz="1000">
                <a:solidFill>
                  <a:srgbClr val="2C3E50"/>
                </a:solidFill>
                <a:latin typeface="Calibri"/>
              </a:rPr>
              <a:t>  —  Implicit FWI — paper 5 (Sun et al. 2025).</a:t>
            </a:r>
          </a:p>
        </p:txBody>
      </p:sp>
      <p:sp>
        <p:nvSpPr>
          <p:cNvPr id="28" name="TextBox 27"/>
          <p:cNvSpPr txBox="1"/>
          <p:nvPr/>
        </p:nvSpPr>
        <p:spPr>
          <a:xfrm>
            <a:off x="6263640" y="3904488"/>
            <a:ext cx="5532120" cy="457200"/>
          </a:xfrm>
          <a:prstGeom prst="rect">
            <a:avLst/>
          </a:prstGeom>
          <a:noFill/>
        </p:spPr>
        <p:txBody>
          <a:bodyPr wrap="square">
            <a:spAutoFit/>
          </a:bodyPr>
          <a:lstStyle/>
          <a:p>
            <a:r>
              <a:rPr sz="1100" b="1">
                <a:solidFill>
                  <a:srgbClr val="1A2332"/>
                </a:solidFill>
                <a:latin typeface="Calibri"/>
              </a:rPr>
              <a:t>Sinkhorn</a:t>
            </a:r>
            <a:r>
              <a:rPr sz="1000">
                <a:solidFill>
                  <a:srgbClr val="2C3E50"/>
                </a:solidFill>
                <a:latin typeface="Calibri"/>
              </a:rPr>
              <a:t>  —  Entropy-regularised algorithm for cheap W2 computation.</a:t>
            </a:r>
          </a:p>
        </p:txBody>
      </p:sp>
      <p:sp>
        <p:nvSpPr>
          <p:cNvPr id="29" name="TextBox 28"/>
          <p:cNvSpPr txBox="1"/>
          <p:nvPr/>
        </p:nvSpPr>
        <p:spPr>
          <a:xfrm>
            <a:off x="6263640" y="4315968"/>
            <a:ext cx="5532120" cy="457200"/>
          </a:xfrm>
          <a:prstGeom prst="rect">
            <a:avLst/>
          </a:prstGeom>
          <a:noFill/>
        </p:spPr>
        <p:txBody>
          <a:bodyPr wrap="square">
            <a:spAutoFit/>
          </a:bodyPr>
          <a:lstStyle/>
          <a:p>
            <a:r>
              <a:rPr sz="1100" b="1">
                <a:solidFill>
                  <a:srgbClr val="1A2332"/>
                </a:solidFill>
                <a:latin typeface="Calibri"/>
              </a:rPr>
              <a:t>Softplus</a:t>
            </a:r>
            <a:r>
              <a:rPr sz="1000">
                <a:solidFill>
                  <a:srgbClr val="2C3E50"/>
                </a:solidFill>
                <a:latin typeface="Calibri"/>
              </a:rPr>
              <a:t>  —  log(1+e^(βx)) — turns a signed oscillating trace into a non-negative mass distribution.</a:t>
            </a:r>
          </a:p>
        </p:txBody>
      </p:sp>
      <p:sp>
        <p:nvSpPr>
          <p:cNvPr id="30" name="TextBox 29"/>
          <p:cNvSpPr txBox="1"/>
          <p:nvPr/>
        </p:nvSpPr>
        <p:spPr>
          <a:xfrm>
            <a:off x="6263640" y="4882896"/>
            <a:ext cx="5532120" cy="457200"/>
          </a:xfrm>
          <a:prstGeom prst="rect">
            <a:avLst/>
          </a:prstGeom>
          <a:noFill/>
        </p:spPr>
        <p:txBody>
          <a:bodyPr wrap="square">
            <a:spAutoFit/>
          </a:bodyPr>
          <a:lstStyle/>
          <a:p>
            <a:r>
              <a:rPr sz="1100" b="1">
                <a:solidFill>
                  <a:srgbClr val="1A2332"/>
                </a:solidFill>
                <a:latin typeface="Calibri"/>
              </a:rPr>
              <a:t>β (W2)</a:t>
            </a:r>
            <a:r>
              <a:rPr sz="1000">
                <a:solidFill>
                  <a:srgbClr val="2C3E50"/>
                </a:solidFill>
                <a:latin typeface="Calibri"/>
              </a:rPr>
              <a:t>  —  Softplus scale — larger β preserves more signed-shape information.</a:t>
            </a:r>
          </a:p>
        </p:txBody>
      </p:sp>
      <p:sp>
        <p:nvSpPr>
          <p:cNvPr id="31" name="TextBox 30"/>
          <p:cNvSpPr txBox="1"/>
          <p:nvPr/>
        </p:nvSpPr>
        <p:spPr>
          <a:xfrm>
            <a:off x="6263640" y="5294376"/>
            <a:ext cx="5532120" cy="457200"/>
          </a:xfrm>
          <a:prstGeom prst="rect">
            <a:avLst/>
          </a:prstGeom>
          <a:noFill/>
        </p:spPr>
        <p:txBody>
          <a:bodyPr wrap="square">
            <a:spAutoFit/>
          </a:bodyPr>
          <a:lstStyle/>
          <a:p>
            <a:r>
              <a:rPr sz="1100" b="1">
                <a:solidFill>
                  <a:srgbClr val="1A2332"/>
                </a:solidFill>
                <a:latin typeface="Calibri"/>
              </a:rPr>
              <a:t>ε (W2)</a:t>
            </a:r>
            <a:r>
              <a:rPr sz="1000">
                <a:solidFill>
                  <a:srgbClr val="2C3E50"/>
                </a:solidFill>
                <a:latin typeface="Calibri"/>
              </a:rPr>
              <a:t>  —  Sinkhorn entropy regularisation — smaller is more accurate, less numerically stable.</a:t>
            </a:r>
          </a:p>
        </p:txBody>
      </p:sp>
      <p:sp>
        <p:nvSpPr>
          <p:cNvPr id="32" name="TextBox 31"/>
          <p:cNvSpPr txBox="1"/>
          <p:nvPr/>
        </p:nvSpPr>
        <p:spPr>
          <a:xfrm>
            <a:off x="6263640" y="5861304"/>
            <a:ext cx="5532120" cy="457200"/>
          </a:xfrm>
          <a:prstGeom prst="rect">
            <a:avLst/>
          </a:prstGeom>
          <a:noFill/>
        </p:spPr>
        <p:txBody>
          <a:bodyPr wrap="square">
            <a:spAutoFit/>
          </a:bodyPr>
          <a:lstStyle/>
          <a:p>
            <a:r>
              <a:rPr sz="1100" b="1">
                <a:solidFill>
                  <a:srgbClr val="1A2332"/>
                </a:solidFill>
                <a:latin typeface="Calibri"/>
              </a:rPr>
              <a:t>ds (W2)</a:t>
            </a:r>
            <a:r>
              <a:rPr sz="1000">
                <a:solidFill>
                  <a:srgbClr val="2C3E50"/>
                </a:solidFill>
                <a:latin typeface="Calibri"/>
              </a:rPr>
              <a:t>  —  Sinkhorn downsample factor for trace length (cost control).</a:t>
            </a:r>
          </a:p>
        </p:txBody>
      </p:sp>
      <p:sp>
        <p:nvSpPr>
          <p:cNvPr id="33" name="TextBox 32"/>
          <p:cNvSpPr txBox="1"/>
          <p:nvPr/>
        </p:nvSpPr>
        <p:spPr>
          <a:xfrm>
            <a:off x="6263640" y="6272784"/>
            <a:ext cx="5532120" cy="457200"/>
          </a:xfrm>
          <a:prstGeom prst="rect">
            <a:avLst/>
          </a:prstGeom>
          <a:noFill/>
        </p:spPr>
        <p:txBody>
          <a:bodyPr wrap="square">
            <a:spAutoFit/>
          </a:bodyPr>
          <a:lstStyle/>
          <a:p>
            <a:r>
              <a:rPr sz="1100" b="1">
                <a:solidFill>
                  <a:srgbClr val="1A2332"/>
                </a:solidFill>
                <a:latin typeface="Calibri"/>
              </a:rPr>
              <a:t>RCCC</a:t>
            </a:r>
            <a:r>
              <a:rPr sz="1000">
                <a:solidFill>
                  <a:srgbClr val="2C3E50"/>
                </a:solidFill>
                <a:latin typeface="Calibri"/>
              </a:rPr>
              <a:t>  —  Relative Cross-Correlation Criterion = |trace shift| / dominant period (per trace pair).</a:t>
            </a:r>
          </a:p>
        </p:txBody>
      </p:sp>
      <p:sp>
        <p:nvSpPr>
          <p:cNvPr id="34" name="TextBox 33"/>
          <p:cNvSpPr txBox="1"/>
          <p:nvPr/>
        </p:nvSpPr>
        <p:spPr>
          <a:xfrm>
            <a:off x="6263640" y="6839712"/>
            <a:ext cx="5532120" cy="457200"/>
          </a:xfrm>
          <a:prstGeom prst="rect">
            <a:avLst/>
          </a:prstGeom>
          <a:noFill/>
        </p:spPr>
        <p:txBody>
          <a:bodyPr wrap="square">
            <a:spAutoFit/>
          </a:bodyPr>
          <a:lstStyle/>
          <a:p>
            <a:r>
              <a:rPr sz="1100" b="1">
                <a:solidFill>
                  <a:srgbClr val="1A2332"/>
                </a:solidFill>
                <a:latin typeface="Calibri"/>
              </a:rPr>
              <a:t>NRCCC</a:t>
            </a:r>
            <a:r>
              <a:rPr sz="1000">
                <a:solidFill>
                  <a:srgbClr val="2C3E50"/>
                </a:solidFill>
                <a:latin typeface="Calibri"/>
              </a:rPr>
              <a:t>  —  Normalised RCCC = fraction of traces with RCCC &lt; 0.5 (half-period gate from the OT-LS paper).</a:t>
            </a:r>
          </a:p>
        </p:txBody>
      </p:sp>
      <p:sp>
        <p:nvSpPr>
          <p:cNvPr id="35" name="TextBox 34"/>
          <p:cNvSpPr txBox="1"/>
          <p:nvPr/>
        </p:nvSpPr>
        <p:spPr>
          <a:xfrm>
            <a:off x="6263640" y="7406640"/>
            <a:ext cx="5532120" cy="457200"/>
          </a:xfrm>
          <a:prstGeom prst="rect">
            <a:avLst/>
          </a:prstGeom>
          <a:noFill/>
        </p:spPr>
        <p:txBody>
          <a:bodyPr wrap="square">
            <a:spAutoFit/>
          </a:bodyPr>
          <a:lstStyle/>
          <a:p>
            <a:r>
              <a:rPr sz="1100" b="1">
                <a:solidFill>
                  <a:srgbClr val="1A2332"/>
                </a:solidFill>
                <a:latin typeface="Calibri"/>
              </a:rPr>
              <a:t>carry_low_25</a:t>
            </a:r>
            <a:r>
              <a:rPr sz="1000">
                <a:solidFill>
                  <a:srgbClr val="2C3E50"/>
                </a:solidFill>
                <a:latin typeface="Calibri"/>
              </a:rPr>
              <a:t>  —  Weighting scheme: 0.25 × 1.0 GHz + 1.0 × 1.5 GHz (radius-friendly multi-frequency).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Key terms and jargon</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Plain-language gloss for the rest of the deck</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reference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a:t>
            </a:r>
          </a:p>
        </p:txBody>
      </p:sp>
      <p:sp>
        <p:nvSpPr>
          <p:cNvPr id="8" name="TextBox 7"/>
          <p:cNvSpPr txBox="1"/>
          <p:nvPr/>
        </p:nvSpPr>
        <p:spPr>
          <a:xfrm>
            <a:off x="365760" y="1280160"/>
            <a:ext cx="5532120" cy="457200"/>
          </a:xfrm>
          <a:prstGeom prst="rect">
            <a:avLst/>
          </a:prstGeom>
          <a:noFill/>
        </p:spPr>
        <p:txBody>
          <a:bodyPr wrap="square">
            <a:spAutoFit/>
          </a:bodyPr>
          <a:lstStyle/>
          <a:p>
            <a:r>
              <a:rPr sz="1100" b="1">
                <a:solidFill>
                  <a:srgbClr val="1A2332"/>
                </a:solidFill>
                <a:latin typeface="Calibri"/>
              </a:rPr>
              <a:t>Powell</a:t>
            </a:r>
            <a:r>
              <a:rPr sz="1000">
                <a:solidFill>
                  <a:srgbClr val="2C3E50"/>
                </a:solidFill>
                <a:latin typeface="Calibri"/>
              </a:rPr>
              <a:t>  —  Derivative-free local optimiser available in SciPy; explores along directions, not gradients. Our default for the continuous local refinement stage.</a:t>
            </a:r>
          </a:p>
        </p:txBody>
      </p:sp>
      <p:sp>
        <p:nvSpPr>
          <p:cNvPr id="9" name="TextBox 8"/>
          <p:cNvSpPr txBox="1"/>
          <p:nvPr/>
        </p:nvSpPr>
        <p:spPr>
          <a:xfrm>
            <a:off x="365760" y="1847088"/>
            <a:ext cx="5532120" cy="457200"/>
          </a:xfrm>
          <a:prstGeom prst="rect">
            <a:avLst/>
          </a:prstGeom>
          <a:noFill/>
        </p:spPr>
        <p:txBody>
          <a:bodyPr wrap="square">
            <a:spAutoFit/>
          </a:bodyPr>
          <a:lstStyle/>
          <a:p>
            <a:r>
              <a:rPr sz="1100" b="1">
                <a:solidFill>
                  <a:srgbClr val="1A2332"/>
                </a:solidFill>
                <a:latin typeface="Calibri"/>
              </a:rPr>
              <a:t>Basin</a:t>
            </a:r>
            <a:r>
              <a:rPr sz="1000">
                <a:solidFill>
                  <a:srgbClr val="2C3E50"/>
                </a:solidFill>
                <a:latin typeface="Calibri"/>
              </a:rPr>
              <a:t>  —  The local valley in the objective landscape where an optimiser settles.</a:t>
            </a:r>
          </a:p>
        </p:txBody>
      </p:sp>
      <p:sp>
        <p:nvSpPr>
          <p:cNvPr id="10" name="TextBox 9"/>
          <p:cNvSpPr txBox="1"/>
          <p:nvPr/>
        </p:nvSpPr>
        <p:spPr>
          <a:xfrm>
            <a:off x="365760" y="2258568"/>
            <a:ext cx="5532120" cy="457200"/>
          </a:xfrm>
          <a:prstGeom prst="rect">
            <a:avLst/>
          </a:prstGeom>
          <a:noFill/>
        </p:spPr>
        <p:txBody>
          <a:bodyPr wrap="square">
            <a:spAutoFit/>
          </a:bodyPr>
          <a:lstStyle/>
          <a:p>
            <a:r>
              <a:rPr sz="1100" b="1">
                <a:solidFill>
                  <a:srgbClr val="1A2332"/>
                </a:solidFill>
                <a:latin typeface="Calibri"/>
              </a:rPr>
              <a:t>High-radius basin</a:t>
            </a:r>
            <a:r>
              <a:rPr sz="1000">
                <a:solidFill>
                  <a:srgbClr val="2C3E50"/>
                </a:solidFill>
                <a:latin typeface="Calibri"/>
              </a:rPr>
              <a:t>  —  The specific wrong local minimum at r ≈ 6.95 mm that continuous Powell consistently finds in our setup.</a:t>
            </a:r>
          </a:p>
        </p:txBody>
      </p:sp>
      <p:sp>
        <p:nvSpPr>
          <p:cNvPr id="11" name="TextBox 10"/>
          <p:cNvSpPr txBox="1"/>
          <p:nvPr/>
        </p:nvSpPr>
        <p:spPr>
          <a:xfrm>
            <a:off x="365760" y="2825496"/>
            <a:ext cx="5532120" cy="457200"/>
          </a:xfrm>
          <a:prstGeom prst="rect">
            <a:avLst/>
          </a:prstGeom>
          <a:noFill/>
        </p:spPr>
        <p:txBody>
          <a:bodyPr wrap="square">
            <a:spAutoFit/>
          </a:bodyPr>
          <a:lstStyle/>
          <a:p>
            <a:r>
              <a:rPr sz="1100" b="1">
                <a:solidFill>
                  <a:srgbClr val="1A2332"/>
                </a:solidFill>
                <a:latin typeface="Calibri"/>
              </a:rPr>
              <a:t>Depth-radius coupling</a:t>
            </a:r>
            <a:r>
              <a:rPr sz="1000">
                <a:solidFill>
                  <a:srgbClr val="2C3E50"/>
                </a:solidFill>
                <a:latin typeface="Calibri"/>
              </a:rPr>
              <a:t>  —  Near the true minimum, a slightly deeper rebar (z+) trades against a slightly larger radius (r+) and produces an almost identical waveform — this is what causes the high-radius basin.</a:t>
            </a:r>
          </a:p>
        </p:txBody>
      </p:sp>
      <p:sp>
        <p:nvSpPr>
          <p:cNvPr id="12" name="TextBox 11"/>
          <p:cNvSpPr txBox="1"/>
          <p:nvPr/>
        </p:nvSpPr>
        <p:spPr>
          <a:xfrm>
            <a:off x="365760" y="3392424"/>
            <a:ext cx="5532120" cy="457200"/>
          </a:xfrm>
          <a:prstGeom prst="rect">
            <a:avLst/>
          </a:prstGeom>
          <a:noFill/>
        </p:spPr>
        <p:txBody>
          <a:bodyPr wrap="square">
            <a:spAutoFit/>
          </a:bodyPr>
          <a:lstStyle/>
          <a:p>
            <a:r>
              <a:rPr sz="1100" b="1">
                <a:solidFill>
                  <a:srgbClr val="1A2332"/>
                </a:solidFill>
                <a:latin typeface="Calibri"/>
              </a:rPr>
              <a:t>Grid polish</a:t>
            </a:r>
            <a:r>
              <a:rPr sz="1000">
                <a:solidFill>
                  <a:srgbClr val="2C3E50"/>
                </a:solidFill>
                <a:latin typeface="Calibri"/>
              </a:rPr>
              <a:t>  —  A deterministic small local (z, r) grid search after Powell. Corrects radius bias because rasterised geometry is piecewise-constant in physical coordinates, so smooth-tolerance optimisers cannot find the exact rasterised cell.</a:t>
            </a:r>
          </a:p>
        </p:txBody>
      </p:sp>
      <p:sp>
        <p:nvSpPr>
          <p:cNvPr id="13" name="TextBox 12"/>
          <p:cNvSpPr txBox="1"/>
          <p:nvPr/>
        </p:nvSpPr>
        <p:spPr>
          <a:xfrm>
            <a:off x="365760" y="3959352"/>
            <a:ext cx="5532120" cy="457200"/>
          </a:xfrm>
          <a:prstGeom prst="rect">
            <a:avLst/>
          </a:prstGeom>
          <a:noFill/>
        </p:spPr>
        <p:txBody>
          <a:bodyPr wrap="square">
            <a:spAutoFit/>
          </a:bodyPr>
          <a:lstStyle/>
          <a:p>
            <a:r>
              <a:rPr sz="1100" b="1">
                <a:solidFill>
                  <a:srgbClr val="1A2332"/>
                </a:solidFill>
                <a:latin typeface="Calibri"/>
              </a:rPr>
              <a:t>Top-k candidates</a:t>
            </a:r>
            <a:r>
              <a:rPr sz="1000">
                <a:solidFill>
                  <a:srgbClr val="2C3E50"/>
                </a:solidFill>
                <a:latin typeface="Calibri"/>
              </a:rPr>
              <a:t>  —  Instead of one best (x, z, r), the polish reports the K best candidates and their misfits — the next-best alternative is auditable.</a:t>
            </a:r>
          </a:p>
        </p:txBody>
      </p:sp>
      <p:sp>
        <p:nvSpPr>
          <p:cNvPr id="14" name="TextBox 13"/>
          <p:cNvSpPr txBox="1"/>
          <p:nvPr/>
        </p:nvSpPr>
        <p:spPr>
          <a:xfrm>
            <a:off x="365760" y="4526280"/>
            <a:ext cx="5532120" cy="457200"/>
          </a:xfrm>
          <a:prstGeom prst="rect">
            <a:avLst/>
          </a:prstGeom>
          <a:noFill/>
        </p:spPr>
        <p:txBody>
          <a:bodyPr wrap="square">
            <a:spAutoFit/>
          </a:bodyPr>
          <a:lstStyle/>
          <a:p>
            <a:r>
              <a:rPr sz="1100" b="1">
                <a:solidFill>
                  <a:srgbClr val="1A2332"/>
                </a:solidFill>
                <a:latin typeface="Calibri"/>
              </a:rPr>
              <a:t>Twin experiment</a:t>
            </a:r>
            <a:r>
              <a:rPr sz="1000">
                <a:solidFill>
                  <a:srgbClr val="2C3E50"/>
                </a:solidFill>
                <a:latin typeface="Calibri"/>
              </a:rPr>
              <a:t>  —  Both the 'observed' and the candidate B-scans come from the same FDTD solver, so any failure is in the inverse pipeline, not in the physics model.</a:t>
            </a:r>
          </a:p>
        </p:txBody>
      </p:sp>
      <p:sp>
        <p:nvSpPr>
          <p:cNvPr id="15" name="TextBox 14"/>
          <p:cNvSpPr txBox="1"/>
          <p:nvPr/>
        </p:nvSpPr>
        <p:spPr>
          <a:xfrm>
            <a:off x="6263640" y="1280160"/>
            <a:ext cx="5532120" cy="457200"/>
          </a:xfrm>
          <a:prstGeom prst="rect">
            <a:avLst/>
          </a:prstGeom>
          <a:noFill/>
        </p:spPr>
        <p:txBody>
          <a:bodyPr wrap="square">
            <a:spAutoFit/>
          </a:bodyPr>
          <a:lstStyle/>
          <a:p>
            <a:r>
              <a:rPr sz="1100" b="1">
                <a:solidFill>
                  <a:srgbClr val="1A2332"/>
                </a:solidFill>
                <a:latin typeface="Calibri"/>
              </a:rPr>
              <a:t>Cycle skipping</a:t>
            </a:r>
            <a:r>
              <a:rPr sz="1000">
                <a:solidFill>
                  <a:srgbClr val="2C3E50"/>
                </a:solidFill>
                <a:latin typeface="Calibri"/>
              </a:rPr>
              <a:t>  —  When a modelled trace is more than half a period out of phase with the observed one, least-squares can settle into the wrong cycle. This is the classical failure mode the OT family of methods targets.</a:t>
            </a:r>
          </a:p>
        </p:txBody>
      </p:sp>
      <p:sp>
        <p:nvSpPr>
          <p:cNvPr id="16" name="TextBox 15"/>
          <p:cNvSpPr txBox="1"/>
          <p:nvPr/>
        </p:nvSpPr>
        <p:spPr>
          <a:xfrm>
            <a:off x="6263640" y="1847088"/>
            <a:ext cx="5532120" cy="457200"/>
          </a:xfrm>
          <a:prstGeom prst="rect">
            <a:avLst/>
          </a:prstGeom>
          <a:noFill/>
        </p:spPr>
        <p:txBody>
          <a:bodyPr wrap="square">
            <a:spAutoFit/>
          </a:bodyPr>
          <a:lstStyle/>
          <a:p>
            <a:r>
              <a:rPr sz="1100" b="1">
                <a:solidFill>
                  <a:srgbClr val="1A2332"/>
                </a:solidFill>
                <a:latin typeface="Calibri"/>
              </a:rPr>
              <a:t>Variable projection (WRI)</a:t>
            </a:r>
            <a:r>
              <a:rPr sz="1000">
                <a:solidFill>
                  <a:srgbClr val="2C3E50"/>
                </a:solidFill>
                <a:latin typeface="Calibri"/>
              </a:rPr>
              <a:t>  —  Solve a fast subproblem for the wavefield first (with the model fixed), then reduce the optimisation to just the material model.</a:t>
            </a:r>
          </a:p>
        </p:txBody>
      </p:sp>
      <p:sp>
        <p:nvSpPr>
          <p:cNvPr id="17" name="TextBox 16"/>
          <p:cNvSpPr txBox="1"/>
          <p:nvPr/>
        </p:nvSpPr>
        <p:spPr>
          <a:xfrm>
            <a:off x="6263640" y="2414016"/>
            <a:ext cx="5532120" cy="457200"/>
          </a:xfrm>
          <a:prstGeom prst="rect">
            <a:avLst/>
          </a:prstGeom>
          <a:noFill/>
        </p:spPr>
        <p:txBody>
          <a:bodyPr wrap="square">
            <a:spAutoFit/>
          </a:bodyPr>
          <a:lstStyle/>
          <a:p>
            <a:r>
              <a:rPr sz="1100" b="1">
                <a:solidFill>
                  <a:srgbClr val="1A2332"/>
                </a:solidFill>
                <a:latin typeface="Calibri"/>
              </a:rPr>
              <a:t>Matched filter (PEBDD)</a:t>
            </a:r>
            <a:r>
              <a:rPr sz="1000">
                <a:solidFill>
                  <a:srgbClr val="2C3E50"/>
                </a:solidFill>
                <a:latin typeface="Calibri"/>
              </a:rPr>
              <a:t>  —  Apply the same band-pass to both observed and modelled traces inside the objective — the distinguishing detail vs older bandwidth methods.</a:t>
            </a:r>
          </a:p>
        </p:txBody>
      </p:sp>
      <p:sp>
        <p:nvSpPr>
          <p:cNvPr id="18" name="TextBox 17"/>
          <p:cNvSpPr txBox="1"/>
          <p:nvPr/>
        </p:nvSpPr>
        <p:spPr>
          <a:xfrm>
            <a:off x="6263640" y="2980944"/>
            <a:ext cx="5532120" cy="457200"/>
          </a:xfrm>
          <a:prstGeom prst="rect">
            <a:avLst/>
          </a:prstGeom>
          <a:noFill/>
        </p:spPr>
        <p:txBody>
          <a:bodyPr wrap="square">
            <a:spAutoFit/>
          </a:bodyPr>
          <a:lstStyle/>
          <a:p>
            <a:r>
              <a:rPr sz="1100" b="1">
                <a:solidFill>
                  <a:srgbClr val="1A2332"/>
                </a:solidFill>
                <a:latin typeface="Calibri"/>
              </a:rPr>
              <a:t>Source-wavelet mismatch</a:t>
            </a:r>
            <a:r>
              <a:rPr sz="1000">
                <a:solidFill>
                  <a:srgbClr val="2C3E50"/>
                </a:solidFill>
                <a:latin typeface="Calibri"/>
              </a:rPr>
              <a:t>  —  The observed source wavelet differs from the modelled one (amplitude / time-zero / centre-frequency).</a:t>
            </a:r>
          </a:p>
        </p:txBody>
      </p:sp>
      <p:sp>
        <p:nvSpPr>
          <p:cNvPr id="19" name="TextBox 18"/>
          <p:cNvSpPr txBox="1"/>
          <p:nvPr/>
        </p:nvSpPr>
        <p:spPr>
          <a:xfrm>
            <a:off x="6263640" y="3547872"/>
            <a:ext cx="5532120" cy="457200"/>
          </a:xfrm>
          <a:prstGeom prst="rect">
            <a:avLst/>
          </a:prstGeom>
          <a:noFill/>
        </p:spPr>
        <p:txBody>
          <a:bodyPr wrap="square">
            <a:spAutoFit/>
          </a:bodyPr>
          <a:lstStyle/>
          <a:p>
            <a:r>
              <a:rPr sz="1100" b="1">
                <a:solidFill>
                  <a:srgbClr val="1A2332"/>
                </a:solidFill>
                <a:latin typeface="Calibri"/>
              </a:rPr>
              <a:t>Source profile</a:t>
            </a:r>
            <a:r>
              <a:rPr sz="1000">
                <a:solidFill>
                  <a:srgbClr val="2C3E50"/>
                </a:solidFill>
                <a:latin typeface="Calibri"/>
              </a:rPr>
              <a:t>  —  A small set of nuisance parameters (amplitude scalar + time-shift grid + fc-scale grid) fit per candidate to absorb wavelet mismatch.</a:t>
            </a:r>
          </a:p>
        </p:txBody>
      </p:sp>
      <p:sp>
        <p:nvSpPr>
          <p:cNvPr id="20" name="TextBox 19"/>
          <p:cNvSpPr txBox="1"/>
          <p:nvPr/>
        </p:nvSpPr>
        <p:spPr>
          <a:xfrm>
            <a:off x="6263640" y="4114800"/>
            <a:ext cx="5532120" cy="457200"/>
          </a:xfrm>
          <a:prstGeom prst="rect">
            <a:avLst/>
          </a:prstGeom>
          <a:noFill/>
        </p:spPr>
        <p:txBody>
          <a:bodyPr wrap="square">
            <a:spAutoFit/>
          </a:bodyPr>
          <a:lstStyle/>
          <a:p>
            <a:r>
              <a:rPr sz="1100" b="1">
                <a:solidFill>
                  <a:srgbClr val="1A2332"/>
                </a:solidFill>
                <a:latin typeface="Calibri"/>
              </a:rPr>
              <a:t>Distinct-radius margin</a:t>
            </a:r>
            <a:r>
              <a:rPr sz="1000">
                <a:solidFill>
                  <a:srgbClr val="2C3E50"/>
                </a:solidFill>
                <a:latin typeface="Calibri"/>
              </a:rPr>
              <a:t>  —  Objective gap between the best radius and the best next-distinct-radius candidate — our standard confidence measure.</a:t>
            </a:r>
          </a:p>
        </p:txBody>
      </p:sp>
      <p:sp>
        <p:nvSpPr>
          <p:cNvPr id="21" name="TextBox 20"/>
          <p:cNvSpPr txBox="1"/>
          <p:nvPr/>
        </p:nvSpPr>
        <p:spPr>
          <a:xfrm>
            <a:off x="6263640" y="4681728"/>
            <a:ext cx="5532120" cy="457200"/>
          </a:xfrm>
          <a:prstGeom prst="rect">
            <a:avLst/>
          </a:prstGeom>
          <a:noFill/>
        </p:spPr>
        <p:txBody>
          <a:bodyPr wrap="square">
            <a:spAutoFit/>
          </a:bodyPr>
          <a:lstStyle/>
          <a:p>
            <a:r>
              <a:rPr sz="1100" b="1">
                <a:solidFill>
                  <a:srgbClr val="1A2332"/>
                </a:solidFill>
                <a:latin typeface="Calibri"/>
              </a:rPr>
              <a:t>Residual spectrum</a:t>
            </a:r>
            <a:r>
              <a:rPr sz="1000">
                <a:solidFill>
                  <a:srgbClr val="2C3E50"/>
                </a:solidFill>
                <a:latin typeface="Calibri"/>
              </a:rPr>
              <a:t>  —  FFT amplitude of (synthetic − observed) for a specific candidate; shows which frequencies that candidate fails to fit.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Five papers as the menu of hypotheses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this section is and how it lands in the deck</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setup</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a:t>
            </a:r>
          </a:p>
        </p:txBody>
      </p:sp>
      <p:sp>
        <p:nvSpPr>
          <p:cNvPr id="8" name="TextBox 7"/>
          <p:cNvSpPr txBox="1"/>
          <p:nvPr/>
        </p:nvSpPr>
        <p:spPr>
          <a:xfrm>
            <a:off x="640080" y="1371600"/>
            <a:ext cx="5486400" cy="4937760"/>
          </a:xfrm>
          <a:prstGeom prst="rect">
            <a:avLst/>
          </a:prstGeom>
          <a:noFill/>
        </p:spPr>
        <p:txBody>
          <a:bodyPr wrap="square">
            <a:spAutoFit/>
          </a:bodyPr>
          <a:lstStyle/>
          <a:p>
            <a:pPr>
              <a:spcAft>
                <a:spcPts val="400"/>
              </a:spcAft>
              <a:defRPr sz="1400">
                <a:solidFill>
                  <a:srgbClr val="2C3E50"/>
                </a:solidFill>
                <a:latin typeface="Calibri"/>
              </a:defRPr>
            </a:pPr>
            <a:r>
              <a:t>The first deck ended at exact-synthetic recovery on the 1 mm grid. That left a sharper question:</a:t>
            </a:r>
          </a:p>
          <a:p>
            <a:pPr lvl="1">
              <a:spcAft>
                <a:spcPts val="400"/>
              </a:spcAft>
              <a:defRPr sz="1400">
                <a:solidFill>
                  <a:srgbClr val="2C3E50"/>
                </a:solidFill>
                <a:latin typeface="Calibri"/>
              </a:defRPr>
            </a:pPr>
            <a:r>
              <a:t>what assumption, if broken, actually moves radius?</a:t>
            </a:r>
          </a:p>
          <a:p>
            <a:pPr>
              <a:spcAft>
                <a:spcPts val="400"/>
              </a:spcAft>
              <a:defRPr sz="1400">
                <a:solidFill>
                  <a:srgbClr val="2C3E50"/>
                </a:solidFill>
                <a:latin typeface="Calibri"/>
              </a:defRPr>
            </a:pPr>
          </a:p>
          <a:p>
            <a:pPr>
              <a:spcAft>
                <a:spcPts val="400"/>
              </a:spcAft>
              <a:defRPr sz="1400">
                <a:solidFill>
                  <a:srgbClr val="2C3E50"/>
                </a:solidFill>
                <a:latin typeface="Calibri"/>
              </a:defRPr>
            </a:pPr>
            <a:r>
              <a:t>We did not invent a new objective. Instead, the recent FWI literature already proposes five distinct strategies for the failure modes we might run into. Each paper is a hypothesis about which assumption matters:</a:t>
            </a:r>
          </a:p>
          <a:p>
            <a:pPr lvl="1">
              <a:spcAft>
                <a:spcPts val="400"/>
              </a:spcAft>
              <a:defRPr sz="1400">
                <a:solidFill>
                  <a:srgbClr val="2C3E50"/>
                </a:solidFill>
                <a:latin typeface="Calibri"/>
              </a:defRPr>
            </a:pPr>
            <a:r>
              <a:t>Paper 1 (WRI): the wave equation is too tight a constraint</a:t>
            </a:r>
          </a:p>
          <a:p>
            <a:pPr lvl="1">
              <a:spcAft>
                <a:spcPts val="400"/>
              </a:spcAft>
              <a:defRPr sz="1400">
                <a:solidFill>
                  <a:srgbClr val="2C3E50"/>
                </a:solidFill>
                <a:latin typeface="Calibri"/>
              </a:defRPr>
            </a:pPr>
            <a:r>
              <a:t>Paper 2 (PEBDD): the data bandwidth is too wide too soon</a:t>
            </a:r>
          </a:p>
          <a:p>
            <a:pPr lvl="1">
              <a:spcAft>
                <a:spcPts val="400"/>
              </a:spcAft>
              <a:defRPr sz="1400">
                <a:solidFill>
                  <a:srgbClr val="2C3E50"/>
                </a:solidFill>
                <a:latin typeface="Calibri"/>
              </a:defRPr>
            </a:pPr>
            <a:r>
              <a:t>Paper 3 (OT-LS): the objective traps on cycle skips</a:t>
            </a:r>
          </a:p>
          <a:p>
            <a:pPr lvl="1">
              <a:spcAft>
                <a:spcPts val="400"/>
              </a:spcAft>
              <a:defRPr sz="1400">
                <a:solidFill>
                  <a:srgbClr val="2C3E50"/>
                </a:solidFill>
                <a:latin typeface="Calibri"/>
              </a:defRPr>
            </a:pPr>
            <a:r>
              <a:t>Paper 4 (W2): least squares is the wrong distance</a:t>
            </a:r>
          </a:p>
          <a:p>
            <a:pPr lvl="1">
              <a:spcAft>
                <a:spcPts val="400"/>
              </a:spcAft>
              <a:defRPr sz="1400">
                <a:solidFill>
                  <a:srgbClr val="2C3E50"/>
                </a:solidFill>
                <a:latin typeface="Calibri"/>
              </a:defRPr>
            </a:pPr>
            <a:r>
              <a:t>Paper 5 (IFWI): the model representation is too rigid</a:t>
            </a:r>
          </a:p>
          <a:p>
            <a:pPr>
              <a:spcAft>
                <a:spcPts val="400"/>
              </a:spcAft>
              <a:defRPr sz="1400">
                <a:solidFill>
                  <a:srgbClr val="2C3E50"/>
                </a:solidFill>
                <a:latin typeface="Calibri"/>
              </a:defRPr>
            </a:pPr>
          </a:p>
          <a:p>
            <a:pPr>
              <a:spcAft>
                <a:spcPts val="400"/>
              </a:spcAft>
              <a:defRPr sz="1400">
                <a:solidFill>
                  <a:srgbClr val="2C3E50"/>
                </a:solidFill>
                <a:latin typeface="Calibri"/>
              </a:defRPr>
            </a:pPr>
            <a:r>
              <a:t>Each paper was tested through a controlled landscape gate before any optimizer integration. Some were kept, some were rejected, some were deferred — with reasons.</a:t>
            </a:r>
          </a:p>
        </p:txBody>
      </p:sp>
      <p:sp>
        <p:nvSpPr>
          <p:cNvPr id="9" name="Rounded Rectangle 8"/>
          <p:cNvSpPr/>
          <p:nvPr/>
        </p:nvSpPr>
        <p:spPr>
          <a:xfrm>
            <a:off x="6400800" y="1371600"/>
            <a:ext cx="5394960" cy="9144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65392" y="1463040"/>
            <a:ext cx="5120640" cy="365760"/>
          </a:xfrm>
          <a:prstGeom prst="rect">
            <a:avLst/>
          </a:prstGeom>
          <a:noFill/>
        </p:spPr>
        <p:txBody>
          <a:bodyPr wrap="square">
            <a:spAutoFit/>
          </a:bodyPr>
          <a:lstStyle/>
          <a:p>
            <a:pPr algn="l">
              <a:defRPr sz="1300" b="1" i="0">
                <a:solidFill>
                  <a:srgbClr val="1A2332"/>
                </a:solidFill>
                <a:latin typeface="Calibri"/>
              </a:defRPr>
            </a:pPr>
            <a:r>
              <a:t>Paper 1 · WRI 2022 (Feng et al.)</a:t>
            </a:r>
          </a:p>
        </p:txBody>
      </p:sp>
      <p:sp>
        <p:nvSpPr>
          <p:cNvPr id="11" name="TextBox 10"/>
          <p:cNvSpPr txBox="1"/>
          <p:nvPr/>
        </p:nvSpPr>
        <p:spPr>
          <a:xfrm>
            <a:off x="6565392" y="1828800"/>
            <a:ext cx="5120640" cy="411480"/>
          </a:xfrm>
          <a:prstGeom prst="rect">
            <a:avLst/>
          </a:prstGeom>
          <a:noFill/>
        </p:spPr>
        <p:txBody>
          <a:bodyPr wrap="square">
            <a:spAutoFit/>
          </a:bodyPr>
          <a:lstStyle/>
          <a:p>
            <a:pPr algn="l">
              <a:defRPr sz="1100" b="0" i="0">
                <a:solidFill>
                  <a:srgbClr val="2C3E50"/>
                </a:solidFill>
                <a:latin typeface="Calibri"/>
              </a:defRPr>
            </a:pPr>
            <a:r>
              <a:t>Frequency-domain wavefield reconstruction + cumulative frequency strategy.</a:t>
            </a:r>
          </a:p>
        </p:txBody>
      </p:sp>
      <p:sp>
        <p:nvSpPr>
          <p:cNvPr id="12" name="Rounded Rectangle 11"/>
          <p:cNvSpPr/>
          <p:nvPr/>
        </p:nvSpPr>
        <p:spPr>
          <a:xfrm>
            <a:off x="6400800" y="2359152"/>
            <a:ext cx="5394960" cy="9144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65392" y="2450592"/>
            <a:ext cx="5120640" cy="365760"/>
          </a:xfrm>
          <a:prstGeom prst="rect">
            <a:avLst/>
          </a:prstGeom>
          <a:noFill/>
        </p:spPr>
        <p:txBody>
          <a:bodyPr wrap="square">
            <a:spAutoFit/>
          </a:bodyPr>
          <a:lstStyle/>
          <a:p>
            <a:pPr algn="l">
              <a:defRPr sz="1300" b="1" i="0">
                <a:solidFill>
                  <a:srgbClr val="1A2332"/>
                </a:solidFill>
                <a:latin typeface="Calibri"/>
              </a:defRPr>
            </a:pPr>
            <a:r>
              <a:t>Paper 2 · PEBDD 2021 (Zhou et al.)</a:t>
            </a:r>
          </a:p>
        </p:txBody>
      </p:sp>
      <p:sp>
        <p:nvSpPr>
          <p:cNvPr id="14" name="TextBox 13"/>
          <p:cNvSpPr txBox="1"/>
          <p:nvPr/>
        </p:nvSpPr>
        <p:spPr>
          <a:xfrm>
            <a:off x="6565392" y="2816352"/>
            <a:ext cx="5120640" cy="411480"/>
          </a:xfrm>
          <a:prstGeom prst="rect">
            <a:avLst/>
          </a:prstGeom>
          <a:noFill/>
        </p:spPr>
        <p:txBody>
          <a:bodyPr wrap="square">
            <a:spAutoFit/>
          </a:bodyPr>
          <a:lstStyle/>
          <a:p>
            <a:pPr algn="l">
              <a:defRPr sz="1100" b="0" i="0">
                <a:solidFill>
                  <a:srgbClr val="2C3E50"/>
                </a:solidFill>
                <a:latin typeface="Calibri"/>
              </a:defRPr>
            </a:pPr>
            <a:r>
              <a:t>Progressively expanded bandwidth, matched filter on both d_obs and d_syn.</a:t>
            </a:r>
          </a:p>
        </p:txBody>
      </p:sp>
      <p:sp>
        <p:nvSpPr>
          <p:cNvPr id="15" name="Rounded Rectangle 14"/>
          <p:cNvSpPr/>
          <p:nvPr/>
        </p:nvSpPr>
        <p:spPr>
          <a:xfrm>
            <a:off x="6400800" y="3346704"/>
            <a:ext cx="5394960" cy="91440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65392" y="3438144"/>
            <a:ext cx="5120640" cy="365760"/>
          </a:xfrm>
          <a:prstGeom prst="rect">
            <a:avLst/>
          </a:prstGeom>
          <a:noFill/>
        </p:spPr>
        <p:txBody>
          <a:bodyPr wrap="square">
            <a:spAutoFit/>
          </a:bodyPr>
          <a:lstStyle/>
          <a:p>
            <a:pPr algn="l">
              <a:defRPr sz="1300" b="1" i="0">
                <a:solidFill>
                  <a:srgbClr val="1A2332"/>
                </a:solidFill>
                <a:latin typeface="Calibri"/>
              </a:defRPr>
            </a:pPr>
            <a:r>
              <a:t>Paper 3 · OT-LS 2025 (Hunziker et al.)</a:t>
            </a:r>
          </a:p>
        </p:txBody>
      </p:sp>
      <p:sp>
        <p:nvSpPr>
          <p:cNvPr id="17" name="TextBox 16"/>
          <p:cNvSpPr txBox="1"/>
          <p:nvPr/>
        </p:nvSpPr>
        <p:spPr>
          <a:xfrm>
            <a:off x="6565392" y="3803904"/>
            <a:ext cx="5120640" cy="411480"/>
          </a:xfrm>
          <a:prstGeom prst="rect">
            <a:avLst/>
          </a:prstGeom>
          <a:noFill/>
        </p:spPr>
        <p:txBody>
          <a:bodyPr wrap="square">
            <a:spAutoFit/>
          </a:bodyPr>
          <a:lstStyle/>
          <a:p>
            <a:pPr algn="l">
              <a:defRPr sz="1100" b="0" i="0">
                <a:solidFill>
                  <a:srgbClr val="2C3E50"/>
                </a:solidFill>
                <a:latin typeface="Calibri"/>
              </a:defRPr>
            </a:pPr>
            <a:r>
              <a:t>Hybrid OT-then-LS with an NRCCC switching criterion.</a:t>
            </a:r>
          </a:p>
        </p:txBody>
      </p:sp>
      <p:sp>
        <p:nvSpPr>
          <p:cNvPr id="18" name="Rounded Rectangle 17"/>
          <p:cNvSpPr/>
          <p:nvPr/>
        </p:nvSpPr>
        <p:spPr>
          <a:xfrm>
            <a:off x="6400800" y="4334256"/>
            <a:ext cx="5394960" cy="914400"/>
          </a:xfrm>
          <a:prstGeom prst="roundRect">
            <a:avLst/>
          </a:prstGeom>
          <a:solidFill>
            <a:srgbClr val="FAE5E2"/>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565392" y="4425696"/>
            <a:ext cx="5120640" cy="365760"/>
          </a:xfrm>
          <a:prstGeom prst="rect">
            <a:avLst/>
          </a:prstGeom>
          <a:noFill/>
        </p:spPr>
        <p:txBody>
          <a:bodyPr wrap="square">
            <a:spAutoFit/>
          </a:bodyPr>
          <a:lstStyle/>
          <a:p>
            <a:pPr algn="l">
              <a:defRPr sz="1300" b="1" i="0">
                <a:solidFill>
                  <a:srgbClr val="1A2332"/>
                </a:solidFill>
                <a:latin typeface="Calibri"/>
              </a:defRPr>
            </a:pPr>
            <a:r>
              <a:t>Paper 4 · W2 GPR 2024 (Lu et al.)</a:t>
            </a:r>
          </a:p>
        </p:txBody>
      </p:sp>
      <p:sp>
        <p:nvSpPr>
          <p:cNvPr id="20" name="TextBox 19"/>
          <p:cNvSpPr txBox="1"/>
          <p:nvPr/>
        </p:nvSpPr>
        <p:spPr>
          <a:xfrm>
            <a:off x="6565392" y="4791456"/>
            <a:ext cx="5120640" cy="411480"/>
          </a:xfrm>
          <a:prstGeom prst="rect">
            <a:avLst/>
          </a:prstGeom>
          <a:noFill/>
        </p:spPr>
        <p:txBody>
          <a:bodyPr wrap="square">
            <a:spAutoFit/>
          </a:bodyPr>
          <a:lstStyle/>
          <a:p>
            <a:pPr algn="l">
              <a:defRPr sz="1100" b="0" i="0">
                <a:solidFill>
                  <a:srgbClr val="2C3E50"/>
                </a:solidFill>
                <a:latin typeface="Calibri"/>
              </a:defRPr>
            </a:pPr>
            <a:r>
              <a:t>Quadratic Wasserstein objective via Softplus normalisation + Sinkhorn.</a:t>
            </a:r>
          </a:p>
        </p:txBody>
      </p:sp>
      <p:sp>
        <p:nvSpPr>
          <p:cNvPr id="21" name="Rounded Rectangle 20"/>
          <p:cNvSpPr/>
          <p:nvPr/>
        </p:nvSpPr>
        <p:spPr>
          <a:xfrm>
            <a:off x="6400800" y="5321808"/>
            <a:ext cx="5394960" cy="91440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565392" y="5413248"/>
            <a:ext cx="5120640" cy="365760"/>
          </a:xfrm>
          <a:prstGeom prst="rect">
            <a:avLst/>
          </a:prstGeom>
          <a:noFill/>
        </p:spPr>
        <p:txBody>
          <a:bodyPr wrap="square">
            <a:spAutoFit/>
          </a:bodyPr>
          <a:lstStyle/>
          <a:p>
            <a:pPr algn="l">
              <a:defRPr sz="1300" b="1" i="0">
                <a:solidFill>
                  <a:srgbClr val="1A2332"/>
                </a:solidFill>
                <a:latin typeface="Calibri"/>
              </a:defRPr>
            </a:pPr>
            <a:r>
              <a:t>Paper 5 · IFWI 2025 (Sun et al.)</a:t>
            </a:r>
          </a:p>
        </p:txBody>
      </p:sp>
      <p:sp>
        <p:nvSpPr>
          <p:cNvPr id="23" name="TextBox 22"/>
          <p:cNvSpPr txBox="1"/>
          <p:nvPr/>
        </p:nvSpPr>
        <p:spPr>
          <a:xfrm>
            <a:off x="6565392" y="5779008"/>
            <a:ext cx="5120640" cy="411480"/>
          </a:xfrm>
          <a:prstGeom prst="rect">
            <a:avLst/>
          </a:prstGeom>
          <a:noFill/>
        </p:spPr>
        <p:txBody>
          <a:bodyPr wrap="square">
            <a:spAutoFit/>
          </a:bodyPr>
          <a:lstStyle/>
          <a:p>
            <a:pPr algn="l">
              <a:defRPr sz="1100" b="0" i="0">
                <a:solidFill>
                  <a:srgbClr val="2C3E50"/>
                </a:solidFill>
                <a:latin typeface="Calibri"/>
              </a:defRPr>
            </a:pPr>
            <a:r>
              <a:t>Implicit neural representation (x, z) → (εr, σ) with frequency-principle prior.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Wavefield Reconstruction Inversion (WRI)</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Feng et al., Remote Sensing 2022 — frequency-domain GPR-FWI for underground pipeline imaging</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1 / WRI</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325880"/>
            <a:ext cx="5394960" cy="292608"/>
          </a:xfrm>
          <a:prstGeom prst="rect">
            <a:avLst/>
          </a:prstGeom>
          <a:noFill/>
        </p:spPr>
        <p:txBody>
          <a:bodyPr wrap="square">
            <a:spAutoFit/>
          </a:bodyPr>
          <a:lstStyle/>
          <a:p>
            <a:pPr algn="l">
              <a:defRPr sz="1100" b="1" i="0">
                <a:solidFill>
                  <a:srgbClr val="1A2332"/>
                </a:solidFill>
                <a:latin typeface="Calibri"/>
              </a:defRPr>
            </a:pPr>
            <a:r>
              <a:t>PROBLEM IT ATTACKS</a:t>
            </a:r>
          </a:p>
        </p:txBody>
      </p:sp>
      <p:sp>
        <p:nvSpPr>
          <p:cNvPr id="10" name="TextBox 9"/>
          <p:cNvSpPr txBox="1"/>
          <p:nvPr/>
        </p:nvSpPr>
        <p:spPr>
          <a:xfrm>
            <a:off x="411480"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Standard FWI for GPR pipeline imaging is brittle: enforcing the wave equation exactly each iteration makes the objective highly nonlinear, so an inaccurate starting model creates cycle skipping and trapped local minima. Multiparameter inversion (permittivity and conductivity together) amplifies this; high-frequency content amplifies it further.</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1325880"/>
            <a:ext cx="5394960" cy="292608"/>
          </a:xfrm>
          <a:prstGeom prst="rect">
            <a:avLst/>
          </a:prstGeom>
          <a:noFill/>
        </p:spPr>
        <p:txBody>
          <a:bodyPr wrap="square">
            <a:spAutoFit/>
          </a:bodyPr>
          <a:lstStyle/>
          <a:p>
            <a:pPr algn="l">
              <a:defRPr sz="1100" b="1" i="0">
                <a:solidFill>
                  <a:srgbClr val="1A2332"/>
                </a:solidFill>
                <a:latin typeface="Calibri"/>
              </a:defRPr>
            </a:pPr>
            <a:r>
              <a:t>METHOD / ARCHITECTURE</a:t>
            </a:r>
          </a:p>
        </p:txBody>
      </p:sp>
      <p:sp>
        <p:nvSpPr>
          <p:cNvPr id="13" name="TextBox 12"/>
          <p:cNvSpPr txBox="1"/>
          <p:nvPr/>
        </p:nvSpPr>
        <p:spPr>
          <a:xfrm>
            <a:off x="6382512"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Frequency-domain wavefield reconstruction inversion (WRI). The wave equation is no longer enforced exactly — it becomes a penalty term, so wavefield and model are co-updated. Variable projection: solve a least-squares problem for the reconstructed wavefield given the model, substitute back into a reduced objective over the model, optimize with L-BFGS over relative permittivity and conductivity. Pair this with a multi-scale cumulative frequency strategy: stages B1..B5 add 1, 2, 3, 4, or 6 new frequencies per step while keeping previous ones; inverse-frequency-squared weighting prevents the high band from dominating the objective.</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1480" y="3886200"/>
            <a:ext cx="5394960" cy="292608"/>
          </a:xfrm>
          <a:prstGeom prst="rect">
            <a:avLst/>
          </a:prstGeom>
          <a:noFill/>
        </p:spPr>
        <p:txBody>
          <a:bodyPr wrap="square">
            <a:spAutoFit/>
          </a:bodyPr>
          <a:lstStyle/>
          <a:p>
            <a:pPr algn="l">
              <a:defRPr sz="1100" b="1" i="0">
                <a:solidFill>
                  <a:srgbClr val="1A2332"/>
                </a:solidFill>
                <a:latin typeface="Calibri"/>
              </a:defRPr>
            </a:pPr>
            <a:r>
              <a:t>KEY FINDINGS REPORTED</a:t>
            </a:r>
          </a:p>
        </p:txBody>
      </p:sp>
      <p:sp>
        <p:nvSpPr>
          <p:cNvPr id="16" name="TextBox 15"/>
          <p:cNvSpPr txBox="1"/>
          <p:nvPr/>
        </p:nvSpPr>
        <p:spPr>
          <a:xfrm>
            <a:off x="411480"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Two synthetic pipeline cases and one field-style case. Cumulative schedules beat the simultaneous baseline in every test. Reported error reductions: 7–11% (permittivity) and 7–15% (conductivity) on case 1; 20–40% and 17–24% on case 2. Smaller cumulative batches were more accurate but cost more PDE solves. Permittivity reconstructed better than conductivity. Field case recovered plausible pipeline locations even with imperfect starts.</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82512" y="3886200"/>
            <a:ext cx="5394960" cy="292608"/>
          </a:xfrm>
          <a:prstGeom prst="rect">
            <a:avLst/>
          </a:prstGeom>
          <a:noFill/>
        </p:spPr>
        <p:txBody>
          <a:bodyPr wrap="square">
            <a:spAutoFit/>
          </a:bodyPr>
          <a:lstStyle/>
          <a:p>
            <a:pPr algn="l">
              <a:defRPr sz="1100" b="1" i="0">
                <a:solidFill>
                  <a:srgbClr val="1A2332"/>
                </a:solidFill>
                <a:latin typeface="Calibri"/>
              </a:defRPr>
            </a:pPr>
            <a:r>
              <a:t>OUR ADAPTATION</a:t>
            </a:r>
          </a:p>
        </p:txBody>
      </p:sp>
      <p:sp>
        <p:nvSpPr>
          <p:cNvPr id="19" name="TextBox 18"/>
          <p:cNvSpPr txBox="1"/>
          <p:nvPr/>
        </p:nvSpPr>
        <p:spPr>
          <a:xfrm>
            <a:off x="6382512"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Kept: the cumulative-frequency philosophy, adapted as time-domain per-frequency objective contributions and a --frequency-weights CLI. This is what enables the carry_low_25 scheme we use for radius.</a:t>
            </a:r>
            <a:br/>
            <a:r>
              <a:t>Deferred: full WRI itself. Faithful implementation needs a new frequency-domain Helmholtz/Maxwell operator, complex sparse solves, frequency-domain adjoint, and penalty continuation — its own project. The current radius bias is already well explained by source handling and weighted LS, so the cost is not justified. Documented in docs/experiments/28_wri_feasibility.md.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Progressively Expanded Bandwidth FWI (PEBDD)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Zhou, Klotzsche, Vereecken, NSG 2021 — crosshole GPR FWI with bandwidth scheduling + source-wavelet update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2 / PEBDD</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6</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325880"/>
            <a:ext cx="5394960" cy="292608"/>
          </a:xfrm>
          <a:prstGeom prst="rect">
            <a:avLst/>
          </a:prstGeom>
          <a:noFill/>
        </p:spPr>
        <p:txBody>
          <a:bodyPr wrap="square">
            <a:spAutoFit/>
          </a:bodyPr>
          <a:lstStyle/>
          <a:p>
            <a:pPr algn="l">
              <a:defRPr sz="1100" b="1" i="0">
                <a:solidFill>
                  <a:srgbClr val="1A2332"/>
                </a:solidFill>
                <a:latin typeface="Calibri"/>
              </a:defRPr>
            </a:pPr>
            <a:r>
              <a:t>PROBLEM IT ATTACKS</a:t>
            </a:r>
          </a:p>
        </p:txBody>
      </p:sp>
      <p:sp>
        <p:nvSpPr>
          <p:cNvPr id="10" name="TextBox 9"/>
          <p:cNvSpPr txBox="1"/>
          <p:nvPr/>
        </p:nvSpPr>
        <p:spPr>
          <a:xfrm>
            <a:off x="411480"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Crosshole GPR FWI requires the modeled and observed traces to be within roughly half a wavelength or half a period at every position for least-squares to be safe. Ray-based starting models often violate this in high-contrast media. The visible failure mode is the optimizer settling into a depth/contrast tradeoff that fits the B-scan well but is physically wrong.</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1325880"/>
            <a:ext cx="5394960" cy="292608"/>
          </a:xfrm>
          <a:prstGeom prst="rect">
            <a:avLst/>
          </a:prstGeom>
          <a:noFill/>
        </p:spPr>
        <p:txBody>
          <a:bodyPr wrap="square">
            <a:spAutoFit/>
          </a:bodyPr>
          <a:lstStyle/>
          <a:p>
            <a:pPr algn="l">
              <a:defRPr sz="1100" b="1" i="0">
                <a:solidFill>
                  <a:srgbClr val="1A2332"/>
                </a:solidFill>
                <a:latin typeface="Calibri"/>
              </a:defRPr>
            </a:pPr>
            <a:r>
              <a:t>METHOD / ARCHITECTURE</a:t>
            </a:r>
          </a:p>
        </p:txBody>
      </p:sp>
      <p:sp>
        <p:nvSpPr>
          <p:cNvPr id="13" name="TextBox 12"/>
          <p:cNvSpPr txBox="1"/>
          <p:nvPr/>
        </p:nvSpPr>
        <p:spPr>
          <a:xfrm>
            <a:off x="6382512"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PEBDD = Progressively Expanded Bandwidths of the Data. Apply the SAME tapered bandpass to both observed and modeled traces — that is the differentiator from older bandwidth-expansion methods, which filtered only the modeled side through the source wavelet. Algorithm: estimate an effective source wavelet; build a tapered filter; fix a low cut; start with a low high cut; run a small number of FWI iterations; expand the high cut by a fixed increment; repeat. After the staged build-up, use the recovered model as the starting model for full-band FWI, then update the source wavelet by deconvolution and run full-band FWI again.</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1480" y="3886200"/>
            <a:ext cx="5394960" cy="292608"/>
          </a:xfrm>
          <a:prstGeom prst="rect">
            <a:avLst/>
          </a:prstGeom>
          <a:noFill/>
        </p:spPr>
        <p:txBody>
          <a:bodyPr wrap="square">
            <a:spAutoFit/>
          </a:bodyPr>
          <a:lstStyle/>
          <a:p>
            <a:pPr algn="l">
              <a:defRPr sz="1100" b="1" i="0">
                <a:solidFill>
                  <a:srgbClr val="1A2332"/>
                </a:solidFill>
                <a:latin typeface="Calibri"/>
              </a:defRPr>
            </a:pPr>
            <a:r>
              <a:t>KEY FINDINGS REPORTED</a:t>
            </a:r>
          </a:p>
        </p:txBody>
      </p:sp>
      <p:sp>
        <p:nvSpPr>
          <p:cNvPr id="16" name="TextBox 15"/>
          <p:cNvSpPr txBox="1"/>
          <p:nvPr/>
        </p:nvSpPr>
        <p:spPr>
          <a:xfrm>
            <a:off x="411480"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Synthetic case I with a good ray-based start: permittivity MAE 2.0 → 1.7 with PEBDD; data RMS roughly halved. Synthetic case II with a deliberately bad start outside the half-wavelength criterion: standard FWI MAE 3.6 → PEBDD MAE 2.1; standard FWI was trapped, PEBDD was not. Field-data RMS improved in all four crosshole sections tested; CPT comparisons mostly better, not uniformly.</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82512" y="3886200"/>
            <a:ext cx="5394960" cy="292608"/>
          </a:xfrm>
          <a:prstGeom prst="rect">
            <a:avLst/>
          </a:prstGeom>
          <a:noFill/>
        </p:spPr>
        <p:txBody>
          <a:bodyPr wrap="square">
            <a:spAutoFit/>
          </a:bodyPr>
          <a:lstStyle/>
          <a:p>
            <a:pPr algn="l">
              <a:defRPr sz="1100" b="1" i="0">
                <a:solidFill>
                  <a:srgbClr val="1A2332"/>
                </a:solidFill>
                <a:latin typeface="Calibri"/>
              </a:defRPr>
            </a:pPr>
            <a:r>
              <a:t>OUR ADAPTATION</a:t>
            </a:r>
          </a:p>
        </p:txBody>
      </p:sp>
      <p:sp>
        <p:nvSpPr>
          <p:cNvPr id="19" name="TextBox 18"/>
          <p:cNvSpPr txBox="1"/>
          <p:nvPr/>
        </p:nvSpPr>
        <p:spPr>
          <a:xfrm>
            <a:off x="6382512"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Kept: the matched-filter design (FFT bandpass applied to both d_obs and d_syn) as inversion/trace_filters.py, plus a new spectrum-design tool so the band edges come from real residual spectra instead of guesses. Used as the seed-building stage of the staged inversion.</a:t>
            </a:r>
            <a:br/>
            <a:r>
              <a:t>Adapted: the source-wavelet update is replaced in our pipeline by the explicit source profiling described later in the deck (amplitude / time-shift / center-frequency-scale).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Optimal-Transport / Least-Squares Hybrid (OT-LS)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Hunziker, Meles, Linde, JAG 2025 — get into the basin with OT, refine with LS, switch via NRCCC</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3 / OT-LS</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7</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325880"/>
            <a:ext cx="5394960" cy="292608"/>
          </a:xfrm>
          <a:prstGeom prst="rect">
            <a:avLst/>
          </a:prstGeom>
          <a:noFill/>
        </p:spPr>
        <p:txBody>
          <a:bodyPr wrap="square">
            <a:spAutoFit/>
          </a:bodyPr>
          <a:lstStyle/>
          <a:p>
            <a:pPr algn="l">
              <a:defRPr sz="1100" b="1" i="0">
                <a:solidFill>
                  <a:srgbClr val="1A2332"/>
                </a:solidFill>
                <a:latin typeface="Calibri"/>
              </a:defRPr>
            </a:pPr>
            <a:r>
              <a:t>PROBLEM IT ATTACKS</a:t>
            </a:r>
          </a:p>
        </p:txBody>
      </p:sp>
      <p:sp>
        <p:nvSpPr>
          <p:cNvPr id="10" name="TextBox 9"/>
          <p:cNvSpPr txBox="1"/>
          <p:nvPr/>
        </p:nvSpPr>
        <p:spPr>
          <a:xfrm>
            <a:off x="411480"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Crosshole GPR FWI is cycle-skipping-prone with L2 because the objective has multiple local minima along trace shifts. When the wavelet's main lobe moves past truth, pointwise amplitude cancellation creates a misleading local decrease and the optimizer slides into the wrong basin. The proposed fix is a hybrid objective, not just a different optimizer.</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1325880"/>
            <a:ext cx="5394960" cy="292608"/>
          </a:xfrm>
          <a:prstGeom prst="rect">
            <a:avLst/>
          </a:prstGeom>
          <a:noFill/>
        </p:spPr>
        <p:txBody>
          <a:bodyPr wrap="square">
            <a:spAutoFit/>
          </a:bodyPr>
          <a:lstStyle/>
          <a:p>
            <a:pPr algn="l">
              <a:defRPr sz="1100" b="1" i="0">
                <a:solidFill>
                  <a:srgbClr val="1A2332"/>
                </a:solidFill>
                <a:latin typeface="Calibri"/>
              </a:defRPr>
            </a:pPr>
            <a:r>
              <a:t>METHOD / ARCHITECTURE</a:t>
            </a:r>
          </a:p>
        </p:txBody>
      </p:sp>
      <p:sp>
        <p:nvSpPr>
          <p:cNvPr id="13" name="TextBox 12"/>
          <p:cNvSpPr txBox="1"/>
          <p:nvPr/>
        </p:nvSpPr>
        <p:spPr>
          <a:xfrm>
            <a:off x="6382512"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Two-stage objective. OT first: convert each trace into a 'fingerprint' — a 2D pseudo probability density over (time, amplitude), take its two 1D marginals, compute Wasserstein distances on those marginals. The fingerprint OT objective has a broad global basin that is shift-monotonic. Then switch to LS for sharpness once trace pairs are aligned. Switching is governed by the cross-correlation criterion RCCC = |trace shift| / dominant period; NRCCC is the fraction of traces with RCCC &lt; 0.5; switch when NRCCC &gt; Cs ≈ 0.7. Gradients computed sparsely at random master points away from antennas, then interpolated — implicit regularization plus runtime.</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1480" y="3886200"/>
            <a:ext cx="5394960" cy="292608"/>
          </a:xfrm>
          <a:prstGeom prst="rect">
            <a:avLst/>
          </a:prstGeom>
          <a:noFill/>
        </p:spPr>
        <p:txBody>
          <a:bodyPr wrap="square">
            <a:spAutoFit/>
          </a:bodyPr>
          <a:lstStyle/>
          <a:p>
            <a:pPr algn="l">
              <a:defRPr sz="1100" b="1" i="0">
                <a:solidFill>
                  <a:srgbClr val="1A2332"/>
                </a:solidFill>
                <a:latin typeface="Calibri"/>
              </a:defRPr>
            </a:pPr>
            <a:r>
              <a:t>KEY FINDINGS REPORTED</a:t>
            </a:r>
          </a:p>
        </p:txBody>
      </p:sp>
      <p:sp>
        <p:nvSpPr>
          <p:cNvPr id="16" name="TextBox 15"/>
          <p:cNvSpPr txBox="1"/>
          <p:nvPr/>
        </p:nvSpPr>
        <p:spPr>
          <a:xfrm>
            <a:off x="411480"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Synthetic crosshole with a large circular anomaly and a deliberately poor homogeneous starting model. Pure LS converged to bad local minima. Pure OT moved toward the right structure but did not resolve details. Hybrid OT → LS recovered good models for switching thresholds Cs ≈ 0.7–0.75. Runs that ended with NRCCC = 1 and weighted RMS close to 1 were reliable; runs that did not were not.</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82512" y="3886200"/>
            <a:ext cx="5394960" cy="292608"/>
          </a:xfrm>
          <a:prstGeom prst="rect">
            <a:avLst/>
          </a:prstGeom>
          <a:noFill/>
        </p:spPr>
        <p:txBody>
          <a:bodyPr wrap="square">
            <a:spAutoFit/>
          </a:bodyPr>
          <a:lstStyle/>
          <a:p>
            <a:pPr algn="l">
              <a:defRPr sz="1100" b="1" i="0">
                <a:solidFill>
                  <a:srgbClr val="1A2332"/>
                </a:solidFill>
                <a:latin typeface="Calibri"/>
              </a:defRPr>
            </a:pPr>
            <a:r>
              <a:t>OUR ADAPTATION</a:t>
            </a:r>
          </a:p>
        </p:txBody>
      </p:sp>
      <p:sp>
        <p:nvSpPr>
          <p:cNvPr id="19" name="TextBox 18"/>
          <p:cNvSpPr txBox="1"/>
          <p:nvPr/>
        </p:nvSpPr>
        <p:spPr>
          <a:xfrm>
            <a:off x="6382512"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Kept: the NRCCC trace-shift diagnostic, implemented in inversion/trace_distances.py and saved in every run summary. We use it as a safety report — does the model live in a least-squares-safe basin?</a:t>
            </a:r>
            <a:br/>
            <a:r>
              <a:t>Deferred: the OT objective itself. Across exact / 5% / 10% noise, NRCCC = 1.0 for our wrong-radius candidates — they are already in the LS-safe basin. The OT machinery would be solving a problem we do not have.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Quadratic Wasserstein GPR-FWI (W2)</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Lu et al., Remote Sensing 2024 — two-parameter GPR-FWI with W2 as a direct L2 replacement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4 / W2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8</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325880"/>
            <a:ext cx="5394960" cy="292608"/>
          </a:xfrm>
          <a:prstGeom prst="rect">
            <a:avLst/>
          </a:prstGeom>
          <a:noFill/>
        </p:spPr>
        <p:txBody>
          <a:bodyPr wrap="square">
            <a:spAutoFit/>
          </a:bodyPr>
          <a:lstStyle/>
          <a:p>
            <a:pPr algn="l">
              <a:defRPr sz="1100" b="1" i="0">
                <a:solidFill>
                  <a:srgbClr val="1A2332"/>
                </a:solidFill>
                <a:latin typeface="Calibri"/>
              </a:defRPr>
            </a:pPr>
            <a:r>
              <a:t>PROBLEM IT ATTACKS</a:t>
            </a:r>
          </a:p>
        </p:txBody>
      </p:sp>
      <p:sp>
        <p:nvSpPr>
          <p:cNvPr id="10" name="TextBox 9"/>
          <p:cNvSpPr txBox="1"/>
          <p:nvPr/>
        </p:nvSpPr>
        <p:spPr>
          <a:xfrm>
            <a:off x="411480"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Two-parameter GPR FWI (relative permittivity and conductivity) is unstable under standard L2: high parameter sensitivity, weak conductivity recovery, noise vulnerability, strong initial-model dependence. The paper proposes a single objective change rather than a new optimization framework, so the rest of the FWI stack stays the same.</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1325880"/>
            <a:ext cx="5394960" cy="292608"/>
          </a:xfrm>
          <a:prstGeom prst="rect">
            <a:avLst/>
          </a:prstGeom>
          <a:noFill/>
        </p:spPr>
        <p:txBody>
          <a:bodyPr wrap="square">
            <a:spAutoFit/>
          </a:bodyPr>
          <a:lstStyle/>
          <a:p>
            <a:pPr algn="l">
              <a:defRPr sz="1100" b="1" i="0">
                <a:solidFill>
                  <a:srgbClr val="1A2332"/>
                </a:solidFill>
                <a:latin typeface="Calibri"/>
              </a:defRPr>
            </a:pPr>
            <a:r>
              <a:t>METHOD / ARCHITECTURE</a:t>
            </a:r>
          </a:p>
        </p:txBody>
      </p:sp>
      <p:sp>
        <p:nvSpPr>
          <p:cNvPr id="13" name="TextBox 12"/>
          <p:cNvSpPr txBox="1"/>
          <p:nvPr/>
        </p:nvSpPr>
        <p:spPr>
          <a:xfrm>
            <a:off x="6382512"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Replace L2 with the quadratic Wasserstein distance W2. Three implementation pieces matter. (1) Softplus normalisation: raw signed GPR traces oscillate around zero, but optimal transport needs non-negative distributions with equal mass; softplus(b·x) / Σsoftplus turns the trace into a usable distribution. The scale b controls how aggressive the transform is. (2) Sinkhorn entropy regularisation: exact OT is too expensive for repeated FWI evaluations; ε trades transport accuracy for numerical stability. (3) Wrap in multi-scale frequency-domain FWI with L-BFGS over εr and σ, frequencies added in batches (e.g. 15 batches of 4 frequencies, 10 iterations each).</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1480" y="3886200"/>
            <a:ext cx="5394960" cy="292608"/>
          </a:xfrm>
          <a:prstGeom prst="rect">
            <a:avLst/>
          </a:prstGeom>
          <a:noFill/>
        </p:spPr>
        <p:txBody>
          <a:bodyPr wrap="square">
            <a:spAutoFit/>
          </a:bodyPr>
          <a:lstStyle/>
          <a:p>
            <a:pPr algn="l">
              <a:defRPr sz="1100" b="1" i="0">
                <a:solidFill>
                  <a:srgbClr val="1A2332"/>
                </a:solidFill>
                <a:latin typeface="Calibri"/>
              </a:defRPr>
            </a:pPr>
            <a:r>
              <a:t>KEY FINDINGS REPORTED</a:t>
            </a:r>
          </a:p>
        </p:txBody>
      </p:sp>
      <p:sp>
        <p:nvSpPr>
          <p:cNvPr id="16" name="TextBox 15"/>
          <p:cNvSpPr txBox="1"/>
          <p:nvPr/>
        </p:nvSpPr>
        <p:spPr>
          <a:xfrm>
            <a:off x="411480"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Three numerical examples. W2-FWI depends less on the initial model than L2-FWI. W2-FWI is more robust to additive noise. W2-FWI improves conductivity recovery more strongly than permittivity recovery (the opposite ordering from L2-based work). L2-FWI can generate high-frequency artifacts and obscure targets when the starting model is poor. Adding higher frequencies did not always improve W2 results.</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82512" y="3886200"/>
            <a:ext cx="5394960" cy="292608"/>
          </a:xfrm>
          <a:prstGeom prst="rect">
            <a:avLst/>
          </a:prstGeom>
          <a:noFill/>
        </p:spPr>
        <p:txBody>
          <a:bodyPr wrap="square">
            <a:spAutoFit/>
          </a:bodyPr>
          <a:lstStyle/>
          <a:p>
            <a:pPr algn="l">
              <a:defRPr sz="1100" b="1" i="0">
                <a:solidFill>
                  <a:srgbClr val="1A2332"/>
                </a:solidFill>
                <a:latin typeface="Calibri"/>
              </a:defRPr>
            </a:pPr>
            <a:r>
              <a:t>OUR ADAPTATION</a:t>
            </a:r>
          </a:p>
        </p:txBody>
      </p:sp>
      <p:sp>
        <p:nvSpPr>
          <p:cNvPr id="19" name="TextBox 18"/>
          <p:cNvSpPr txBox="1"/>
          <p:nvPr/>
        </p:nvSpPr>
        <p:spPr>
          <a:xfrm>
            <a:off x="6382512"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Built: a standalone Softplus / Sinkhorn W2 module with unit tests (inversion/trace_wasserstein.py). Ran it through two gates before any optimizer integration.</a:t>
            </a:r>
            <a:br/>
            <a:r>
              <a:t>Gate 1 (shifted Ricker, paper claim): passed.</a:t>
            </a:r>
            <a:br/>
            <a:r>
              <a:t>Gate 2 (rebar landscape): failed. Softplus normalisation removes the amplitude content radius depends on; W2 margin collapses by four orders of magnitude vs LS.</a:t>
            </a:r>
            <a:br/>
            <a:r>
              <a:t>Decision: reject W2 as the final radius objective for this problem. Kept available as a basin diagnostic for future poor-initial-model / field-data scenarios.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Implicit Multiparameter GPR-FWI (IFWI)</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Sun et al., GJI 2025 — neural implicit representation of the subsurface material model</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paper 5 / IFWI</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9</a:t>
            </a:r>
          </a:p>
        </p:txBody>
      </p:sp>
      <p:sp>
        <p:nvSpPr>
          <p:cNvPr id="8" name="Rounded Rectangle 7"/>
          <p:cNvSpPr/>
          <p:nvPr/>
        </p:nvSpPr>
        <p:spPr>
          <a:xfrm>
            <a:off x="274320" y="1280160"/>
            <a:ext cx="5669280" cy="24231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11480" y="1325880"/>
            <a:ext cx="5394960" cy="292608"/>
          </a:xfrm>
          <a:prstGeom prst="rect">
            <a:avLst/>
          </a:prstGeom>
          <a:noFill/>
        </p:spPr>
        <p:txBody>
          <a:bodyPr wrap="square">
            <a:spAutoFit/>
          </a:bodyPr>
          <a:lstStyle/>
          <a:p>
            <a:pPr algn="l">
              <a:defRPr sz="1100" b="1" i="0">
                <a:solidFill>
                  <a:srgbClr val="1A2332"/>
                </a:solidFill>
                <a:latin typeface="Calibri"/>
              </a:defRPr>
            </a:pPr>
            <a:r>
              <a:t>PROBLEM IT ATTACKS</a:t>
            </a:r>
          </a:p>
        </p:txBody>
      </p:sp>
      <p:sp>
        <p:nvSpPr>
          <p:cNvPr id="10" name="TextBox 9"/>
          <p:cNvSpPr txBox="1"/>
          <p:nvPr/>
        </p:nvSpPr>
        <p:spPr>
          <a:xfrm>
            <a:off x="411480"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Standard FWI stores material parameters on a dense grid. That makes multiparameter inversion brittle: huge model dimensionality, manual parameter weighting between permittivity and conductivity, strong initial-model dependence, ad-hoc multi-scale schedules. The paper proposes a fundamentally different model representation rather than a new objective.</a:t>
            </a:r>
          </a:p>
        </p:txBody>
      </p:sp>
      <p:sp>
        <p:nvSpPr>
          <p:cNvPr id="11" name="Rounded Rectangle 10"/>
          <p:cNvSpPr/>
          <p:nvPr/>
        </p:nvSpPr>
        <p:spPr>
          <a:xfrm>
            <a:off x="6245352" y="1280160"/>
            <a:ext cx="5669280" cy="242316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82512" y="1325880"/>
            <a:ext cx="5394960" cy="292608"/>
          </a:xfrm>
          <a:prstGeom prst="rect">
            <a:avLst/>
          </a:prstGeom>
          <a:noFill/>
        </p:spPr>
        <p:txBody>
          <a:bodyPr wrap="square">
            <a:spAutoFit/>
          </a:bodyPr>
          <a:lstStyle/>
          <a:p>
            <a:pPr algn="l">
              <a:defRPr sz="1100" b="1" i="0">
                <a:solidFill>
                  <a:srgbClr val="1A2332"/>
                </a:solidFill>
                <a:latin typeface="Calibri"/>
              </a:defRPr>
            </a:pPr>
            <a:r>
              <a:t>METHOD / ARCHITECTURE</a:t>
            </a:r>
          </a:p>
        </p:txBody>
      </p:sp>
      <p:sp>
        <p:nvSpPr>
          <p:cNvPr id="13" name="TextBox 12"/>
          <p:cNvSpPr txBox="1"/>
          <p:nvPr/>
        </p:nvSpPr>
        <p:spPr>
          <a:xfrm>
            <a:off x="6382512" y="1664208"/>
            <a:ext cx="5394960" cy="1965960"/>
          </a:xfrm>
          <a:prstGeom prst="rect">
            <a:avLst/>
          </a:prstGeom>
          <a:noFill/>
        </p:spPr>
        <p:txBody>
          <a:bodyPr wrap="square">
            <a:spAutoFit/>
          </a:bodyPr>
          <a:lstStyle/>
          <a:p>
            <a:pPr>
              <a:spcAft>
                <a:spcPts val="0"/>
              </a:spcAft>
              <a:defRPr sz="1100">
                <a:solidFill>
                  <a:srgbClr val="2C3E50"/>
                </a:solidFill>
                <a:latin typeface="Calibri"/>
              </a:defRPr>
            </a:pPr>
            <a:r>
              <a:t>Implicit FWI. Replace the grid with a small neural network: coordinates (x, z) → N_θ(x, z) → (εr, σ). The forward solver is still Maxwell / FDTD, the loss is still waveform mismatch — only the model parameterization changes. Optimize the network weights with Adam. Architecture details matter: SIREN / sinusoidal activations with a frequency scale ω₀ that controls detail sensitivity; too small ω₀ misses fine structure, too large ω₀ produces high-frequency noise. Dropout helps in some configurations. The paper also describes an RNN-style differentiable FDTD framing so AD gives gradients consistent with adjoint-state methods.</a:t>
            </a:r>
          </a:p>
        </p:txBody>
      </p:sp>
      <p:sp>
        <p:nvSpPr>
          <p:cNvPr id="14" name="Rounded Rectangle 13"/>
          <p:cNvSpPr/>
          <p:nvPr/>
        </p:nvSpPr>
        <p:spPr>
          <a:xfrm>
            <a:off x="274320" y="3840480"/>
            <a:ext cx="5669280" cy="2423160"/>
          </a:xfrm>
          <a:prstGeom prst="roundRect">
            <a:avLst/>
          </a:prstGeom>
          <a:solidFill>
            <a:srgbClr val="F4F6F8"/>
          </a:solidFill>
          <a:ln w="12700">
            <a:solidFill>
              <a:srgbClr val="007C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11480" y="3886200"/>
            <a:ext cx="5394960" cy="292608"/>
          </a:xfrm>
          <a:prstGeom prst="rect">
            <a:avLst/>
          </a:prstGeom>
          <a:noFill/>
        </p:spPr>
        <p:txBody>
          <a:bodyPr wrap="square">
            <a:spAutoFit/>
          </a:bodyPr>
          <a:lstStyle/>
          <a:p>
            <a:pPr algn="l">
              <a:defRPr sz="1100" b="1" i="0">
                <a:solidFill>
                  <a:srgbClr val="1A2332"/>
                </a:solidFill>
                <a:latin typeface="Calibri"/>
              </a:defRPr>
            </a:pPr>
            <a:r>
              <a:t>KEY FINDINGS REPORTED</a:t>
            </a:r>
          </a:p>
        </p:txBody>
      </p:sp>
      <p:sp>
        <p:nvSpPr>
          <p:cNvPr id="16" name="TextBox 15"/>
          <p:cNvSpPr txBox="1"/>
          <p:nvPr/>
        </p:nvSpPr>
        <p:spPr>
          <a:xfrm>
            <a:off x="411480"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The 'frequency principle' of neural networks acts as an automatic multiscale prior: broad/low-frequency structure is learned before fine detail. IFWI reconstructed useful subsurface structure from poorer initial models than standard FWI. Permittivity and conductivity inverted simultaneously without the manual parameter weighting that classical multiparameter FWI relies on. Network architecture (depth, width, ω₀, dropout) materially affects results — these are tuning choices, not free parameters.</a:t>
            </a:r>
          </a:p>
        </p:txBody>
      </p:sp>
      <p:sp>
        <p:nvSpPr>
          <p:cNvPr id="17" name="Rounded Rectangle 16"/>
          <p:cNvSpPr/>
          <p:nvPr/>
        </p:nvSpPr>
        <p:spPr>
          <a:xfrm>
            <a:off x="6245352" y="3840480"/>
            <a:ext cx="5669280" cy="2423160"/>
          </a:xfrm>
          <a:prstGeom prst="roundRect">
            <a:avLst/>
          </a:prstGeom>
          <a:solidFill>
            <a:srgbClr val="E6F5EC"/>
          </a:solidFill>
          <a:ln w="127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382512" y="3886200"/>
            <a:ext cx="5394960" cy="292608"/>
          </a:xfrm>
          <a:prstGeom prst="rect">
            <a:avLst/>
          </a:prstGeom>
          <a:noFill/>
        </p:spPr>
        <p:txBody>
          <a:bodyPr wrap="square">
            <a:spAutoFit/>
          </a:bodyPr>
          <a:lstStyle/>
          <a:p>
            <a:pPr algn="l">
              <a:defRPr sz="1100" b="1" i="0">
                <a:solidFill>
                  <a:srgbClr val="1A2332"/>
                </a:solidFill>
                <a:latin typeface="Calibri"/>
              </a:defRPr>
            </a:pPr>
            <a:r>
              <a:t>OUR ADAPTATION</a:t>
            </a:r>
          </a:p>
        </p:txBody>
      </p:sp>
      <p:sp>
        <p:nvSpPr>
          <p:cNvPr id="19" name="TextBox 18"/>
          <p:cNvSpPr txBox="1"/>
          <p:nvPr/>
        </p:nvSpPr>
        <p:spPr>
          <a:xfrm>
            <a:off x="6382512" y="4224528"/>
            <a:ext cx="5394960" cy="1965960"/>
          </a:xfrm>
          <a:prstGeom prst="rect">
            <a:avLst/>
          </a:prstGeom>
          <a:noFill/>
        </p:spPr>
        <p:txBody>
          <a:bodyPr wrap="square">
            <a:spAutoFit/>
          </a:bodyPr>
          <a:lstStyle/>
          <a:p>
            <a:pPr>
              <a:spcAft>
                <a:spcPts val="0"/>
              </a:spcAft>
              <a:defRPr sz="1100">
                <a:solidFill>
                  <a:srgbClr val="2C3E50"/>
                </a:solidFill>
                <a:latin typeface="Calibri"/>
              </a:defRPr>
            </a:pPr>
            <a:r>
              <a:t>Deferred. Two concrete reasons: (1) our parameter vector is [x, z, radius] — three numbers; an implicit field is overkill. (2) a flexible neural residual would risk absorbing radius bias into a 'background correction' instead of revealing it, which would make the radius estimate less meaningful, not more. The frequency-principle lesson is already implicit in our staged pipeline (basin first, detail later). Reserved for multi-rebar or field-data stages where explicit nuisance parameters become insufficient. See docs/experiments/29_ifwi_feasibility.md for the design of a constrained future prototype.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From papers to experiments — the mapping</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Which experiments tested each paper's claim, and the verdict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roadmap</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10</a:t>
            </a:r>
          </a:p>
        </p:txBody>
      </p:sp>
      <p:graphicFrame>
        <p:nvGraphicFramePr>
          <p:cNvPr id="8" name="Table 7"/>
          <p:cNvGraphicFramePr>
            <a:graphicFrameLocks noGrp="1"/>
          </p:cNvGraphicFramePr>
          <p:nvPr/>
        </p:nvGraphicFramePr>
        <p:xfrm>
          <a:off x="365760" y="1280160"/>
          <a:ext cx="11430000" cy="4654296"/>
        </p:xfrm>
        <a:graphic>
          <a:graphicData uri="http://schemas.openxmlformats.org/drawingml/2006/table">
            <a:tbl>
              <a:tblPr firstRow="1" bandRow="1">
                <a:tableStyleId>{5C22544A-7EE6-4342-B048-85BDC9FD1C3A}</a:tableStyleId>
              </a:tblPr>
              <a:tblGrid>
                <a:gridCol w="914400"/>
                <a:gridCol w="2743200"/>
                <a:gridCol w="1371600"/>
                <a:gridCol w="3931920"/>
                <a:gridCol w="2468880"/>
              </a:tblGrid>
              <a:tr h="411480">
                <a:tc>
                  <a:txBody>
                    <a:bodyPr/>
                    <a:lstStyle/>
                    <a:p>
                      <a:pPr algn="l"/>
                      <a:r>
                        <a:rPr sz="1200" b="1">
                          <a:solidFill>
                            <a:srgbClr val="FFFFFF"/>
                          </a:solidFill>
                          <a:latin typeface="Calibri"/>
                        </a:rPr>
                        <a:t>Source</a:t>
                      </a:r>
                    </a:p>
                  </a:txBody>
                  <a:tcPr marL="91440" marR="45720" marT="45720" marB="45720">
                    <a:solidFill>
                      <a:srgbClr val="1A2332"/>
                    </a:solidFill>
                  </a:tcPr>
                </a:tc>
                <a:tc>
                  <a:txBody>
                    <a:bodyPr/>
                    <a:lstStyle/>
                    <a:p>
                      <a:pPr algn="l"/>
                      <a:r>
                        <a:rPr sz="1200" b="1">
                          <a:solidFill>
                            <a:srgbClr val="FFFFFF"/>
                          </a:solidFill>
                          <a:latin typeface="Calibri"/>
                        </a:rPr>
                        <a:t>Hypothesis tested</a:t>
                      </a:r>
                    </a:p>
                  </a:txBody>
                  <a:tcPr marL="91440" marR="45720" marT="45720" marB="45720">
                    <a:solidFill>
                      <a:srgbClr val="1A2332"/>
                    </a:solidFill>
                  </a:tcPr>
                </a:tc>
                <a:tc>
                  <a:txBody>
                    <a:bodyPr/>
                    <a:lstStyle/>
                    <a:p>
                      <a:pPr algn="l"/>
                      <a:r>
                        <a:rPr sz="1200" b="1">
                          <a:solidFill>
                            <a:srgbClr val="FFFFFF"/>
                          </a:solidFill>
                          <a:latin typeface="Calibri"/>
                        </a:rPr>
                        <a:t>Experiments</a:t>
                      </a:r>
                    </a:p>
                  </a:txBody>
                  <a:tcPr marL="91440" marR="45720" marT="45720" marB="45720">
                    <a:solidFill>
                      <a:srgbClr val="1A2332"/>
                    </a:solidFill>
                  </a:tcPr>
                </a:tc>
                <a:tc>
                  <a:txBody>
                    <a:bodyPr/>
                    <a:lstStyle/>
                    <a:p>
                      <a:pPr algn="l"/>
                      <a:r>
                        <a:rPr sz="1200" b="1">
                          <a:solidFill>
                            <a:srgbClr val="FFFFFF"/>
                          </a:solidFill>
                          <a:latin typeface="Calibri"/>
                        </a:rPr>
                        <a:t>Gate result</a:t>
                      </a:r>
                    </a:p>
                  </a:txBody>
                  <a:tcPr marL="91440" marR="45720" marT="45720" marB="45720">
                    <a:solidFill>
                      <a:srgbClr val="1A2332"/>
                    </a:solidFill>
                  </a:tcPr>
                </a:tc>
                <a:tc>
                  <a:txBody>
                    <a:bodyPr/>
                    <a:lstStyle/>
                    <a:p>
                      <a:pPr algn="l"/>
                      <a:r>
                        <a:rPr sz="1200" b="1">
                          <a:solidFill>
                            <a:srgbClr val="FFFFFF"/>
                          </a:solidFill>
                          <a:latin typeface="Calibri"/>
                        </a:rPr>
                        <a:t>Verdict</a:t>
                      </a:r>
                    </a:p>
                  </a:txBody>
                  <a:tcPr marL="91440" marR="45720" marT="45720" marB="45720">
                    <a:solidFill>
                      <a:srgbClr val="1A2332"/>
                    </a:solidFill>
                  </a:tcPr>
                </a:tc>
              </a:tr>
              <a:tr h="530352">
                <a:tc>
                  <a:txBody>
                    <a:bodyPr wrap="square"/>
                    <a:lstStyle/>
                    <a:p>
                      <a:pPr algn="l"/>
                      <a:r>
                        <a:rPr sz="1000" b="1">
                          <a:solidFill>
                            <a:srgbClr val="1A2332"/>
                          </a:solidFill>
                          <a:latin typeface="Calibri"/>
                        </a:rPr>
                        <a:t>OT-LS</a:t>
                      </a:r>
                    </a:p>
                  </a:txBody>
                  <a:tcPr marL="91440" marR="45720" marT="36576" marB="36576">
                    <a:solidFill>
                      <a:srgbClr val="F4F6F8"/>
                    </a:solidFill>
                  </a:tcPr>
                </a:tc>
                <a:tc>
                  <a:txBody>
                    <a:bodyPr wrap="square"/>
                    <a:lstStyle/>
                    <a:p>
                      <a:pPr algn="l"/>
                      <a:r>
                        <a:rPr sz="1000">
                          <a:solidFill>
                            <a:srgbClr val="2C3E50"/>
                          </a:solidFill>
                          <a:latin typeface="Calibri"/>
                        </a:rPr>
                        <a:t>Cycle skipping drives radius bias</a:t>
                      </a:r>
                    </a:p>
                  </a:txBody>
                  <a:tcPr marL="91440" marR="45720" marT="36576" marB="36576">
                    <a:solidFill>
                      <a:srgbClr val="F4F6F8"/>
                    </a:solidFill>
                  </a:tcPr>
                </a:tc>
                <a:tc>
                  <a:txBody>
                    <a:bodyPr wrap="square"/>
                    <a:lstStyle/>
                    <a:p>
                      <a:pPr algn="l"/>
                      <a:r>
                        <a:rPr sz="1000">
                          <a:solidFill>
                            <a:srgbClr val="2C3E50"/>
                          </a:solidFill>
                          <a:latin typeface="Calibri"/>
                        </a:rPr>
                        <a:t>024–027</a:t>
                      </a:r>
                    </a:p>
                  </a:txBody>
                  <a:tcPr marL="91440" marR="45720" marT="36576" marB="36576">
                    <a:solidFill>
                      <a:srgbClr val="F4F6F8"/>
                    </a:solidFill>
                  </a:tcPr>
                </a:tc>
                <a:tc>
                  <a:txBody>
                    <a:bodyPr wrap="square"/>
                    <a:lstStyle/>
                    <a:p>
                      <a:pPr algn="l"/>
                      <a:r>
                        <a:rPr sz="1000">
                          <a:solidFill>
                            <a:srgbClr val="2C3E50"/>
                          </a:solidFill>
                          <a:latin typeface="Calibri"/>
                        </a:rPr>
                        <a:t>NRCCC = 1.0 for every candidate, including the wrong-radius one</a:t>
                      </a:r>
                    </a:p>
                  </a:txBody>
                  <a:tcPr marL="91440" marR="45720" marT="36576" marB="36576">
                    <a:solidFill>
                      <a:srgbClr val="F4F6F8"/>
                    </a:solidFill>
                  </a:tcPr>
                </a:tc>
                <a:tc>
                  <a:txBody>
                    <a:bodyPr wrap="square"/>
                    <a:lstStyle/>
                    <a:p>
                      <a:pPr algn="l"/>
                      <a:r>
                        <a:rPr sz="1000" b="1">
                          <a:solidFill>
                            <a:srgbClr val="C0392B"/>
                          </a:solidFill>
                          <a:latin typeface="Calibri"/>
                        </a:rPr>
                        <a:t>ruled out for this problem; diagnostic kept</a:t>
                      </a:r>
                    </a:p>
                  </a:txBody>
                  <a:tcPr marL="91440" marR="45720" marT="36576" marB="36576">
                    <a:solidFill>
                      <a:srgbClr val="F4F6F8"/>
                    </a:solidFill>
                  </a:tcPr>
                </a:tc>
              </a:tr>
              <a:tr h="530352">
                <a:tc>
                  <a:txBody>
                    <a:bodyPr wrap="square"/>
                    <a:lstStyle/>
                    <a:p>
                      <a:pPr algn="l"/>
                      <a:r>
                        <a:rPr sz="1000" b="1">
                          <a:solidFill>
                            <a:srgbClr val="1A2332"/>
                          </a:solidFill>
                          <a:latin typeface="Calibri"/>
                        </a:rPr>
                        <a:t>PEBDD</a:t>
                      </a:r>
                    </a:p>
                  </a:txBody>
                  <a:tcPr marL="91440" marR="45720" marT="36576" marB="36576">
                    <a:solidFill>
                      <a:srgbClr val="FFFFFF"/>
                    </a:solidFill>
                  </a:tcPr>
                </a:tc>
                <a:tc>
                  <a:txBody>
                    <a:bodyPr wrap="square"/>
                    <a:lstStyle/>
                    <a:p>
                      <a:pPr algn="l"/>
                      <a:r>
                        <a:rPr sz="1000">
                          <a:solidFill>
                            <a:srgbClr val="2C3E50"/>
                          </a:solidFill>
                          <a:latin typeface="Calibri"/>
                        </a:rPr>
                        <a:t>Bandwidth scheduling fixes the radius bias</a:t>
                      </a:r>
                    </a:p>
                  </a:txBody>
                  <a:tcPr marL="91440" marR="45720" marT="36576" marB="36576">
                    <a:solidFill>
                      <a:srgbClr val="FFFFFF"/>
                    </a:solidFill>
                  </a:tcPr>
                </a:tc>
                <a:tc>
                  <a:txBody>
                    <a:bodyPr wrap="square"/>
                    <a:lstStyle/>
                    <a:p>
                      <a:pPr algn="l"/>
                      <a:r>
                        <a:rPr sz="1000">
                          <a:solidFill>
                            <a:srgbClr val="2C3E50"/>
                          </a:solidFill>
                          <a:latin typeface="Calibri"/>
                        </a:rPr>
                        <a:t>028–037, 043–045</a:t>
                      </a:r>
                    </a:p>
                  </a:txBody>
                  <a:tcPr marL="91440" marR="45720" marT="36576" marB="36576">
                    <a:solidFill>
                      <a:srgbClr val="FFFFFF"/>
                    </a:solidFill>
                  </a:tcPr>
                </a:tc>
                <a:tc>
                  <a:txBody>
                    <a:bodyPr wrap="square"/>
                    <a:lstStyle/>
                    <a:p>
                      <a:pPr algn="l"/>
                      <a:r>
                        <a:rPr sz="1000">
                          <a:solidFill>
                            <a:srgbClr val="2C3E50"/>
                          </a:solidFill>
                          <a:latin typeface="Calibri"/>
                        </a:rPr>
                        <a:t>Powell stops in the high-radius basin at every stage; polish stays the radius selector</a:t>
                      </a:r>
                    </a:p>
                  </a:txBody>
                  <a:tcPr marL="91440" marR="45720" marT="36576" marB="36576">
                    <a:solidFill>
                      <a:srgbClr val="FFFFFF"/>
                    </a:solidFill>
                  </a:tcPr>
                </a:tc>
                <a:tc>
                  <a:txBody>
                    <a:bodyPr wrap="square"/>
                    <a:lstStyle/>
                    <a:p>
                      <a:pPr algn="l"/>
                      <a:r>
                        <a:rPr sz="1000" b="1">
                          <a:solidFill>
                            <a:srgbClr val="E8913A"/>
                          </a:solidFill>
                          <a:latin typeface="Calibri"/>
                        </a:rPr>
                        <a:t>kept as seed builder; spectrum-design tool added</a:t>
                      </a:r>
                    </a:p>
                  </a:txBody>
                  <a:tcPr marL="91440" marR="45720" marT="36576" marB="36576">
                    <a:solidFill>
                      <a:srgbClr val="FFFFFF"/>
                    </a:solidFill>
                  </a:tcPr>
                </a:tc>
              </a:tr>
              <a:tr h="530352">
                <a:tc>
                  <a:txBody>
                    <a:bodyPr wrap="square"/>
                    <a:lstStyle/>
                    <a:p>
                      <a:pPr algn="l"/>
                      <a:r>
                        <a:rPr sz="1000" b="1">
                          <a:solidFill>
                            <a:srgbClr val="1A2332"/>
                          </a:solidFill>
                          <a:latin typeface="Calibri"/>
                        </a:rPr>
                        <a:t>WRI</a:t>
                      </a:r>
                    </a:p>
                  </a:txBody>
                  <a:tcPr marL="91440" marR="45720" marT="36576" marB="36576">
                    <a:solidFill>
                      <a:srgbClr val="F4F6F8"/>
                    </a:solidFill>
                  </a:tcPr>
                </a:tc>
                <a:tc>
                  <a:txBody>
                    <a:bodyPr wrap="square"/>
                    <a:lstStyle/>
                    <a:p>
                      <a:pPr algn="l"/>
                      <a:r>
                        <a:rPr sz="1000">
                          <a:solidFill>
                            <a:srgbClr val="2C3E50"/>
                          </a:solidFill>
                          <a:latin typeface="Calibri"/>
                        </a:rPr>
                        <a:t>Cumulative-frequency / weighted multi-frequency helps radius</a:t>
                      </a:r>
                    </a:p>
                  </a:txBody>
                  <a:tcPr marL="91440" marR="45720" marT="36576" marB="36576">
                    <a:solidFill>
                      <a:srgbClr val="F4F6F8"/>
                    </a:solidFill>
                  </a:tcPr>
                </a:tc>
                <a:tc>
                  <a:txBody>
                    <a:bodyPr wrap="square"/>
                    <a:lstStyle/>
                    <a:p>
                      <a:pPr algn="l"/>
                      <a:r>
                        <a:rPr sz="1000">
                          <a:solidFill>
                            <a:srgbClr val="2C3E50"/>
                          </a:solidFill>
                          <a:latin typeface="Calibri"/>
                        </a:rPr>
                        <a:t>038–041, 046–049</a:t>
                      </a:r>
                    </a:p>
                  </a:txBody>
                  <a:tcPr marL="91440" marR="45720" marT="36576" marB="36576">
                    <a:solidFill>
                      <a:srgbClr val="F4F6F8"/>
                    </a:solidFill>
                  </a:tcPr>
                </a:tc>
                <a:tc>
                  <a:txBody>
                    <a:bodyPr wrap="square"/>
                    <a:lstStyle/>
                    <a:p>
                      <a:pPr algn="l"/>
                      <a:r>
                        <a:rPr sz="1000">
                          <a:solidFill>
                            <a:srgbClr val="2C3E50"/>
                          </a:solidFill>
                          <a:latin typeface="Calibri"/>
                        </a:rPr>
                        <a:t>1.0 GHz weak; unweighted averaging dilutes margin; carry_low_25 best compromise</a:t>
                      </a:r>
                    </a:p>
                  </a:txBody>
                  <a:tcPr marL="91440" marR="45720" marT="36576" marB="36576">
                    <a:solidFill>
                      <a:srgbClr val="F4F6F8"/>
                    </a:solidFill>
                  </a:tcPr>
                </a:tc>
                <a:tc>
                  <a:txBody>
                    <a:bodyPr wrap="square"/>
                    <a:lstStyle/>
                    <a:p>
                      <a:pPr algn="l"/>
                      <a:r>
                        <a:rPr sz="1000" b="1">
                          <a:solidFill>
                            <a:srgbClr val="E8913A"/>
                          </a:solidFill>
                          <a:latin typeface="Calibri"/>
                        </a:rPr>
                        <a:t>kept as time-domain weighted LS; WRI solver deferred</a:t>
                      </a:r>
                    </a:p>
                  </a:txBody>
                  <a:tcPr marL="91440" marR="45720" marT="36576" marB="36576">
                    <a:solidFill>
                      <a:srgbClr val="F4F6F8"/>
                    </a:solidFill>
                  </a:tcPr>
                </a:tc>
              </a:tr>
              <a:tr h="530352">
                <a:tc>
                  <a:txBody>
                    <a:bodyPr wrap="square"/>
                    <a:lstStyle/>
                    <a:p>
                      <a:pPr algn="l"/>
                      <a:r>
                        <a:rPr sz="1000" b="1">
                          <a:solidFill>
                            <a:srgbClr val="1A2332"/>
                          </a:solidFill>
                          <a:latin typeface="Calibri"/>
                        </a:rPr>
                        <a:t>W2</a:t>
                      </a:r>
                    </a:p>
                  </a:txBody>
                  <a:tcPr marL="91440" marR="45720" marT="36576" marB="36576">
                    <a:solidFill>
                      <a:srgbClr val="FFFFFF"/>
                    </a:solidFill>
                  </a:tcPr>
                </a:tc>
                <a:tc>
                  <a:txBody>
                    <a:bodyPr wrap="square"/>
                    <a:lstStyle/>
                    <a:p>
                      <a:pPr algn="l"/>
                      <a:r>
                        <a:rPr sz="1000">
                          <a:solidFill>
                            <a:srgbClr val="2C3E50"/>
                          </a:solidFill>
                          <a:latin typeface="Calibri"/>
                        </a:rPr>
                        <a:t>Softplus / Sinkhorn beats LS for radius selection</a:t>
                      </a:r>
                    </a:p>
                  </a:txBody>
                  <a:tcPr marL="91440" marR="45720" marT="36576" marB="36576">
                    <a:solidFill>
                      <a:srgbClr val="FFFFFF"/>
                    </a:solidFill>
                  </a:tcPr>
                </a:tc>
                <a:tc>
                  <a:txBody>
                    <a:bodyPr wrap="square"/>
                    <a:lstStyle/>
                    <a:p>
                      <a:pPr algn="l"/>
                      <a:r>
                        <a:rPr sz="1000">
                          <a:solidFill>
                            <a:srgbClr val="2C3E50"/>
                          </a:solidFill>
                          <a:latin typeface="Calibri"/>
                        </a:rPr>
                        <a:t>048, 050, 051</a:t>
                      </a:r>
                    </a:p>
                  </a:txBody>
                  <a:tcPr marL="91440" marR="45720" marT="36576" marB="36576">
                    <a:solidFill>
                      <a:srgbClr val="FFFFFF"/>
                    </a:solidFill>
                  </a:tcPr>
                </a:tc>
                <a:tc>
                  <a:txBody>
                    <a:bodyPr wrap="square"/>
                    <a:lstStyle/>
                    <a:p>
                      <a:pPr algn="l"/>
                      <a:r>
                        <a:rPr sz="1000">
                          <a:solidFill>
                            <a:srgbClr val="2C3E50"/>
                          </a:solidFill>
                          <a:latin typeface="Calibri"/>
                        </a:rPr>
                        <a:t>Shift convexity ✓ (gate 1); rebar margin collapses ×10⁴ (gate 2)</a:t>
                      </a:r>
                    </a:p>
                  </a:txBody>
                  <a:tcPr marL="91440" marR="45720" marT="36576" marB="36576">
                    <a:solidFill>
                      <a:srgbClr val="FFFFFF"/>
                    </a:solidFill>
                  </a:tcPr>
                </a:tc>
                <a:tc>
                  <a:txBody>
                    <a:bodyPr wrap="square"/>
                    <a:lstStyle/>
                    <a:p>
                      <a:pPr algn="l"/>
                      <a:r>
                        <a:rPr sz="1000" b="1">
                          <a:solidFill>
                            <a:srgbClr val="C0392B"/>
                          </a:solidFill>
                          <a:latin typeface="Calibri"/>
                        </a:rPr>
                        <a:t>rejected as radius objective; module kept as diagnostic</a:t>
                      </a:r>
                    </a:p>
                  </a:txBody>
                  <a:tcPr marL="91440" marR="45720" marT="36576" marB="36576">
                    <a:solidFill>
                      <a:srgbClr val="FFFFFF"/>
                    </a:solidFill>
                  </a:tcPr>
                </a:tc>
              </a:tr>
              <a:tr h="530352">
                <a:tc>
                  <a:txBody>
                    <a:bodyPr wrap="square"/>
                    <a:lstStyle/>
                    <a:p>
                      <a:pPr algn="l"/>
                      <a:r>
                        <a:rPr sz="1000" b="1">
                          <a:solidFill>
                            <a:srgbClr val="1A2332"/>
                          </a:solidFill>
                          <a:latin typeface="Calibri"/>
                        </a:rPr>
                        <a:t>PEBDD risk</a:t>
                      </a:r>
                    </a:p>
                  </a:txBody>
                  <a:tcPr marL="91440" marR="45720" marT="36576" marB="36576">
                    <a:solidFill>
                      <a:srgbClr val="F4F6F8"/>
                    </a:solidFill>
                  </a:tcPr>
                </a:tc>
                <a:tc>
                  <a:txBody>
                    <a:bodyPr wrap="square"/>
                    <a:lstStyle/>
                    <a:p>
                      <a:pPr algn="l"/>
                      <a:r>
                        <a:rPr sz="1000">
                          <a:solidFill>
                            <a:srgbClr val="2C3E50"/>
                          </a:solidFill>
                          <a:latin typeface="Calibri"/>
                        </a:rPr>
                        <a:t>Source-wavelet mismatch (field-data flag) shifts radius</a:t>
                      </a:r>
                    </a:p>
                  </a:txBody>
                  <a:tcPr marL="91440" marR="45720" marT="36576" marB="36576">
                    <a:solidFill>
                      <a:srgbClr val="F4F6F8"/>
                    </a:solidFill>
                  </a:tcPr>
                </a:tc>
                <a:tc>
                  <a:txBody>
                    <a:bodyPr wrap="square"/>
                    <a:lstStyle/>
                    <a:p>
                      <a:pPr algn="l"/>
                      <a:r>
                        <a:rPr sz="1000">
                          <a:solidFill>
                            <a:srgbClr val="2C3E50"/>
                          </a:solidFill>
                          <a:latin typeface="Calibri"/>
                        </a:rPr>
                        <a:t>052–055</a:t>
                      </a:r>
                    </a:p>
                  </a:txBody>
                  <a:tcPr marL="91440" marR="45720" marT="36576" marB="36576">
                    <a:solidFill>
                      <a:srgbClr val="F4F6F8"/>
                    </a:solidFill>
                  </a:tcPr>
                </a:tc>
                <a:tc>
                  <a:txBody>
                    <a:bodyPr wrap="square"/>
                    <a:lstStyle/>
                    <a:p>
                      <a:pPr algn="l"/>
                      <a:r>
                        <a:rPr sz="1000">
                          <a:solidFill>
                            <a:srgbClr val="2C3E50"/>
                          </a:solidFill>
                          <a:latin typeface="Calibri"/>
                        </a:rPr>
                        <a:t>Raw mismatch pegs r to grid bound; structured source profile recovers truth</a:t>
                      </a:r>
                    </a:p>
                  </a:txBody>
                  <a:tcPr marL="91440" marR="45720" marT="36576" marB="36576">
                    <a:solidFill>
                      <a:srgbClr val="F4F6F8"/>
                    </a:solidFill>
                  </a:tcPr>
                </a:tc>
                <a:tc>
                  <a:txBody>
                    <a:bodyPr wrap="square"/>
                    <a:lstStyle/>
                    <a:p>
                      <a:pPr algn="l"/>
                      <a:r>
                        <a:rPr sz="1000" b="1">
                          <a:solidFill>
                            <a:srgbClr val="27AE60"/>
                          </a:solidFill>
                          <a:latin typeface="Calibri"/>
                        </a:rPr>
                        <a:t>amplitude + time + freq profile fixes all tested cases</a:t>
                      </a:r>
                    </a:p>
                  </a:txBody>
                  <a:tcPr marL="91440" marR="45720" marT="36576" marB="36576">
                    <a:solidFill>
                      <a:srgbClr val="F4F6F8"/>
                    </a:solidFill>
                  </a:tcPr>
                </a:tc>
              </a:tr>
              <a:tr h="530352">
                <a:tc>
                  <a:txBody>
                    <a:bodyPr wrap="square"/>
                    <a:lstStyle/>
                    <a:p>
                      <a:pPr algn="l"/>
                      <a:r>
                        <a:rPr sz="1000" b="1">
                          <a:solidFill>
                            <a:srgbClr val="1A2332"/>
                          </a:solidFill>
                          <a:latin typeface="Calibri"/>
                        </a:rPr>
                        <a:t>(geometry)</a:t>
                      </a:r>
                    </a:p>
                  </a:txBody>
                  <a:tcPr marL="91440" marR="45720" marT="36576" marB="36576">
                    <a:solidFill>
                      <a:srgbClr val="FFFFFF"/>
                    </a:solidFill>
                  </a:tcPr>
                </a:tc>
                <a:tc>
                  <a:txBody>
                    <a:bodyPr wrap="square"/>
                    <a:lstStyle/>
                    <a:p>
                      <a:pPr algn="l"/>
                      <a:r>
                        <a:rPr sz="1000">
                          <a:solidFill>
                            <a:srgbClr val="2C3E50"/>
                          </a:solidFill>
                          <a:latin typeface="Calibri"/>
                        </a:rPr>
                        <a:t>Material parameters can hide a wrong radius</a:t>
                      </a:r>
                    </a:p>
                  </a:txBody>
                  <a:tcPr marL="91440" marR="45720" marT="36576" marB="36576">
                    <a:solidFill>
                      <a:srgbClr val="FFFFFF"/>
                    </a:solidFill>
                  </a:tcPr>
                </a:tc>
                <a:tc>
                  <a:txBody>
                    <a:bodyPr wrap="square"/>
                    <a:lstStyle/>
                    <a:p>
                      <a:pPr algn="l"/>
                      <a:r>
                        <a:rPr sz="1000">
                          <a:solidFill>
                            <a:srgbClr val="2C3E50"/>
                          </a:solidFill>
                          <a:latin typeface="Calibri"/>
                        </a:rPr>
                        <a:t>056</a:t>
                      </a:r>
                    </a:p>
                  </a:txBody>
                  <a:tcPr marL="91440" marR="45720" marT="36576" marB="36576">
                    <a:solidFill>
                      <a:srgbClr val="FFFFFF"/>
                    </a:solidFill>
                  </a:tcPr>
                </a:tc>
                <a:tc>
                  <a:txBody>
                    <a:bodyPr wrap="square"/>
                    <a:lstStyle/>
                    <a:p>
                      <a:pPr algn="l"/>
                      <a:r>
                        <a:rPr sz="1000">
                          <a:solidFill>
                            <a:srgbClr val="2C3E50"/>
                          </a:solidFill>
                          <a:latin typeface="Calibri"/>
                        </a:rPr>
                        <a:t>εr identified; σ saturates above 1e5; distinct-radius margin preserved</a:t>
                      </a:r>
                    </a:p>
                  </a:txBody>
                  <a:tcPr marL="91440" marR="45720" marT="36576" marB="36576">
                    <a:solidFill>
                      <a:srgbClr val="FFFFFF"/>
                    </a:solidFill>
                  </a:tcPr>
                </a:tc>
                <a:tc>
                  <a:txBody>
                    <a:bodyPr wrap="square"/>
                    <a:lstStyle/>
                    <a:p>
                      <a:pPr algn="l"/>
                      <a:r>
                        <a:rPr sz="1000" b="1">
                          <a:solidFill>
                            <a:srgbClr val="E8913A"/>
                          </a:solidFill>
                          <a:latin typeface="Calibri"/>
                        </a:rPr>
                        <a:t>no material params in the radius optimizer yet</a:t>
                      </a:r>
                    </a:p>
                  </a:txBody>
                  <a:tcPr marL="91440" marR="45720" marT="36576" marB="36576">
                    <a:solidFill>
                      <a:srgbClr val="FFFFFF"/>
                    </a:solidFill>
                  </a:tcPr>
                </a:tc>
              </a:tr>
              <a:tr h="530352">
                <a:tc>
                  <a:txBody>
                    <a:bodyPr wrap="square"/>
                    <a:lstStyle/>
                    <a:p>
                      <a:pPr algn="l"/>
                      <a:r>
                        <a:rPr sz="1000" b="1">
                          <a:solidFill>
                            <a:srgbClr val="1A2332"/>
                          </a:solidFill>
                          <a:latin typeface="Calibri"/>
                        </a:rPr>
                        <a:t>all 5</a:t>
                      </a:r>
                    </a:p>
                  </a:txBody>
                  <a:tcPr marL="91440" marR="45720" marT="36576" marB="36576">
                    <a:solidFill>
                      <a:srgbClr val="F4F6F8"/>
                    </a:solidFill>
                  </a:tcPr>
                </a:tc>
                <a:tc>
                  <a:txBody>
                    <a:bodyPr wrap="square"/>
                    <a:lstStyle/>
                    <a:p>
                      <a:pPr algn="l"/>
                      <a:r>
                        <a:rPr sz="1000">
                          <a:solidFill>
                            <a:srgbClr val="2C3E50"/>
                          </a:solidFill>
                          <a:latin typeface="Calibri"/>
                        </a:rPr>
                        <a:t>Production runner combines surviving ideas</a:t>
                      </a:r>
                    </a:p>
                  </a:txBody>
                  <a:tcPr marL="91440" marR="45720" marT="36576" marB="36576">
                    <a:solidFill>
                      <a:srgbClr val="F4F6F8"/>
                    </a:solidFill>
                  </a:tcPr>
                </a:tc>
                <a:tc>
                  <a:txBody>
                    <a:bodyPr wrap="square"/>
                    <a:lstStyle/>
                    <a:p>
                      <a:pPr algn="l"/>
                      <a:r>
                        <a:rPr sz="1000">
                          <a:solidFill>
                            <a:srgbClr val="2C3E50"/>
                          </a:solidFill>
                          <a:latin typeface="Calibri"/>
                        </a:rPr>
                        <a:t>057, 058</a:t>
                      </a:r>
                    </a:p>
                  </a:txBody>
                  <a:tcPr marL="91440" marR="45720" marT="36576" marB="36576">
                    <a:solidFill>
                      <a:srgbClr val="F4F6F8"/>
                    </a:solidFill>
                  </a:tcPr>
                </a:tc>
                <a:tc>
                  <a:txBody>
                    <a:bodyPr wrap="square"/>
                    <a:lstStyle/>
                    <a:p>
                      <a:pPr algn="l"/>
                      <a:r>
                        <a:rPr sz="1000">
                          <a:solidFill>
                            <a:srgbClr val="2C3E50"/>
                          </a:solidFill>
                          <a:latin typeface="Calibri"/>
                        </a:rPr>
                        <a:t>Radius + source profile co-recovered under injected mismatch</a:t>
                      </a:r>
                    </a:p>
                  </a:txBody>
                  <a:tcPr marL="91440" marR="45720" marT="36576" marB="36576">
                    <a:solidFill>
                      <a:srgbClr val="F4F6F8"/>
                    </a:solidFill>
                  </a:tcPr>
                </a:tc>
                <a:tc>
                  <a:txBody>
                    <a:bodyPr wrap="square"/>
                    <a:lstStyle/>
                    <a:p>
                      <a:pPr algn="l"/>
                      <a:r>
                        <a:rPr sz="1000" b="1">
                          <a:solidFill>
                            <a:srgbClr val="27AE60"/>
                          </a:solidFill>
                          <a:latin typeface="Calibri"/>
                        </a:rPr>
                        <a:t>recommended pipeline going forward</a:t>
                      </a:r>
                    </a:p>
                  </a:txBody>
                  <a:tcPr marL="91440" marR="45720" marT="36576" marB="36576">
                    <a:solidFill>
                      <a:srgbClr val="F4F6F8"/>
                    </a:solidFill>
                  </a:tcPr>
                </a:tc>
              </a:tr>
              <a:tr h="530352">
                <a:tc>
                  <a:txBody>
                    <a:bodyPr wrap="square"/>
                    <a:lstStyle/>
                    <a:p>
                      <a:pPr algn="l"/>
                      <a:r>
                        <a:rPr sz="1000" b="1">
                          <a:solidFill>
                            <a:srgbClr val="1A2332"/>
                          </a:solidFill>
                          <a:latin typeface="Calibri"/>
                        </a:rPr>
                        <a:t>IFWI</a:t>
                      </a:r>
                    </a:p>
                  </a:txBody>
                  <a:tcPr marL="91440" marR="45720" marT="36576" marB="36576">
                    <a:solidFill>
                      <a:srgbClr val="FFFFFF"/>
                    </a:solidFill>
                  </a:tcPr>
                </a:tc>
                <a:tc>
                  <a:txBody>
                    <a:bodyPr wrap="square"/>
                    <a:lstStyle/>
                    <a:p>
                      <a:pPr algn="l"/>
                      <a:r>
                        <a:rPr sz="1000">
                          <a:solidFill>
                            <a:srgbClr val="2C3E50"/>
                          </a:solidFill>
                          <a:latin typeface="Calibri"/>
                        </a:rPr>
                        <a:t>Neural implicit field needed for radius</a:t>
                      </a:r>
                    </a:p>
                  </a:txBody>
                  <a:tcPr marL="91440" marR="45720" marT="36576" marB="36576">
                    <a:solidFill>
                      <a:srgbClr val="FFFFFF"/>
                    </a:solidFill>
                  </a:tcPr>
                </a:tc>
                <a:tc>
                  <a:txBody>
                    <a:bodyPr wrap="square"/>
                    <a:lstStyle/>
                    <a:p>
                      <a:pPr algn="l"/>
                      <a:r>
                        <a:rPr sz="1000">
                          <a:solidFill>
                            <a:srgbClr val="2C3E50"/>
                          </a:solidFill>
                          <a:latin typeface="Calibri"/>
                        </a:rPr>
                        <a:t>doc 29 only</a:t>
                      </a:r>
                    </a:p>
                  </a:txBody>
                  <a:tcPr marL="91440" marR="45720" marT="36576" marB="36576">
                    <a:solidFill>
                      <a:srgbClr val="FFFFFF"/>
                    </a:solidFill>
                  </a:tcPr>
                </a:tc>
                <a:tc>
                  <a:txBody>
                    <a:bodyPr wrap="square"/>
                    <a:lstStyle/>
                    <a:p>
                      <a:pPr algn="l"/>
                      <a:r>
                        <a:rPr sz="1000">
                          <a:solidFill>
                            <a:srgbClr val="2C3E50"/>
                          </a:solidFill>
                          <a:latin typeface="Calibri"/>
                        </a:rPr>
                        <a:t>Flexible residual would absorb radius bias</a:t>
                      </a:r>
                    </a:p>
                  </a:txBody>
                  <a:tcPr marL="91440" marR="45720" marT="36576" marB="36576">
                    <a:solidFill>
                      <a:srgbClr val="FFFFFF"/>
                    </a:solidFill>
                  </a:tcPr>
                </a:tc>
                <a:tc>
                  <a:txBody>
                    <a:bodyPr wrap="square"/>
                    <a:lstStyle/>
                    <a:p>
                      <a:pPr algn="l"/>
                      <a:r>
                        <a:rPr sz="1000" b="1">
                          <a:solidFill>
                            <a:srgbClr val="C0392B"/>
                          </a:solidFill>
                          <a:latin typeface="Calibri"/>
                        </a:rPr>
                        <a:t>deferred to multi-rebar / field-data stage</a:t>
                      </a:r>
                    </a:p>
                  </a:txBody>
                  <a:tcPr marL="91440" marR="45720" marT="36576" marB="36576">
                    <a:solidFill>
                      <a:srgbClr val="FFFFFF"/>
                    </a:solidFill>
                  </a:tcPr>
                </a:tc>
              </a:tr>
            </a:tbl>
          </a:graphicData>
        </a:graphic>
      </p:graphicFrame>
      <p:sp>
        <p:nvSpPr>
          <p:cNvPr id="9" name="TextBox 8"/>
          <p:cNvSpPr txBox="1"/>
          <p:nvPr/>
        </p:nvSpPr>
        <p:spPr>
          <a:xfrm>
            <a:off x="457200" y="6199632"/>
            <a:ext cx="11338560" cy="548640"/>
          </a:xfrm>
          <a:prstGeom prst="rect">
            <a:avLst/>
          </a:prstGeom>
          <a:noFill/>
        </p:spPr>
        <p:txBody>
          <a:bodyPr wrap="square">
            <a:spAutoFit/>
          </a:bodyPr>
          <a:lstStyle/>
          <a:p>
            <a:pPr algn="l">
              <a:defRPr sz="1000" b="0" i="1">
                <a:solidFill>
                  <a:srgbClr val="7F8C8D"/>
                </a:solidFill>
                <a:latin typeface="Calibri"/>
              </a:defRPr>
            </a:pPr>
            <a:r>
              <a:t>Acronym key: OT-LS = optimal-transport / least-squares hybrid · PEBDD = progressively expanded bandwidths of the data · WRI = wavefield reconstruction inversion · W2 = quadratic Wasserstein · IFWI = implicit full-waveform inversion · NRCCC = fraction of trace pairs within half a period · LS = least squares.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01</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103120"/>
            <a:ext cx="8046720" cy="1645920"/>
          </a:xfrm>
          <a:prstGeom prst="rect">
            <a:avLst/>
          </a:prstGeom>
          <a:noFill/>
        </p:spPr>
        <p:txBody>
          <a:bodyPr wrap="square">
            <a:spAutoFit/>
          </a:bodyPr>
          <a:lstStyle/>
          <a:p>
            <a:pPr>
              <a:defRPr sz="3400" b="1">
                <a:solidFill>
                  <a:srgbClr val="FFFFFF"/>
                </a:solidFill>
                <a:latin typeface="Calibri"/>
              </a:defRPr>
            </a:pPr>
            <a:r>
              <a:t>Was it cycle skipping?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OT diagnostic on the existing high-radius candidate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OT-style trace-shift diagnostic</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Rule out the OT branch before committing to a new objective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024–027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12</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the high-radius Powell basin is a cycle-skipping failure, the OT-LS paper's NRCCC criterion should flag it as unsafe for least-squares.</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We implemented RCCC = |trace shift| / dominant period and NRCCC = fraction with RCCC &lt; 0.5. Ran it post-hoc on the known high-radius Powell candidate, the polished true candidate, and the top-k polish candidates under 5% and 10% noise.</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If NRCCC &lt; 1 for the wrong-radius case, the OT branch is worth pursuing.</a:t>
            </a:r>
          </a:p>
          <a:p>
            <a:pPr>
              <a:spcAft>
                <a:spcPts val="600"/>
              </a:spcAft>
              <a:defRPr sz="1400">
                <a:solidFill>
                  <a:srgbClr val="2C3E50"/>
                </a:solidFill>
                <a:latin typeface="Calibri"/>
              </a:defRPr>
            </a:pPr>
            <a:r>
              <a:t>If NRCCC = 1 for every candidate, this problem is not a transport problem.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NRCCC results across the candidate set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Does the half-period gate flag the wrong-radius candidates as unsafe?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024–026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13</a:t>
            </a:r>
          </a:p>
        </p:txBody>
      </p:sp>
      <p:sp>
        <p:nvSpPr>
          <p:cNvPr id="8" name="TextBox 7"/>
          <p:cNvSpPr txBox="1"/>
          <p:nvPr/>
        </p:nvSpPr>
        <p:spPr>
          <a:xfrm>
            <a:off x="457200" y="1234440"/>
            <a:ext cx="11338560" cy="1097280"/>
          </a:xfrm>
          <a:prstGeom prst="rect">
            <a:avLst/>
          </a:prstGeom>
          <a:noFill/>
        </p:spPr>
        <p:txBody>
          <a:bodyPr wrap="square">
            <a:spAutoFit/>
          </a:bodyPr>
          <a:lstStyle/>
          <a:p>
            <a:pPr>
              <a:spcAft>
                <a:spcPts val="200"/>
              </a:spcAft>
              <a:defRPr sz="1100">
                <a:solidFill>
                  <a:srgbClr val="2C3E50"/>
                </a:solidFill>
                <a:latin typeface="Calibri"/>
              </a:defRPr>
            </a:pPr>
            <a:r>
              <a:t>RCCC (Relative Cross-Correlation Criterion) = |trace shift| / dominant period, computed for each (observed, synthetic) trace pair.</a:t>
            </a:r>
          </a:p>
          <a:p>
            <a:pPr>
              <a:spcAft>
                <a:spcPts val="200"/>
              </a:spcAft>
              <a:defRPr sz="1100">
                <a:solidFill>
                  <a:srgbClr val="2C3E50"/>
                </a:solidFill>
                <a:latin typeface="Calibri"/>
              </a:defRPr>
            </a:pPr>
            <a:r>
              <a:t>NRCCC (Normalised RCCC) = fraction of traces with RCCC &lt; 0.5 — the half-period gate the OT-LS paper uses to decide a trace is least-squares-safe.</a:t>
            </a:r>
          </a:p>
          <a:p>
            <a:pPr>
              <a:spcAft>
                <a:spcPts val="200"/>
              </a:spcAft>
              <a:defRPr sz="1100">
                <a:solidFill>
                  <a:srgbClr val="2C3E50"/>
                </a:solidFill>
                <a:latin typeface="Calibri"/>
              </a:defRPr>
            </a:pPr>
            <a:r>
              <a:t>Paper's switching rule: when NRCCC &gt; ~0.7, switch from the OT objective to LS. If a candidate is already at NRCCC = 1.0, OT brings no extra basin-finding benefit.</a:t>
            </a:r>
          </a:p>
        </p:txBody>
      </p:sp>
      <p:graphicFrame>
        <p:nvGraphicFramePr>
          <p:cNvPr id="9" name="Table 8"/>
          <p:cNvGraphicFramePr>
            <a:graphicFrameLocks noGrp="1"/>
          </p:cNvGraphicFramePr>
          <p:nvPr/>
        </p:nvGraphicFramePr>
        <p:xfrm>
          <a:off x="365760" y="2697480"/>
          <a:ext cx="11475720" cy="2505456"/>
        </p:xfrm>
        <a:graphic>
          <a:graphicData uri="http://schemas.openxmlformats.org/drawingml/2006/table">
            <a:tbl>
              <a:tblPr firstRow="1" bandRow="1">
                <a:tableStyleId>{5C22544A-7EE6-4342-B048-85BDC9FD1C3A}</a:tableStyleId>
              </a:tblPr>
              <a:tblGrid>
                <a:gridCol w="2743200"/>
                <a:gridCol w="1188720"/>
                <a:gridCol w="914400"/>
                <a:gridCol w="1188720"/>
                <a:gridCol w="1188720"/>
                <a:gridCol w="1097280"/>
                <a:gridCol w="3154680"/>
              </a:tblGrid>
              <a:tr h="329184">
                <a:tc>
                  <a:txBody>
                    <a:bodyPr/>
                    <a:lstStyle/>
                    <a:p>
                      <a:pPr algn="l"/>
                      <a:r>
                        <a:rPr sz="1100" b="1">
                          <a:solidFill>
                            <a:srgbClr val="FFFFFF"/>
                          </a:solidFill>
                          <a:latin typeface="Calibri"/>
                        </a:rPr>
                        <a:t>Candidate</a:t>
                      </a:r>
                    </a:p>
                  </a:txBody>
                  <a:tcPr marL="73152" marR="36576" marT="27432" marB="27432">
                    <a:solidFill>
                      <a:srgbClr val="1A2332"/>
                    </a:solidFill>
                  </a:tcPr>
                </a:tc>
                <a:tc>
                  <a:txBody>
                    <a:bodyPr/>
                    <a:lstStyle/>
                    <a:p>
                      <a:pPr algn="l"/>
                      <a:r>
                        <a:rPr sz="1100" b="1">
                          <a:solidFill>
                            <a:srgbClr val="FFFFFF"/>
                          </a:solidFill>
                          <a:latin typeface="Calibri"/>
                        </a:rPr>
                        <a:t>Misfit J</a:t>
                      </a:r>
                    </a:p>
                  </a:txBody>
                  <a:tcPr marL="73152" marR="36576" marT="27432" marB="27432">
                    <a:solidFill>
                      <a:srgbClr val="1A2332"/>
                    </a:solidFill>
                  </a:tcPr>
                </a:tc>
                <a:tc>
                  <a:txBody>
                    <a:bodyPr/>
                    <a:lstStyle/>
                    <a:p>
                      <a:pPr algn="l"/>
                      <a:r>
                        <a:rPr sz="1100" b="1">
                          <a:solidFill>
                            <a:srgbClr val="FFFFFF"/>
                          </a:solidFill>
                          <a:latin typeface="Calibri"/>
                        </a:rPr>
                        <a:t>NRCCC</a:t>
                      </a:r>
                    </a:p>
                  </a:txBody>
                  <a:tcPr marL="73152" marR="36576" marT="27432" marB="27432">
                    <a:solidFill>
                      <a:srgbClr val="1A2332"/>
                    </a:solidFill>
                  </a:tcPr>
                </a:tc>
                <a:tc>
                  <a:txBody>
                    <a:bodyPr/>
                    <a:lstStyle/>
                    <a:p>
                      <a:pPr algn="l"/>
                      <a:r>
                        <a:rPr sz="1100" b="1">
                          <a:solidFill>
                            <a:srgbClr val="FFFFFF"/>
                          </a:solidFill>
                          <a:latin typeface="Calibri"/>
                        </a:rPr>
                        <a:t>med RCCC</a:t>
                      </a:r>
                    </a:p>
                  </a:txBody>
                  <a:tcPr marL="73152" marR="36576" marT="27432" marB="27432">
                    <a:solidFill>
                      <a:srgbClr val="1A2332"/>
                    </a:solidFill>
                  </a:tcPr>
                </a:tc>
                <a:tc>
                  <a:txBody>
                    <a:bodyPr/>
                    <a:lstStyle/>
                    <a:p>
                      <a:pPr algn="l"/>
                      <a:r>
                        <a:rPr sz="1100" b="1">
                          <a:solidFill>
                            <a:srgbClr val="FFFFFF"/>
                          </a:solidFill>
                          <a:latin typeface="Calibri"/>
                        </a:rPr>
                        <a:t>max RCCC</a:t>
                      </a:r>
                    </a:p>
                  </a:txBody>
                  <a:tcPr marL="73152" marR="36576" marT="27432" marB="27432">
                    <a:solidFill>
                      <a:srgbClr val="1A2332"/>
                    </a:solidFill>
                  </a:tcPr>
                </a:tc>
                <a:tc>
                  <a:txBody>
                    <a:bodyPr/>
                    <a:lstStyle/>
                    <a:p>
                      <a:pPr algn="l"/>
                      <a:r>
                        <a:rPr sz="1100" b="1">
                          <a:solidFill>
                            <a:srgbClr val="FFFFFF"/>
                          </a:solidFill>
                          <a:latin typeface="Calibri"/>
                        </a:rPr>
                        <a:t>Radius</a:t>
                      </a:r>
                    </a:p>
                  </a:txBody>
                  <a:tcPr marL="73152" marR="36576" marT="27432" marB="27432">
                    <a:solidFill>
                      <a:srgbClr val="1A2332"/>
                    </a:solidFill>
                  </a:tcPr>
                </a:tc>
                <a:tc>
                  <a:txBody>
                    <a:bodyPr/>
                    <a:lstStyle/>
                    <a:p>
                      <a:pPr algn="l"/>
                      <a:r>
                        <a:rPr sz="1100" b="1">
                          <a:solidFill>
                            <a:srgbClr val="FFFFFF"/>
                          </a:solidFill>
                          <a:latin typeface="Calibri"/>
                        </a:rPr>
                        <a:t>Note</a:t>
                      </a:r>
                    </a:p>
                  </a:txBody>
                  <a:tcPr marL="73152" marR="36576" marT="27432" marB="27432">
                    <a:solidFill>
                      <a:srgbClr val="1A2332"/>
                    </a:solidFill>
                  </a:tcPr>
                </a:tc>
              </a:tr>
              <a:tr h="310896">
                <a:tc>
                  <a:txBody>
                    <a:bodyPr wrap="square"/>
                    <a:lstStyle/>
                    <a:p>
                      <a:pPr algn="l"/>
                      <a:r>
                        <a:rPr sz="1000">
                          <a:solidFill>
                            <a:srgbClr val="1A2332"/>
                          </a:solidFill>
                          <a:latin typeface="Calibri"/>
                        </a:rPr>
                        <a:t>polished true (014 / 015)</a:t>
                      </a:r>
                    </a:p>
                  </a:txBody>
                  <a:tcPr marL="73152" marR="36576" marT="18288" marB="18288">
                    <a:solidFill>
                      <a:srgbClr val="F4F6F8"/>
                    </a:solidFill>
                  </a:tcPr>
                </a:tc>
                <a:tc>
                  <a:txBody>
                    <a:bodyPr wrap="square"/>
                    <a:lstStyle/>
                    <a:p>
                      <a:pPr algn="l"/>
                      <a:r>
                        <a:rPr sz="1000">
                          <a:solidFill>
                            <a:srgbClr val="2C3E50"/>
                          </a:solidFill>
                          <a:latin typeface="Consolas"/>
                        </a:rPr>
                        <a:t>0</a:t>
                      </a:r>
                    </a:p>
                  </a:txBody>
                  <a:tcPr marL="73152" marR="36576" marT="18288" marB="18288">
                    <a:solidFill>
                      <a:srgbClr val="F4F6F8"/>
                    </a:solidFill>
                  </a:tcPr>
                </a:tc>
                <a:tc>
                  <a:txBody>
                    <a:bodyPr wrap="square"/>
                    <a:lstStyle/>
                    <a:p>
                      <a:pPr algn="l"/>
                      <a:r>
                        <a:rPr sz="1000">
                          <a:solidFill>
                            <a:srgbClr val="2C3E50"/>
                          </a:solidFill>
                          <a:latin typeface="Consolas"/>
                        </a:rPr>
                        <a:t>1.000</a:t>
                      </a:r>
                    </a:p>
                  </a:txBody>
                  <a:tcPr marL="73152" marR="36576" marT="18288" marB="18288">
                    <a:solidFill>
                      <a:srgbClr val="F4F6F8"/>
                    </a:solidFill>
                  </a:tcPr>
                </a:tc>
                <a:tc>
                  <a:txBody>
                    <a:bodyPr wrap="square"/>
                    <a:lstStyle/>
                    <a:p>
                      <a:pPr algn="l"/>
                      <a:r>
                        <a:rPr sz="1000">
                          <a:solidFill>
                            <a:srgbClr val="2C3E50"/>
                          </a:solidFill>
                          <a:latin typeface="Consolas"/>
                        </a:rPr>
                        <a:t>0.000</a:t>
                      </a:r>
                    </a:p>
                  </a:txBody>
                  <a:tcPr marL="73152" marR="36576" marT="18288" marB="18288">
                    <a:solidFill>
                      <a:srgbClr val="F4F6F8"/>
                    </a:solidFill>
                  </a:tcPr>
                </a:tc>
                <a:tc>
                  <a:txBody>
                    <a:bodyPr wrap="square"/>
                    <a:lstStyle/>
                    <a:p>
                      <a:pPr algn="l"/>
                      <a:r>
                        <a:rPr sz="1000">
                          <a:solidFill>
                            <a:srgbClr val="2C3E50"/>
                          </a:solidFill>
                          <a:latin typeface="Consolas"/>
                        </a:rPr>
                        <a:t>0.000</a:t>
                      </a:r>
                    </a:p>
                  </a:txBody>
                  <a:tcPr marL="73152" marR="36576" marT="18288" marB="18288">
                    <a:solidFill>
                      <a:srgbClr val="F4F6F8"/>
                    </a:solidFill>
                  </a:tcPr>
                </a:tc>
                <a:tc>
                  <a:txBody>
                    <a:bodyPr wrap="square"/>
                    <a:lstStyle/>
                    <a:p>
                      <a:pPr algn="l"/>
                      <a:r>
                        <a:rPr sz="1000">
                          <a:solidFill>
                            <a:srgbClr val="2C3E50"/>
                          </a:solidFill>
                          <a:latin typeface="Consolas"/>
                        </a:rPr>
                        <a:t>6.000 mm</a:t>
                      </a:r>
                    </a:p>
                  </a:txBody>
                  <a:tcPr marL="73152" marR="36576" marT="18288" marB="18288">
                    <a:solidFill>
                      <a:srgbClr val="F4F6F8"/>
                    </a:solidFill>
                  </a:tcPr>
                </a:tc>
                <a:tc>
                  <a:txBody>
                    <a:bodyPr wrap="square"/>
                    <a:lstStyle/>
                    <a:p>
                      <a:pPr algn="l"/>
                      <a:r>
                        <a:rPr sz="1000" b="1">
                          <a:solidFill>
                            <a:srgbClr val="27AE60"/>
                          </a:solidFill>
                          <a:latin typeface="Calibri"/>
                        </a:rPr>
                        <a:t>exact recovery</a:t>
                      </a:r>
                    </a:p>
                  </a:txBody>
                  <a:tcPr marL="73152" marR="36576" marT="18288" marB="18288">
                    <a:solidFill>
                      <a:srgbClr val="F4F6F8"/>
                    </a:solidFill>
                  </a:tcPr>
                </a:tc>
              </a:tr>
              <a:tr h="310896">
                <a:tc>
                  <a:txBody>
                    <a:bodyPr wrap="square"/>
                    <a:lstStyle/>
                    <a:p>
                      <a:pPr algn="l"/>
                      <a:r>
                        <a:rPr sz="1000">
                          <a:solidFill>
                            <a:srgbClr val="1A2332"/>
                          </a:solidFill>
                          <a:latin typeface="Calibri"/>
                        </a:rPr>
                        <a:t>Powell high-radius</a:t>
                      </a:r>
                    </a:p>
                  </a:txBody>
                  <a:tcPr marL="73152" marR="36576" marT="18288" marB="18288">
                    <a:solidFill>
                      <a:srgbClr val="FFFFFF"/>
                    </a:solidFill>
                  </a:tcPr>
                </a:tc>
                <a:tc>
                  <a:txBody>
                    <a:bodyPr wrap="square"/>
                    <a:lstStyle/>
                    <a:p>
                      <a:pPr algn="l"/>
                      <a:r>
                        <a:rPr sz="1000">
                          <a:solidFill>
                            <a:srgbClr val="2C3E50"/>
                          </a:solidFill>
                          <a:latin typeface="Consolas"/>
                        </a:rPr>
                        <a:t>2.08e-3</a:t>
                      </a:r>
                    </a:p>
                  </a:txBody>
                  <a:tcPr marL="73152" marR="36576" marT="18288" marB="18288">
                    <a:solidFill>
                      <a:srgbClr val="FFFFFF"/>
                    </a:solidFill>
                  </a:tcPr>
                </a:tc>
                <a:tc>
                  <a:txBody>
                    <a:bodyPr wrap="square"/>
                    <a:lstStyle/>
                    <a:p>
                      <a:pPr algn="l"/>
                      <a:r>
                        <a:rPr sz="1000">
                          <a:solidFill>
                            <a:srgbClr val="2C3E50"/>
                          </a:solidFill>
                          <a:latin typeface="Consolas"/>
                        </a:rPr>
                        <a:t>1.000</a:t>
                      </a:r>
                    </a:p>
                  </a:txBody>
                  <a:tcPr marL="73152" marR="36576" marT="18288" marB="18288">
                    <a:solidFill>
                      <a:srgbClr val="FFFFFF"/>
                    </a:solidFill>
                  </a:tcPr>
                </a:tc>
                <a:tc>
                  <a:txBody>
                    <a:bodyPr wrap="square"/>
                    <a:lstStyle/>
                    <a:p>
                      <a:pPr algn="l"/>
                      <a:r>
                        <a:rPr sz="1000">
                          <a:solidFill>
                            <a:srgbClr val="2C3E50"/>
                          </a:solidFill>
                          <a:latin typeface="Consolas"/>
                        </a:rPr>
                        <a:t>0.003</a:t>
                      </a:r>
                    </a:p>
                  </a:txBody>
                  <a:tcPr marL="73152" marR="36576" marT="18288" marB="18288">
                    <a:solidFill>
                      <a:srgbClr val="FFFFFF"/>
                    </a:solidFill>
                  </a:tcPr>
                </a:tc>
                <a:tc>
                  <a:txBody>
                    <a:bodyPr wrap="square"/>
                    <a:lstStyle/>
                    <a:p>
                      <a:pPr algn="l"/>
                      <a:r>
                        <a:rPr sz="1000">
                          <a:solidFill>
                            <a:srgbClr val="2C3E50"/>
                          </a:solidFill>
                          <a:latin typeface="Consolas"/>
                        </a:rPr>
                        <a:t>0.003</a:t>
                      </a:r>
                    </a:p>
                  </a:txBody>
                  <a:tcPr marL="73152" marR="36576" marT="18288" marB="18288">
                    <a:solidFill>
                      <a:srgbClr val="FFFFFF"/>
                    </a:solidFill>
                  </a:tcPr>
                </a:tc>
                <a:tc>
                  <a:txBody>
                    <a:bodyPr wrap="square"/>
                    <a:lstStyle/>
                    <a:p>
                      <a:pPr algn="l"/>
                      <a:r>
                        <a:rPr sz="1000">
                          <a:solidFill>
                            <a:srgbClr val="2C3E50"/>
                          </a:solidFill>
                          <a:latin typeface="Consolas"/>
                        </a:rPr>
                        <a:t>6.955 mm</a:t>
                      </a:r>
                    </a:p>
                  </a:txBody>
                  <a:tcPr marL="73152" marR="36576" marT="18288" marB="18288">
                    <a:solidFill>
                      <a:srgbClr val="FFFFFF"/>
                    </a:solidFill>
                  </a:tcPr>
                </a:tc>
                <a:tc>
                  <a:txBody>
                    <a:bodyPr wrap="square"/>
                    <a:lstStyle/>
                    <a:p>
                      <a:pPr algn="l"/>
                      <a:r>
                        <a:rPr sz="1000" b="1">
                          <a:solidFill>
                            <a:srgbClr val="C0392B"/>
                          </a:solidFill>
                          <a:latin typeface="Calibri"/>
                        </a:rPr>
                        <a:t>wrong radius, but phase-safe</a:t>
                      </a:r>
                    </a:p>
                  </a:txBody>
                  <a:tcPr marL="73152" marR="36576" marT="18288" marB="18288">
                    <a:solidFill>
                      <a:srgbClr val="FFFFFF"/>
                    </a:solidFill>
                  </a:tcPr>
                </a:tc>
              </a:tr>
              <a:tr h="310896">
                <a:tc>
                  <a:txBody>
                    <a:bodyPr wrap="square"/>
                    <a:lstStyle/>
                    <a:p>
                      <a:pPr algn="l"/>
                      <a:r>
                        <a:rPr sz="1000">
                          <a:solidFill>
                            <a:srgbClr val="1A2332"/>
                          </a:solidFill>
                          <a:latin typeface="Calibri"/>
                        </a:rPr>
                        <a:t>noise 10% top 1 (023)</a:t>
                      </a:r>
                    </a:p>
                  </a:txBody>
                  <a:tcPr marL="73152" marR="36576" marT="18288" marB="18288">
                    <a:solidFill>
                      <a:srgbClr val="F4F6F8"/>
                    </a:solidFill>
                  </a:tcPr>
                </a:tc>
                <a:tc>
                  <a:txBody>
                    <a:bodyPr wrap="square"/>
                    <a:lstStyle/>
                    <a:p>
                      <a:pPr algn="l"/>
                      <a:r>
                        <a:rPr sz="1000">
                          <a:solidFill>
                            <a:srgbClr val="2C3E50"/>
                          </a:solidFill>
                          <a:latin typeface="Consolas"/>
                        </a:rPr>
                        <a:t>1.99e-1</a:t>
                      </a:r>
                    </a:p>
                  </a:txBody>
                  <a:tcPr marL="73152" marR="36576" marT="18288" marB="18288">
                    <a:solidFill>
                      <a:srgbClr val="F4F6F8"/>
                    </a:solidFill>
                  </a:tcPr>
                </a:tc>
                <a:tc>
                  <a:txBody>
                    <a:bodyPr wrap="square"/>
                    <a:lstStyle/>
                    <a:p>
                      <a:pPr algn="l"/>
                      <a:r>
                        <a:rPr sz="1000">
                          <a:solidFill>
                            <a:srgbClr val="2C3E50"/>
                          </a:solidFill>
                          <a:latin typeface="Consolas"/>
                        </a:rPr>
                        <a:t>1.000</a:t>
                      </a:r>
                    </a:p>
                  </a:txBody>
                  <a:tcPr marL="73152" marR="36576" marT="18288" marB="18288">
                    <a:solidFill>
                      <a:srgbClr val="F4F6F8"/>
                    </a:solidFill>
                  </a:tcPr>
                </a:tc>
                <a:tc>
                  <a:txBody>
                    <a:bodyPr wrap="square"/>
                    <a:lstStyle/>
                    <a:p>
                      <a:pPr algn="l"/>
                      <a:r>
                        <a:rPr sz="1000">
                          <a:solidFill>
                            <a:srgbClr val="2C3E50"/>
                          </a:solidFill>
                          <a:latin typeface="Consolas"/>
                        </a:rPr>
                        <a:t>0.000</a:t>
                      </a:r>
                    </a:p>
                  </a:txBody>
                  <a:tcPr marL="73152" marR="36576" marT="18288" marB="18288">
                    <a:solidFill>
                      <a:srgbClr val="F4F6F8"/>
                    </a:solidFill>
                  </a:tcPr>
                </a:tc>
                <a:tc>
                  <a:txBody>
                    <a:bodyPr wrap="square"/>
                    <a:lstStyle/>
                    <a:p>
                      <a:pPr algn="l"/>
                      <a:r>
                        <a:rPr sz="1000">
                          <a:solidFill>
                            <a:srgbClr val="2C3E50"/>
                          </a:solidFill>
                          <a:latin typeface="Consolas"/>
                        </a:rPr>
                        <a:t>0.003</a:t>
                      </a:r>
                    </a:p>
                  </a:txBody>
                  <a:tcPr marL="73152" marR="36576" marT="18288" marB="18288">
                    <a:solidFill>
                      <a:srgbClr val="F4F6F8"/>
                    </a:solidFill>
                  </a:tcPr>
                </a:tc>
                <a:tc>
                  <a:txBody>
                    <a:bodyPr wrap="square"/>
                    <a:lstStyle/>
                    <a:p>
                      <a:pPr algn="l"/>
                      <a:r>
                        <a:rPr sz="1000">
                          <a:solidFill>
                            <a:srgbClr val="2C3E50"/>
                          </a:solidFill>
                          <a:latin typeface="Consolas"/>
                        </a:rPr>
                        <a:t>6.000 mm</a:t>
                      </a:r>
                    </a:p>
                  </a:txBody>
                  <a:tcPr marL="73152" marR="36576" marT="18288" marB="18288">
                    <a:solidFill>
                      <a:srgbClr val="F4F6F8"/>
                    </a:solidFill>
                  </a:tcPr>
                </a:tc>
                <a:tc>
                  <a:txBody>
                    <a:bodyPr wrap="square"/>
                    <a:lstStyle/>
                    <a:p>
                      <a:pPr algn="l"/>
                      <a:r>
                        <a:rPr sz="1000" b="1">
                          <a:solidFill>
                            <a:srgbClr val="27AE60"/>
                          </a:solidFill>
                          <a:latin typeface="Calibri"/>
                        </a:rPr>
                        <a:t>recovered</a:t>
                      </a:r>
                    </a:p>
                  </a:txBody>
                  <a:tcPr marL="73152" marR="36576" marT="18288" marB="18288">
                    <a:solidFill>
                      <a:srgbClr val="F4F6F8"/>
                    </a:solidFill>
                  </a:tcPr>
                </a:tc>
              </a:tr>
              <a:tr h="310896">
                <a:tc>
                  <a:txBody>
                    <a:bodyPr wrap="square"/>
                    <a:lstStyle/>
                    <a:p>
                      <a:pPr algn="l"/>
                      <a:r>
                        <a:rPr sz="1000">
                          <a:solidFill>
                            <a:srgbClr val="1A2332"/>
                          </a:solidFill>
                          <a:latin typeface="Calibri"/>
                        </a:rPr>
                        <a:t>noise 10% top 2</a:t>
                      </a:r>
                    </a:p>
                  </a:txBody>
                  <a:tcPr marL="73152" marR="36576" marT="18288" marB="18288">
                    <a:solidFill>
                      <a:srgbClr val="FFFFFF"/>
                    </a:solidFill>
                  </a:tcPr>
                </a:tc>
                <a:tc>
                  <a:txBody>
                    <a:bodyPr wrap="square"/>
                    <a:lstStyle/>
                    <a:p>
                      <a:pPr algn="l"/>
                      <a:r>
                        <a:rPr sz="1000">
                          <a:solidFill>
                            <a:srgbClr val="2C3E50"/>
                          </a:solidFill>
                          <a:latin typeface="Consolas"/>
                        </a:rPr>
                        <a:t>1.99e-1</a:t>
                      </a:r>
                    </a:p>
                  </a:txBody>
                  <a:tcPr marL="73152" marR="36576" marT="18288" marB="18288">
                    <a:solidFill>
                      <a:srgbClr val="FFFFFF"/>
                    </a:solidFill>
                  </a:tcPr>
                </a:tc>
                <a:tc>
                  <a:txBody>
                    <a:bodyPr wrap="square"/>
                    <a:lstStyle/>
                    <a:p>
                      <a:pPr algn="l"/>
                      <a:r>
                        <a:rPr sz="1000">
                          <a:solidFill>
                            <a:srgbClr val="2C3E50"/>
                          </a:solidFill>
                          <a:latin typeface="Consolas"/>
                        </a:rPr>
                        <a:t>1.000</a:t>
                      </a:r>
                    </a:p>
                  </a:txBody>
                  <a:tcPr marL="73152" marR="36576" marT="18288" marB="18288">
                    <a:solidFill>
                      <a:srgbClr val="FFFFFF"/>
                    </a:solidFill>
                  </a:tcPr>
                </a:tc>
                <a:tc>
                  <a:txBody>
                    <a:bodyPr wrap="square"/>
                    <a:lstStyle/>
                    <a:p>
                      <a:pPr algn="l"/>
                      <a:r>
                        <a:rPr sz="1000">
                          <a:solidFill>
                            <a:srgbClr val="2C3E50"/>
                          </a:solidFill>
                          <a:latin typeface="Consolas"/>
                        </a:rPr>
                        <a:t>0.000</a:t>
                      </a:r>
                    </a:p>
                  </a:txBody>
                  <a:tcPr marL="73152" marR="36576" marT="18288" marB="18288">
                    <a:solidFill>
                      <a:srgbClr val="FFFFFF"/>
                    </a:solidFill>
                  </a:tcPr>
                </a:tc>
                <a:tc>
                  <a:txBody>
                    <a:bodyPr wrap="square"/>
                    <a:lstStyle/>
                    <a:p>
                      <a:pPr algn="l"/>
                      <a:r>
                        <a:rPr sz="1000">
                          <a:solidFill>
                            <a:srgbClr val="2C3E50"/>
                          </a:solidFill>
                          <a:latin typeface="Consolas"/>
                        </a:rPr>
                        <a:t>0.003</a:t>
                      </a:r>
                    </a:p>
                  </a:txBody>
                  <a:tcPr marL="73152" marR="36576" marT="18288" marB="18288">
                    <a:solidFill>
                      <a:srgbClr val="FFFFFF"/>
                    </a:solidFill>
                  </a:tcPr>
                </a:tc>
                <a:tc>
                  <a:txBody>
                    <a:bodyPr wrap="square"/>
                    <a:lstStyle/>
                    <a:p>
                      <a:pPr algn="l"/>
                      <a:r>
                        <a:rPr sz="1000">
                          <a:solidFill>
                            <a:srgbClr val="2C3E50"/>
                          </a:solidFill>
                          <a:latin typeface="Consolas"/>
                        </a:rPr>
                        <a:t>6.000 mm</a:t>
                      </a:r>
                    </a:p>
                  </a:txBody>
                  <a:tcPr marL="73152" marR="36576" marT="18288" marB="18288">
                    <a:solidFill>
                      <a:srgbClr val="FFFFFF"/>
                    </a:solidFill>
                  </a:tcPr>
                </a:tc>
                <a:tc>
                  <a:txBody>
                    <a:bodyPr wrap="square"/>
                    <a:lstStyle/>
                    <a:p>
                      <a:pPr algn="l"/>
                      <a:r>
                        <a:rPr sz="1000" b="1">
                          <a:solidFill>
                            <a:srgbClr val="27AE60"/>
                          </a:solidFill>
                          <a:latin typeface="Calibri"/>
                        </a:rPr>
                        <a:t>alternative cell</a:t>
                      </a:r>
                    </a:p>
                  </a:txBody>
                  <a:tcPr marL="73152" marR="36576" marT="18288" marB="18288">
                    <a:solidFill>
                      <a:srgbClr val="FFFFFF"/>
                    </a:solidFill>
                  </a:tcPr>
                </a:tc>
              </a:tr>
              <a:tr h="310896">
                <a:tc>
                  <a:txBody>
                    <a:bodyPr wrap="square"/>
                    <a:lstStyle/>
                    <a:p>
                      <a:pPr algn="l"/>
                      <a:r>
                        <a:rPr sz="1000">
                          <a:solidFill>
                            <a:srgbClr val="1A2332"/>
                          </a:solidFill>
                          <a:latin typeface="Calibri"/>
                        </a:rPr>
                        <a:t>noise 10% high-radius</a:t>
                      </a:r>
                    </a:p>
                  </a:txBody>
                  <a:tcPr marL="73152" marR="36576" marT="18288" marB="18288">
                    <a:solidFill>
                      <a:srgbClr val="F4F6F8"/>
                    </a:solidFill>
                  </a:tcPr>
                </a:tc>
                <a:tc>
                  <a:txBody>
                    <a:bodyPr wrap="square"/>
                    <a:lstStyle/>
                    <a:p>
                      <a:pPr algn="l"/>
                      <a:r>
                        <a:rPr sz="1000">
                          <a:solidFill>
                            <a:srgbClr val="2C3E50"/>
                          </a:solidFill>
                          <a:latin typeface="Consolas"/>
                        </a:rPr>
                        <a:t>2.01e-1</a:t>
                      </a:r>
                    </a:p>
                  </a:txBody>
                  <a:tcPr marL="73152" marR="36576" marT="18288" marB="18288">
                    <a:solidFill>
                      <a:srgbClr val="F4F6F8"/>
                    </a:solidFill>
                  </a:tcPr>
                </a:tc>
                <a:tc>
                  <a:txBody>
                    <a:bodyPr wrap="square"/>
                    <a:lstStyle/>
                    <a:p>
                      <a:pPr algn="l"/>
                      <a:r>
                        <a:rPr sz="1000">
                          <a:solidFill>
                            <a:srgbClr val="2C3E50"/>
                          </a:solidFill>
                          <a:latin typeface="Consolas"/>
                        </a:rPr>
                        <a:t>1.000</a:t>
                      </a:r>
                    </a:p>
                  </a:txBody>
                  <a:tcPr marL="73152" marR="36576" marT="18288" marB="18288">
                    <a:solidFill>
                      <a:srgbClr val="F4F6F8"/>
                    </a:solidFill>
                  </a:tcPr>
                </a:tc>
                <a:tc>
                  <a:txBody>
                    <a:bodyPr wrap="square"/>
                    <a:lstStyle/>
                    <a:p>
                      <a:pPr algn="l"/>
                      <a:r>
                        <a:rPr sz="1000">
                          <a:solidFill>
                            <a:srgbClr val="2C3E50"/>
                          </a:solidFill>
                          <a:latin typeface="Consolas"/>
                        </a:rPr>
                        <a:t>0.003</a:t>
                      </a:r>
                    </a:p>
                  </a:txBody>
                  <a:tcPr marL="73152" marR="36576" marT="18288" marB="18288">
                    <a:solidFill>
                      <a:srgbClr val="F4F6F8"/>
                    </a:solidFill>
                  </a:tcPr>
                </a:tc>
                <a:tc>
                  <a:txBody>
                    <a:bodyPr wrap="square"/>
                    <a:lstStyle/>
                    <a:p>
                      <a:pPr algn="l"/>
                      <a:r>
                        <a:rPr sz="1000">
                          <a:solidFill>
                            <a:srgbClr val="2C3E50"/>
                          </a:solidFill>
                          <a:latin typeface="Consolas"/>
                        </a:rPr>
                        <a:t>0.006</a:t>
                      </a:r>
                    </a:p>
                  </a:txBody>
                  <a:tcPr marL="73152" marR="36576" marT="18288" marB="18288">
                    <a:solidFill>
                      <a:srgbClr val="F4F6F8"/>
                    </a:solidFill>
                  </a:tcPr>
                </a:tc>
                <a:tc>
                  <a:txBody>
                    <a:bodyPr wrap="square"/>
                    <a:lstStyle/>
                    <a:p>
                      <a:pPr algn="l"/>
                      <a:r>
                        <a:rPr sz="1000">
                          <a:solidFill>
                            <a:srgbClr val="2C3E50"/>
                          </a:solidFill>
                          <a:latin typeface="Consolas"/>
                        </a:rPr>
                        <a:t>6.991 mm</a:t>
                      </a:r>
                    </a:p>
                  </a:txBody>
                  <a:tcPr marL="73152" marR="36576" marT="18288" marB="18288">
                    <a:solidFill>
                      <a:srgbClr val="F4F6F8"/>
                    </a:solidFill>
                  </a:tcPr>
                </a:tc>
                <a:tc>
                  <a:txBody>
                    <a:bodyPr wrap="square"/>
                    <a:lstStyle/>
                    <a:p>
                      <a:pPr algn="l"/>
                      <a:r>
                        <a:rPr sz="1000" b="1">
                          <a:solidFill>
                            <a:srgbClr val="C0392B"/>
                          </a:solidFill>
                          <a:latin typeface="Calibri"/>
                        </a:rPr>
                        <a:t>wrong radius, phase-safe</a:t>
                      </a:r>
                    </a:p>
                  </a:txBody>
                  <a:tcPr marL="73152" marR="36576" marT="18288" marB="18288">
                    <a:solidFill>
                      <a:srgbClr val="F4F6F8"/>
                    </a:solidFill>
                  </a:tcPr>
                </a:tc>
              </a:tr>
              <a:tr h="310896">
                <a:tc>
                  <a:txBody>
                    <a:bodyPr wrap="square"/>
                    <a:lstStyle/>
                    <a:p>
                      <a:pPr algn="l"/>
                      <a:r>
                        <a:rPr sz="1000">
                          <a:solidFill>
                            <a:srgbClr val="1A2332"/>
                          </a:solidFill>
                          <a:latin typeface="Calibri"/>
                        </a:rPr>
                        <a:t>noise 5% recovered</a:t>
                      </a:r>
                    </a:p>
                  </a:txBody>
                  <a:tcPr marL="73152" marR="36576" marT="18288" marB="18288">
                    <a:solidFill>
                      <a:srgbClr val="FFFFFF"/>
                    </a:solidFill>
                  </a:tcPr>
                </a:tc>
                <a:tc>
                  <a:txBody>
                    <a:bodyPr wrap="square"/>
                    <a:lstStyle/>
                    <a:p>
                      <a:pPr algn="l"/>
                      <a:r>
                        <a:rPr sz="1000">
                          <a:solidFill>
                            <a:srgbClr val="2C3E50"/>
                          </a:solidFill>
                          <a:latin typeface="Consolas"/>
                        </a:rPr>
                        <a:t>5.86e-2</a:t>
                      </a:r>
                    </a:p>
                  </a:txBody>
                  <a:tcPr marL="73152" marR="36576" marT="18288" marB="18288">
                    <a:solidFill>
                      <a:srgbClr val="FFFFFF"/>
                    </a:solidFill>
                  </a:tcPr>
                </a:tc>
                <a:tc>
                  <a:txBody>
                    <a:bodyPr wrap="square"/>
                    <a:lstStyle/>
                    <a:p>
                      <a:pPr algn="l"/>
                      <a:r>
                        <a:rPr sz="1000">
                          <a:solidFill>
                            <a:srgbClr val="2C3E50"/>
                          </a:solidFill>
                          <a:latin typeface="Consolas"/>
                        </a:rPr>
                        <a:t>1.000</a:t>
                      </a:r>
                    </a:p>
                  </a:txBody>
                  <a:tcPr marL="73152" marR="36576" marT="18288" marB="18288">
                    <a:solidFill>
                      <a:srgbClr val="FFFFFF"/>
                    </a:solidFill>
                  </a:tcPr>
                </a:tc>
                <a:tc>
                  <a:txBody>
                    <a:bodyPr wrap="square"/>
                    <a:lstStyle/>
                    <a:p>
                      <a:pPr algn="l"/>
                      <a:r>
                        <a:rPr sz="1000">
                          <a:solidFill>
                            <a:srgbClr val="2C3E50"/>
                          </a:solidFill>
                          <a:latin typeface="Consolas"/>
                        </a:rPr>
                        <a:t>0.000</a:t>
                      </a:r>
                    </a:p>
                  </a:txBody>
                  <a:tcPr marL="73152" marR="36576" marT="18288" marB="18288">
                    <a:solidFill>
                      <a:srgbClr val="FFFFFF"/>
                    </a:solidFill>
                  </a:tcPr>
                </a:tc>
                <a:tc>
                  <a:txBody>
                    <a:bodyPr wrap="square"/>
                    <a:lstStyle/>
                    <a:p>
                      <a:pPr algn="l"/>
                      <a:r>
                        <a:rPr sz="1000">
                          <a:solidFill>
                            <a:srgbClr val="2C3E50"/>
                          </a:solidFill>
                          <a:latin typeface="Consolas"/>
                        </a:rPr>
                        <a:t>0.000</a:t>
                      </a:r>
                    </a:p>
                  </a:txBody>
                  <a:tcPr marL="73152" marR="36576" marT="18288" marB="18288">
                    <a:solidFill>
                      <a:srgbClr val="FFFFFF"/>
                    </a:solidFill>
                  </a:tcPr>
                </a:tc>
                <a:tc>
                  <a:txBody>
                    <a:bodyPr wrap="square"/>
                    <a:lstStyle/>
                    <a:p>
                      <a:pPr algn="l"/>
                      <a:r>
                        <a:rPr sz="1000">
                          <a:solidFill>
                            <a:srgbClr val="2C3E50"/>
                          </a:solidFill>
                          <a:latin typeface="Consolas"/>
                        </a:rPr>
                        <a:t>6.000 mm</a:t>
                      </a:r>
                    </a:p>
                  </a:txBody>
                  <a:tcPr marL="73152" marR="36576" marT="18288" marB="18288">
                    <a:solidFill>
                      <a:srgbClr val="FFFFFF"/>
                    </a:solidFill>
                  </a:tcPr>
                </a:tc>
                <a:tc>
                  <a:txBody>
                    <a:bodyPr wrap="square"/>
                    <a:lstStyle/>
                    <a:p>
                      <a:pPr algn="l"/>
                      <a:r>
                        <a:rPr sz="1000" b="1">
                          <a:solidFill>
                            <a:srgbClr val="27AE60"/>
                          </a:solidFill>
                          <a:latin typeface="Calibri"/>
                        </a:rPr>
                        <a:t>recovered</a:t>
                      </a:r>
                    </a:p>
                  </a:txBody>
                  <a:tcPr marL="73152" marR="36576" marT="18288" marB="18288">
                    <a:solidFill>
                      <a:srgbClr val="FFFFFF"/>
                    </a:solidFill>
                  </a:tcPr>
                </a:tc>
              </a:tr>
              <a:tr h="310896">
                <a:tc>
                  <a:txBody>
                    <a:bodyPr wrap="square"/>
                    <a:lstStyle/>
                    <a:p>
                      <a:pPr algn="l"/>
                      <a:r>
                        <a:rPr sz="1000">
                          <a:solidFill>
                            <a:srgbClr val="1A2332"/>
                          </a:solidFill>
                          <a:latin typeface="Calibri"/>
                        </a:rPr>
                        <a:t>noise 5% optimizer-end</a:t>
                      </a:r>
                    </a:p>
                  </a:txBody>
                  <a:tcPr marL="73152" marR="36576" marT="18288" marB="18288">
                    <a:solidFill>
                      <a:srgbClr val="F4F6F8"/>
                    </a:solidFill>
                  </a:tcPr>
                </a:tc>
                <a:tc>
                  <a:txBody>
                    <a:bodyPr wrap="square"/>
                    <a:lstStyle/>
                    <a:p>
                      <a:pPr algn="l"/>
                      <a:r>
                        <a:rPr sz="1000">
                          <a:solidFill>
                            <a:srgbClr val="2C3E50"/>
                          </a:solidFill>
                          <a:latin typeface="Consolas"/>
                        </a:rPr>
                        <a:t>6.09e-2</a:t>
                      </a:r>
                    </a:p>
                  </a:txBody>
                  <a:tcPr marL="73152" marR="36576" marT="18288" marB="18288">
                    <a:solidFill>
                      <a:srgbClr val="F4F6F8"/>
                    </a:solidFill>
                  </a:tcPr>
                </a:tc>
                <a:tc>
                  <a:txBody>
                    <a:bodyPr wrap="square"/>
                    <a:lstStyle/>
                    <a:p>
                      <a:pPr algn="l"/>
                      <a:r>
                        <a:rPr sz="1000">
                          <a:solidFill>
                            <a:srgbClr val="2C3E50"/>
                          </a:solidFill>
                          <a:latin typeface="Consolas"/>
                        </a:rPr>
                        <a:t>1.000</a:t>
                      </a:r>
                    </a:p>
                  </a:txBody>
                  <a:tcPr marL="73152" marR="36576" marT="18288" marB="18288">
                    <a:solidFill>
                      <a:srgbClr val="F4F6F8"/>
                    </a:solidFill>
                  </a:tcPr>
                </a:tc>
                <a:tc>
                  <a:txBody>
                    <a:bodyPr wrap="square"/>
                    <a:lstStyle/>
                    <a:p>
                      <a:pPr algn="l"/>
                      <a:r>
                        <a:rPr sz="1000">
                          <a:solidFill>
                            <a:srgbClr val="2C3E50"/>
                          </a:solidFill>
                          <a:latin typeface="Consolas"/>
                        </a:rPr>
                        <a:t>0.003</a:t>
                      </a:r>
                    </a:p>
                  </a:txBody>
                  <a:tcPr marL="73152" marR="36576" marT="18288" marB="18288">
                    <a:solidFill>
                      <a:srgbClr val="F4F6F8"/>
                    </a:solidFill>
                  </a:tcPr>
                </a:tc>
                <a:tc>
                  <a:txBody>
                    <a:bodyPr wrap="square"/>
                    <a:lstStyle/>
                    <a:p>
                      <a:pPr algn="l"/>
                      <a:r>
                        <a:rPr sz="1000">
                          <a:solidFill>
                            <a:srgbClr val="2C3E50"/>
                          </a:solidFill>
                          <a:latin typeface="Consolas"/>
                        </a:rPr>
                        <a:t>0.006</a:t>
                      </a:r>
                    </a:p>
                  </a:txBody>
                  <a:tcPr marL="73152" marR="36576" marT="18288" marB="18288">
                    <a:solidFill>
                      <a:srgbClr val="F4F6F8"/>
                    </a:solidFill>
                  </a:tcPr>
                </a:tc>
                <a:tc>
                  <a:txBody>
                    <a:bodyPr wrap="square"/>
                    <a:lstStyle/>
                    <a:p>
                      <a:pPr algn="l"/>
                      <a:r>
                        <a:rPr sz="1000">
                          <a:solidFill>
                            <a:srgbClr val="2C3E50"/>
                          </a:solidFill>
                          <a:latin typeface="Consolas"/>
                        </a:rPr>
                        <a:t>6.973 mm</a:t>
                      </a:r>
                    </a:p>
                  </a:txBody>
                  <a:tcPr marL="73152" marR="36576" marT="18288" marB="18288">
                    <a:solidFill>
                      <a:srgbClr val="F4F6F8"/>
                    </a:solidFill>
                  </a:tcPr>
                </a:tc>
                <a:tc>
                  <a:txBody>
                    <a:bodyPr wrap="square"/>
                    <a:lstStyle/>
                    <a:p>
                      <a:pPr algn="l"/>
                      <a:r>
                        <a:rPr sz="1000" b="1">
                          <a:solidFill>
                            <a:srgbClr val="C0392B"/>
                          </a:solidFill>
                          <a:latin typeface="Calibri"/>
                        </a:rPr>
                        <a:t>wrong radius, phase-safe</a:t>
                      </a:r>
                    </a:p>
                  </a:txBody>
                  <a:tcPr marL="73152" marR="36576" marT="18288" marB="18288">
                    <a:solidFill>
                      <a:srgbClr val="F4F6F8"/>
                    </a:solidFill>
                  </a:tcPr>
                </a:tc>
              </a:tr>
            </a:tbl>
          </a:graphicData>
        </a:graphic>
      </p:graphicFrame>
      <p:sp>
        <p:nvSpPr>
          <p:cNvPr id="10" name="Rounded Rectangle 9"/>
          <p:cNvSpPr/>
          <p:nvPr/>
        </p:nvSpPr>
        <p:spPr>
          <a:xfrm>
            <a:off x="365760" y="5440680"/>
            <a:ext cx="11475720" cy="100584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02920" y="5477256"/>
            <a:ext cx="11155680" cy="365760"/>
          </a:xfrm>
          <a:prstGeom prst="rect">
            <a:avLst/>
          </a:prstGeom>
          <a:noFill/>
        </p:spPr>
        <p:txBody>
          <a:bodyPr wrap="square">
            <a:spAutoFit/>
          </a:bodyPr>
          <a:lstStyle/>
          <a:p>
            <a:pPr algn="l">
              <a:defRPr sz="1200" b="1" i="0">
                <a:solidFill>
                  <a:srgbClr val="1A2332"/>
                </a:solidFill>
                <a:latin typeface="Calibri"/>
              </a:defRPr>
            </a:pPr>
            <a:r>
              <a:t>What this means</a:t>
            </a:r>
          </a:p>
        </p:txBody>
      </p:sp>
      <p:sp>
        <p:nvSpPr>
          <p:cNvPr id="12" name="TextBox 11"/>
          <p:cNvSpPr txBox="1"/>
          <p:nvPr/>
        </p:nvSpPr>
        <p:spPr>
          <a:xfrm>
            <a:off x="502920" y="5779008"/>
            <a:ext cx="11155680" cy="640080"/>
          </a:xfrm>
          <a:prstGeom prst="rect">
            <a:avLst/>
          </a:prstGeom>
          <a:noFill/>
        </p:spPr>
        <p:txBody>
          <a:bodyPr wrap="square">
            <a:spAutoFit/>
          </a:bodyPr>
          <a:lstStyle/>
          <a:p>
            <a:pPr algn="l">
              <a:defRPr sz="1100" b="0" i="0">
                <a:solidFill>
                  <a:srgbClr val="2C3E50"/>
                </a:solidFill>
                <a:latin typeface="Calibri"/>
              </a:defRPr>
            </a:pPr>
            <a:r>
              <a:t>Every candidate — including the wrong-radius Powell solutions at all noise levels — already sits at NRCCC = 1.0. The wrong-radius rows have a tiny non-zero median RCCC (≈ 0.003, i.e. 0.3% of a dominant period), but that is far below the 0.5 half-period gate. So the radius failure is not a phase / cycle-skipping problem; an OT objective designed for cycle skips cannot help here. Decision: rule the OT branch out for this problem; keep the NRCCC diagnostic for field-data use.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02</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103120"/>
            <a:ext cx="8046720" cy="1645920"/>
          </a:xfrm>
          <a:prstGeom prst="rect">
            <a:avLst/>
          </a:prstGeom>
          <a:noFill/>
        </p:spPr>
        <p:txBody>
          <a:bodyPr wrap="square">
            <a:spAutoFit/>
          </a:bodyPr>
          <a:lstStyle/>
          <a:p>
            <a:pPr>
              <a:defRPr sz="3400" b="1">
                <a:solidFill>
                  <a:srgbClr val="FFFFFF"/>
                </a:solidFill>
                <a:latin typeface="Calibri"/>
              </a:defRPr>
            </a:pPr>
            <a:r>
              <a:t>Bandwidth scheduling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PEBDD first pass, then a spectrum-driven re-design</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First PEBDD attempt with guessed bands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Same band-pass filter applied to observed and synthetic traces (matched-filter design)</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028–033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15</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A staged objective that starts in a low frequency band and expands the high cut should reduce the high-radius Powell bias (the wrong local minimum at r ≈ 6.95 mm that the derivative-free SciPy Powell optimiser keeps finding) before the polish stage.</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trace-filter helper and a staged runner. First schedule used 0.2–0.8 then 0.2–1.1 then full band, with a final coarse polish. Also ran controls without polish and a polish-only path from the low-band seed.</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Exact data: low-band Powell did move radius closer to the truth, but full-band Powell pulled it back.</a:t>
            </a:r>
          </a:p>
          <a:p>
            <a:pPr>
              <a:spcAft>
                <a:spcPts val="600"/>
              </a:spcAft>
              <a:defRPr sz="1400">
                <a:solidFill>
                  <a:srgbClr val="2C3E50"/>
                </a:solidFill>
                <a:latin typeface="Calibri"/>
              </a:defRPr>
            </a:pPr>
            <a:r>
              <a:t>Noise: the low-band stage stayed in the high-radius basin.</a:t>
            </a:r>
          </a:p>
          <a:p>
            <a:pPr>
              <a:spcAft>
                <a:spcPts val="600"/>
              </a:spcAft>
              <a:defRPr sz="1400">
                <a:solidFill>
                  <a:srgbClr val="2C3E50"/>
                </a:solidFill>
                <a:latin typeface="Calibri"/>
              </a:defRPr>
            </a:pPr>
            <a:r>
              <a:t>Polish remained the reliable radius selector in every variant.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Radius across first-pass PEBDD variants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Single-frequency 1.5 GHz, 5 scan positions (PEBDD = progressively expanded bandwidths of the data)</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029–033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16</a:t>
            </a:r>
          </a:p>
        </p:txBody>
      </p:sp>
      <p:pic>
        <p:nvPicPr>
          <p:cNvPr id="8" name="Picture 7" descr="pebdd_first_pass_radius.png"/>
          <p:cNvPicPr>
            <a:picLocks noChangeAspect="1"/>
          </p:cNvPicPr>
          <p:nvPr/>
        </p:nvPicPr>
        <p:blipFill>
          <a:blip r:embed="rId2"/>
          <a:stretch>
            <a:fillRect/>
          </a:stretch>
        </p:blipFill>
        <p:spPr>
          <a:xfrm>
            <a:off x="438287" y="1280160"/>
            <a:ext cx="11315119"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Each bar is the recovered radius at the end of one run. 'Powell' is SciPy's derivative-free local optimiser; 'polish' is a deterministic small (z, r) grid search after Powell. Polish is the only step that lands on 6.0 mm; full-band Powell without polish returns to the high-radius basin (r ≈ 6.95 mm) — the wrong local minimum it consistently finds.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1: low-band Powell</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0.2–0.8 GHz objective; full unfiltered traces still used for NRMS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029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17</a:t>
            </a:r>
          </a:p>
        </p:txBody>
      </p:sp>
      <p:pic>
        <p:nvPicPr>
          <p:cNvPr id="8" name="Picture 7" descr="single_rebar_model_comparison.png"/>
          <p:cNvPicPr>
            <a:picLocks noChangeAspect="1"/>
          </p:cNvPicPr>
          <p:nvPr/>
        </p:nvPicPr>
        <p:blipFill>
          <a:blip r:embed="rId2"/>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Stage-1 recovered r = 6.573 mm at x ≈ 249.8, z ≈ 90.6 mm. The low band moved radius toward the truth but did not reach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2: expanded to 0.2–1.1 GHz</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Bandwidth expansion from the stage-1 seed (same band-pass on observed and synthetic)</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18</a:t>
            </a:r>
          </a:p>
        </p:txBody>
      </p:sp>
      <p:pic>
        <p:nvPicPr>
          <p:cNvPr id="8" name="Picture 7" descr="single_rebar_model_comparison.png"/>
          <p:cNvPicPr>
            <a:picLocks noChangeAspect="1"/>
          </p:cNvPicPr>
          <p:nvPr/>
        </p:nvPicPr>
        <p:blipFill>
          <a:blip r:embed="rId2"/>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r drifts back up to 6.864 mm. Expanding the band re-introduces the depth–radius coupling (a slightly deeper rebar trades against a slightly larger radius to produce a near-identical waveform).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 3: full band +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Full-band Powell from stage 2, then a deterministic coarse grid polish</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19</a:t>
            </a:r>
          </a:p>
        </p:txBody>
      </p:sp>
      <p:pic>
        <p:nvPicPr>
          <p:cNvPr id="8" name="Picture 7" descr="single_rebar_model_comparison.png"/>
          <p:cNvPicPr>
            <a:picLocks noChangeAspect="1"/>
          </p:cNvPicPr>
          <p:nvPr/>
        </p:nvPicPr>
        <p:blipFill>
          <a:blip r:embed="rId2"/>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Polish recovers r = 6.000 mm (NRMS model = 0). Powell alone reverts to r = 6.955 mm before polish takes over — same wrong basin as the no-PEBDD path.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Control: full-band Powell, no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Same stage-1 seed, run full-band Powell without polish — isolates the bandwidth role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20</a:t>
            </a:r>
          </a:p>
        </p:txBody>
      </p:sp>
      <p:pic>
        <p:nvPicPr>
          <p:cNvPr id="8" name="Picture 7" descr="single_rebar_model_comparison.png"/>
          <p:cNvPicPr>
            <a:picLocks noChangeAspect="1"/>
          </p:cNvPicPr>
          <p:nvPr/>
        </p:nvPicPr>
        <p:blipFill>
          <a:blip r:embed="rId2"/>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Final r = 6.955 mm. Confirms the regression we saw in stage 2 is the full-band Powell objective itself, not a specific staging choice.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Pragmatic path: stage 1 seed → polish only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Skip full-band Powell; use low-band seed to enter the polish window</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21</a:t>
            </a:r>
          </a:p>
        </p:txBody>
      </p:sp>
      <p:pic>
        <p:nvPicPr>
          <p:cNvPr id="8" name="Picture 7" descr="single_rebar_model_comparison.png"/>
          <p:cNvPicPr>
            <a:picLocks noChangeAspect="1"/>
          </p:cNvPicPr>
          <p:nvPr/>
        </p:nvPicPr>
        <p:blipFill>
          <a:blip r:embed="rId2"/>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r = 6.000 mm. The low-band seed plus polish is the cleanest staged path on exact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Noise variant: PEBDD seed + polish under noise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Experiments 034–037</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034–037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22</a:t>
            </a:r>
          </a:p>
        </p:txBody>
      </p:sp>
      <p:sp>
        <p:nvSpPr>
          <p:cNvPr id="8" name="TextBox 7"/>
          <p:cNvSpPr txBox="1"/>
          <p:nvPr/>
        </p:nvSpPr>
        <p:spPr>
          <a:xfrm>
            <a:off x="640080" y="1280160"/>
            <a:ext cx="10972800" cy="1463040"/>
          </a:xfrm>
          <a:prstGeom prst="rect">
            <a:avLst/>
          </a:prstGeom>
          <a:noFill/>
        </p:spPr>
        <p:txBody>
          <a:bodyPr wrap="square">
            <a:spAutoFit/>
          </a:bodyPr>
          <a:lstStyle/>
          <a:p>
            <a:pPr>
              <a:spcAft>
                <a:spcPts val="600"/>
              </a:spcAft>
              <a:defRPr sz="1400">
                <a:solidFill>
                  <a:srgbClr val="2C3E50"/>
                </a:solidFill>
                <a:latin typeface="Calibri"/>
              </a:defRPr>
            </a:pPr>
            <a:r>
              <a:t>Under noise, the low-band Powell stage stops in the high-radius basin. The polish stage still recovers r = 6.0 mm.</a:t>
            </a:r>
          </a:p>
        </p:txBody>
      </p:sp>
      <p:sp>
        <p:nvSpPr>
          <p:cNvPr id="9" name="TextBox 8"/>
          <p:cNvSpPr txBox="1"/>
          <p:nvPr/>
        </p:nvSpPr>
        <p:spPr>
          <a:xfrm>
            <a:off x="640080" y="2834640"/>
            <a:ext cx="10972800" cy="3200400"/>
          </a:xfrm>
          <a:prstGeom prst="rect">
            <a:avLst/>
          </a:prstGeom>
          <a:noFill/>
        </p:spPr>
        <p:txBody>
          <a:bodyPr wrap="none">
            <a:spAutoFit/>
          </a:bodyPr>
          <a:lstStyle/>
          <a:p>
            <a:pPr>
              <a:spcAft>
                <a:spcPts val="200"/>
              </a:spcAft>
              <a:defRPr sz="1300">
                <a:solidFill>
                  <a:srgbClr val="2C3E50"/>
                </a:solidFill>
                <a:latin typeface="Consolas"/>
              </a:defRPr>
            </a:pPr>
            <a:r>
              <a:t>experiment                                       noise    powell r    polish r   NRMS data</a:t>
            </a:r>
          </a:p>
          <a:p>
            <a:pPr>
              <a:spcAft>
                <a:spcPts val="200"/>
              </a:spcAft>
              <a:defRPr sz="1300">
                <a:solidFill>
                  <a:srgbClr val="2C3E50"/>
                </a:solidFill>
                <a:latin typeface="Consolas"/>
              </a:defRPr>
            </a:pPr>
            <a:r>
              <a:t>------------------------------------------------------------------------------------------</a:t>
            </a:r>
          </a:p>
          <a:p>
            <a:pPr>
              <a:spcAft>
                <a:spcPts val="200"/>
              </a:spcAft>
              <a:defRPr sz="1300">
                <a:solidFill>
                  <a:srgbClr val="2C3E50"/>
                </a:solidFill>
                <a:latin typeface="Consolas"/>
              </a:defRPr>
            </a:pPr>
            <a:r>
              <a:t>034 stage 1, 5% noise                               5%    6.999 mm           -       5.09%</a:t>
            </a:r>
          </a:p>
          <a:p>
            <a:pPr>
              <a:spcAft>
                <a:spcPts val="200"/>
              </a:spcAft>
              <a:defRPr sz="1300">
                <a:solidFill>
                  <a:srgbClr val="2C3E50"/>
                </a:solidFill>
                <a:latin typeface="Consolas"/>
              </a:defRPr>
            </a:pPr>
            <a:r>
              <a:t>035 polish from stage 1, 5% noise                   5%           -    6.000 mm       5.02%</a:t>
            </a:r>
          </a:p>
          <a:p>
            <a:pPr>
              <a:spcAft>
                <a:spcPts val="200"/>
              </a:spcAft>
              <a:defRPr sz="1300">
                <a:solidFill>
                  <a:srgbClr val="2C3E50"/>
                </a:solidFill>
                <a:latin typeface="Consolas"/>
              </a:defRPr>
            </a:pPr>
            <a:r>
              <a:t>036 stage 1, 10% noise                             10%    6.927 mm           -      10.05%</a:t>
            </a:r>
          </a:p>
          <a:p>
            <a:pPr>
              <a:spcAft>
                <a:spcPts val="200"/>
              </a:spcAft>
              <a:defRPr sz="1300">
                <a:solidFill>
                  <a:srgbClr val="2C3E50"/>
                </a:solidFill>
                <a:latin typeface="Consolas"/>
              </a:defRPr>
            </a:pPr>
            <a:r>
              <a:t>037 polish from stage 1, 10% noise                 10%           -    6.000 mm      10.01%</a:t>
            </a:r>
          </a:p>
        </p:txBody>
      </p:sp>
      <p:sp>
        <p:nvSpPr>
          <p:cNvPr id="10" name="TextBox 9"/>
          <p:cNvSpPr txBox="1"/>
          <p:nvPr/>
        </p:nvSpPr>
        <p:spPr>
          <a:xfrm>
            <a:off x="640080" y="6035040"/>
            <a:ext cx="10972800" cy="457200"/>
          </a:xfrm>
          <a:prstGeom prst="rect">
            <a:avLst/>
          </a:prstGeom>
          <a:noFill/>
        </p:spPr>
        <p:txBody>
          <a:bodyPr wrap="square">
            <a:spAutoFit/>
          </a:bodyPr>
          <a:lstStyle/>
          <a:p>
            <a:pPr algn="l">
              <a:defRPr sz="1300" b="0" i="1">
                <a:solidFill>
                  <a:srgbClr val="E8913A"/>
                </a:solidFill>
                <a:latin typeface="Calibri"/>
              </a:defRPr>
            </a:pPr>
            <a:r>
              <a:t>Bandwidth scheduling helps move rough seeds; the polish is the radius selector.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Cumulative frequency — first try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1.0 GHz source carrier alongside the 1.5 GHz one, average the two</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038–041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23</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Adding a complementary source carrier frequency should help radius, in the spirit of WRI's cumulative-frequency strategy (low frequencies kept while higher ones are added).</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Added per-frequency objective contributions (the residual misfit split by source centre frequency, not just the average) to the summary, and ran a coarse grid polish at the known high-radius seed using two source frequencies (1.0 + 1.5 GHz).</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Polish still recovers r = 6.0 mm in this exact case.</a:t>
            </a:r>
          </a:p>
          <a:p>
            <a:pPr>
              <a:spcAft>
                <a:spcPts val="600"/>
              </a:spcAft>
              <a:defRPr sz="1400">
                <a:solidFill>
                  <a:srgbClr val="2C3E50"/>
                </a:solidFill>
                <a:latin typeface="Calibri"/>
              </a:defRPr>
            </a:pPr>
            <a:r>
              <a:t>But the per-frequency split shows that 1.0 GHz is a much weaker radius discriminator than 1.5 GHz.</a:t>
            </a:r>
          </a:p>
          <a:p>
            <a:pPr>
              <a:spcAft>
                <a:spcPts val="600"/>
              </a:spcAft>
              <a:defRPr sz="1400">
                <a:solidFill>
                  <a:srgbClr val="2C3E50"/>
                </a:solidFill>
                <a:latin typeface="Calibri"/>
              </a:defRPr>
            </a:pPr>
            <a:r>
              <a:t>Equal averaging dilutes the useful radius evidence.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Two-frequency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1.0 + 1.5 GHz objective, coarse polish from the high-radius seed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24</a:t>
            </a:r>
          </a:p>
        </p:txBody>
      </p:sp>
      <p:pic>
        <p:nvPicPr>
          <p:cNvPr id="8" name="Picture 7" descr="single_rebar_model_comparison.png"/>
          <p:cNvPicPr>
            <a:picLocks noChangeAspect="1"/>
          </p:cNvPicPr>
          <p:nvPr/>
        </p:nvPicPr>
        <p:blipFill>
          <a:blip r:embed="rId2"/>
          <a:stretch>
            <a:fillRect/>
          </a:stretch>
        </p:blipFill>
        <p:spPr>
          <a:xfrm>
            <a:off x="380847" y="1280160"/>
            <a:ext cx="11430000" cy="3324703"/>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Polished r = 6.000 mm. Per-frequency margins: 1.0 GHz = 3.56e-5, 1.5 GHz = 1.04e-3. The average dilutes the 1.5 GHz evidence by roughly half.</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Designing PEBDD bands from real spectra</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Choose band edges from what the data actually contains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043–044</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25</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The guessed low band (0.2–0.8 GHz) may have contained almost none of the energy that distinguishes nearby radii. Choose bands from real signal/residual spectra instead.</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spectrum-design runner. Saved source, observed and candidate-residual spectra for the true model, a near-radius (r = 6.2) candidate, and the known high-radius Powell candidate, with and without 10% noise.</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Radius-discriminating residual energy lives mostly above 1 GHz, peaking near 2 GHz.</a:t>
            </a:r>
          </a:p>
          <a:p>
            <a:pPr>
              <a:spcAft>
                <a:spcPts val="600"/>
              </a:spcAft>
              <a:defRPr sz="1400">
                <a:solidFill>
                  <a:srgbClr val="2C3E50"/>
                </a:solidFill>
                <a:latin typeface="Calibri"/>
              </a:defRPr>
            </a:pPr>
            <a:r>
              <a:t>The earlier 0.2–0.8 GHz band contained ≈ 2% of that energy.</a:t>
            </a:r>
          </a:p>
          <a:p>
            <a:pPr>
              <a:spcAft>
                <a:spcPts val="600"/>
              </a:spcAft>
              <a:defRPr sz="1400">
                <a:solidFill>
                  <a:srgbClr val="2C3E50"/>
                </a:solidFill>
                <a:latin typeface="Calibri"/>
              </a:defRPr>
            </a:pPr>
            <a:r>
              <a:t>Noise residual is broadband — useful as a stress test, not as a faithful field-noise model.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Source wavelet spectrum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1.5 GHz Ricker pulse, FFT amplitude (Ricker = negative second derivative of a Gaussian)</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26</a:t>
            </a:r>
          </a:p>
        </p:txBody>
      </p:sp>
      <p:pic>
        <p:nvPicPr>
          <p:cNvPr id="8" name="Picture 7" descr="spectrum_source_cropped.png"/>
          <p:cNvPicPr>
            <a:picLocks noChangeAspect="1"/>
          </p:cNvPicPr>
          <p:nvPr/>
        </p:nvPicPr>
        <p:blipFill>
          <a:blip r:embed="rId2"/>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Useful source band is roughly 0.75–2.5 GHz with peak at 1.5 GHz. x-axis cropped to 0–4 GHz for readability; the FDTD sampling rate (~250 GHz Nyquist) sets the figure's untrimmed extent.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Observed muted B-scan spectrum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Spectrum of the synthetic observed traces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27</a:t>
            </a:r>
          </a:p>
        </p:txBody>
      </p:sp>
      <p:pic>
        <p:nvPicPr>
          <p:cNvPr id="8" name="Picture 7" descr="spectrum_observed_cropped.png"/>
          <p:cNvPicPr>
            <a:picLocks noChangeAspect="1"/>
          </p:cNvPicPr>
          <p:nvPr/>
        </p:nvPicPr>
        <p:blipFill>
          <a:blip r:embed="rId2"/>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Observed energy band 0.375–2.75 GHz, peak at 0.75 GHz. The medium and antenna geometry have shifted energy downward relative to the source spectrum.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Candidate residual spectra — the headline plot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frequencies actually distinguish nearby radii (residual = synthetic − observed, then FFT amplitude)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28</a:t>
            </a:r>
          </a:p>
        </p:txBody>
      </p:sp>
      <p:pic>
        <p:nvPicPr>
          <p:cNvPr id="8" name="Picture 7" descr="spectrum_residual_cropped.png"/>
          <p:cNvPicPr>
            <a:picLocks noChangeAspect="1"/>
          </p:cNvPicPr>
          <p:nvPr/>
        </p:nvPicPr>
        <p:blipFill>
          <a:blip r:embed="rId2"/>
          <a:stretch>
            <a:fillRect/>
          </a:stretch>
        </p:blipFill>
        <p:spPr>
          <a:xfrm>
            <a:off x="582615" y="1280160"/>
            <a:ext cx="11026463"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Residual energy from a near-radius candidate (r = 6.2 mm) and the known high-radius Powell candidate (r ≈ 6.95 mm — Powell is SciPy's derivative-free local optimiser that consistently lands here) both peak near 2 GHz. Bands below 1 GHz carry almost none of the radius evidence.</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This is why the first-pass 0.2–0.8 GHz schedule could not fix radius.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Faithful spectrum-derived PEBDD schedule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Run the new bands as a staged Powell + polish</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29</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the band edges were the problem, the spectrum-derived schedule should land Powell closer to the true radius before polish.</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staged runner using the bands 0.35–1.10 → 0.35–1.50 → 0.35–2.00 → 0.35–2.50 GHz, then a final full-band coarse polish. Exact data, 5 sources, 1 mm grid.</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x and z stay on target throughout.</a:t>
            </a:r>
          </a:p>
          <a:p>
            <a:pPr>
              <a:spcAft>
                <a:spcPts val="600"/>
              </a:spcAft>
              <a:defRPr sz="1400">
                <a:solidFill>
                  <a:srgbClr val="2C3E50"/>
                </a:solidFill>
                <a:latin typeface="Calibri"/>
              </a:defRPr>
            </a:pPr>
            <a:r>
              <a:t>Each Powell stage stops in the high-radius basin (r ≈ 6.86–6.93 mm).</a:t>
            </a:r>
          </a:p>
          <a:p>
            <a:pPr>
              <a:spcAft>
                <a:spcPts val="600"/>
              </a:spcAft>
              <a:defRPr sz="1400">
                <a:solidFill>
                  <a:srgbClr val="2C3E50"/>
                </a:solidFill>
                <a:latin typeface="Calibri"/>
              </a:defRPr>
            </a:pPr>
            <a:r>
              <a:t>Final full-band polish recovers r = 6.000 mm exactly.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Stage-by-stage recovered radius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Spectrum-derived PEBDD schedule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30</a:t>
            </a:r>
          </a:p>
        </p:txBody>
      </p:sp>
      <p:pic>
        <p:nvPicPr>
          <p:cNvPr id="8" name="Picture 7" descr="pebdd_stage_progression.png"/>
          <p:cNvPicPr>
            <a:picLocks noChangeAspect="1"/>
          </p:cNvPicPr>
          <p:nvPr/>
        </p:nvPicPr>
        <p:blipFill>
          <a:blip r:embed="rId2"/>
          <a:stretch>
            <a:fillRect/>
          </a:stretch>
        </p:blipFill>
        <p:spPr>
          <a:xfrm>
            <a:off x="380847" y="1280160"/>
            <a:ext cx="11430000" cy="424068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Powell stages stay in the high-radius basin even as the band widens to 2.5 GHz. The final polish is the step that lands radius on truth.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Final full-band coarse polish — model comparison</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Final stage of the faithful PEBDD schedule (NRMS = normalised root-mean-square misfit)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31</a:t>
            </a:r>
          </a:p>
        </p:txBody>
      </p:sp>
      <p:pic>
        <p:nvPicPr>
          <p:cNvPr id="8" name="Picture 7" descr="single_rebar_model_comparison.png"/>
          <p:cNvPicPr>
            <a:picLocks noChangeAspect="1"/>
          </p:cNvPicPr>
          <p:nvPr/>
        </p:nvPicPr>
        <p:blipFill>
          <a:blip r:embed="rId2"/>
          <a:stretch>
            <a:fillRect/>
          </a:stretch>
        </p:blipFill>
        <p:spPr>
          <a:xfrm>
            <a:off x="380847" y="1280160"/>
            <a:ext cx="11430000" cy="3541481"/>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Recovered geometry matches truth on the 1 mm grid (NRMS model = 0, NRMS data = 0). Top polish candidates (J = least-squares waveform misfit; lower is better): r = 6.0 mm (J = 0), r = 6.2 mm (J = 1.04 × 10⁻³), r = 6.8 mm (J = 2.08 × 10⁻³).</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03</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Frequency weighting and W2</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Where to put the spectral evidence weight, and when not to</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Frequency-weighted radius margins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Five weight schemes evaluated on the same local x / z / r candidate grid</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046–049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33</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multi-frequency information is genuinely useful for radius, some weighted combination should beat single-frequency LS (least squares).</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frequency-weight matrix runner. Swept radius 5.4–7.8 mm at four depths under five weight schemes: low_only (1.0 GHz alone), onepointfive_only (1.5 GHz alone), unweighted (equal average), carry_low_25 (0.25 × 1.0 GHz + 1.0 × 1.5 GHz), carry_low_50 (0.5 × 1.0 GHz + 1.0 × 1.5 GHz). Ran exact, 5% noise, and 10% noise versions.</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low_only has the weakest radius margin (30x smaller than 1.5 GHz alone).</a:t>
            </a:r>
          </a:p>
          <a:p>
            <a:pPr>
              <a:spcAft>
                <a:spcPts val="600"/>
              </a:spcAft>
              <a:defRPr sz="1400">
                <a:solidFill>
                  <a:srgbClr val="2C3E50"/>
                </a:solidFill>
                <a:latin typeface="Calibri"/>
              </a:defRPr>
            </a:pPr>
            <a:r>
              <a:t>Unweighted averaging cuts the radius margin nearly in half.</a:t>
            </a:r>
          </a:p>
          <a:p>
            <a:pPr>
              <a:spcAft>
                <a:spcPts val="600"/>
              </a:spcAft>
              <a:defRPr sz="1400">
                <a:solidFill>
                  <a:srgbClr val="2C3E50"/>
                </a:solidFill>
                <a:latin typeface="Calibri"/>
              </a:defRPr>
            </a:pPr>
            <a:r>
              <a:t>carry_low_25 preserves most of the 1.5 GHz margin while keeping low-frequency carry.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Exact-data radius margin under five weight schemes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Common local x / z / r candidate grid evaluated for each scheme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34</a:t>
            </a:r>
          </a:p>
        </p:txBody>
      </p:sp>
      <p:pic>
        <p:nvPicPr>
          <p:cNvPr id="8" name="Picture 7" descr="frequency_weight_radius_profiles.png"/>
          <p:cNvPicPr>
            <a:picLocks noChangeAspect="1"/>
          </p:cNvPicPr>
          <p:nvPr/>
        </p:nvPicPr>
        <p:blipFill>
          <a:blip r:embed="rId2"/>
          <a:stretch>
            <a:fillRect/>
          </a:stretch>
        </p:blipFill>
        <p:spPr>
          <a:xfrm>
            <a:off x="2427514" y="1280160"/>
            <a:ext cx="733666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Scheme legend — low_only: 1.0 GHz alone; onepointfive_only: 1.5 GHz alone; unweighted: equal 1.0 + 1.5 GHz average; carry_low_25 / carry_low_50: 0.25 (or 0.50) weight on 1.0 GHz plus full weight on 1.5 GHz. The deepest valley at r = 6.0 mm wins on radius discrimination; flatter curves are weaker.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Same conclusion under noise — 5% and 10%</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Side-by-side: 5% additive trace-RMS noise on the left, 10% on the right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047 + 049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35</a:t>
            </a:r>
          </a:p>
        </p:txBody>
      </p:sp>
      <p:pic>
        <p:nvPicPr>
          <p:cNvPr id="8" name="Picture 7" descr="freq_weight_noise_compare.png"/>
          <p:cNvPicPr>
            <a:picLocks noChangeAspect="1"/>
          </p:cNvPicPr>
          <p:nvPr/>
        </p:nvPicPr>
        <p:blipFill>
          <a:blip r:embed="rId2"/>
          <a:stretch>
            <a:fillRect/>
          </a:stretch>
        </p:blipFill>
        <p:spPr>
          <a:xfrm>
            <a:off x="380847" y="1280160"/>
            <a:ext cx="11430000" cy="3699541"/>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Margin = objective value at r = 6.2 mm minus value at r = 6.0 mm (larger margin → stronger radius discrimination). The headline numbers at 10% noise: 1.04 × 10⁻³ (1.5 GHz only), 8.4 × 10⁻⁴ (carry_low_25 = 0.25 × 1.0 GHz + 1.0 × 1.5 GHz), 5.4 × 10⁻⁴ (unweighted average), 3.1 × 10⁻⁵ (1.0 GHz only). Ranking is identical at 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W2 / Optimal Transport — gate 1</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Replicate the paper's shift-convexity claim on shifted Ricker pulses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36</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The W2 paper claims that quadratic Wasserstein with Softplus normalisation (log(1+e^(βx)) — turns a signed trace into a non-negative mass distribution) and Sinkhorn iterations (entropy-regularised cheap OT) is monotonic over time shifts where standard L2 has spurious local minima from oscillatory cancellation.</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standalone Softplus / Sinkhorn W2 module. Computed both L2 and W2 over a −28 … +28 sample shift range for a Ricker pulse, with β ∈ {4, 8, 12} (Softplus scale) and ε = 0.02 (Sinkhorn entropy).</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L2 has 24 monotonicity violations across the tested shift range.</a:t>
            </a:r>
          </a:p>
          <a:p>
            <a:pPr>
              <a:spcAft>
                <a:spcPts val="600"/>
              </a:spcAft>
              <a:defRPr sz="1400">
                <a:solidFill>
                  <a:srgbClr val="2C3E50"/>
                </a:solidFill>
                <a:latin typeface="Calibri"/>
              </a:defRPr>
            </a:pPr>
            <a:r>
              <a:t>W2 is smoothly monotonic for every tested β.</a:t>
            </a:r>
          </a:p>
          <a:p>
            <a:pPr>
              <a:spcAft>
                <a:spcPts val="600"/>
              </a:spcAft>
              <a:defRPr sz="1400">
                <a:solidFill>
                  <a:srgbClr val="2C3E50"/>
                </a:solidFill>
                <a:latin typeface="Calibri"/>
              </a:defRPr>
            </a:pPr>
            <a:r>
              <a:t>Paper claim reproduced — but on shifted Ricker traces, not on the rebar problem.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W2 trace convexity — paper claim holds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Softplus / Sinkhorn quadratic Wasserstein (W2) vs least-squares (L2) over shifted Ricker pulses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048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37</a:t>
            </a:r>
          </a:p>
        </p:txBody>
      </p:sp>
      <p:pic>
        <p:nvPicPr>
          <p:cNvPr id="8" name="Picture 7" descr="trace_w2_convexity.png"/>
          <p:cNvPicPr>
            <a:picLocks noChangeAspect="1"/>
          </p:cNvPicPr>
          <p:nvPr/>
        </p:nvPicPr>
        <p:blipFill>
          <a:blip r:embed="rId2"/>
          <a:stretch>
            <a:fillRect/>
          </a:stretch>
        </p:blipFill>
        <p:spPr>
          <a:xfrm>
            <a:off x="1046120" y="1280160"/>
            <a:ext cx="10099454"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L2 (left) shows the classical cycle-skip pattern: zero only at shift = 0, with a second 'mountain' that traps optimisers. W2 (right) is smooth and monotonic on both sides of zero for all three Softplus scales (β = 4 / 8 / 12) — the larger β, the sharper the curvature near zero.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W2 — gate 2 on the actual rebar landscape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Move quadratic Wasserstein (W2) from the shift smoke test to the radius problem</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050–051</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38</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W2's better convexity transfers to the rebar landscape, its margin (objective gap) between r = 6.0 mm and r = 6.2 mm should be comparable to or better than the standard least-squares (LS) margin.</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Evaluated the same Softplus / Sinkhorn W2 on the same local x / z / r candidate grid as the LS landscape (β = 8 = Softplus scale, ε = 0.02 = Sinkhorn entropy regularisation, ds = 8 / 16 = downsample factor for trace length; ds reduces the Sinkhorn cost by taking every nth sample of the trace).</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LS margin (r=6.0 vs r=6.2): 1.04e-3.</a:t>
            </a:r>
          </a:p>
          <a:p>
            <a:pPr>
              <a:spcAft>
                <a:spcPts val="600"/>
              </a:spcAft>
              <a:defRPr sz="1400">
                <a:solidFill>
                  <a:srgbClr val="2C3E50"/>
                </a:solidFill>
                <a:latin typeface="Calibri"/>
              </a:defRPr>
            </a:pPr>
            <a:r>
              <a:t>W2 margin: 1.06e-7 (downsample 16); 1.03e-7 (downsample 8).</a:t>
            </a:r>
          </a:p>
          <a:p>
            <a:pPr>
              <a:spcAft>
                <a:spcPts val="600"/>
              </a:spcAft>
              <a:defRPr sz="1400">
                <a:solidFill>
                  <a:srgbClr val="2C3E50"/>
                </a:solidFill>
                <a:latin typeface="Calibri"/>
              </a:defRPr>
            </a:pPr>
            <a:r>
              <a:t>Softplus normalisation removes the amplitude content that radius depends 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W2 radius margin collapses on the rebar problem</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Note the W2 y-axis is in units of 1 × 10⁻⁵</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050</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39</a:t>
            </a:r>
          </a:p>
        </p:txBody>
      </p:sp>
      <p:pic>
        <p:nvPicPr>
          <p:cNvPr id="8" name="Picture 7" descr="w2_radius_profiles.png"/>
          <p:cNvPicPr>
            <a:picLocks noChangeAspect="1"/>
          </p:cNvPicPr>
          <p:nvPr/>
        </p:nvPicPr>
        <p:blipFill>
          <a:blip r:embed="rId2"/>
          <a:stretch>
            <a:fillRect/>
          </a:stretch>
        </p:blipFill>
        <p:spPr>
          <a:xfrm>
            <a:off x="920412" y="1280160"/>
            <a:ext cx="10350871"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L2 = least squares (left): the familiar deep V at the true radius r = 6.0 mm. W2 = quadratic Wasserstein with Softplus normalisation (right): nearly flat — radius margin is 1.06 × 10⁻⁷ vs 1.04 × 10⁻³ for L2 (≈ 10 000× smaller). Softplus removed the amplitude content that radius depends on.</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Decision: reject W2 as the final radius objective. Keep it as a basin diagnostic for field data.</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Material tradeoff — does material explain radius?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Fixed x = 250, z = 90 mm; sweep radius × εr × σ (εr = relative permittivity / dielectric constant; σ = electrical conductivity, S/m)</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056</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40</a:t>
            </a:r>
          </a:p>
        </p:txBody>
      </p:sp>
      <p:sp>
        <p:nvSpPr>
          <p:cNvPr id="8" name="TextBox 7"/>
          <p:cNvSpPr txBox="1"/>
          <p:nvPr/>
        </p:nvSpPr>
        <p:spPr>
          <a:xfrm>
            <a:off x="548640" y="1371600"/>
            <a:ext cx="5669280" cy="4572000"/>
          </a:xfrm>
          <a:prstGeom prst="rect">
            <a:avLst/>
          </a:prstGeom>
          <a:noFill/>
        </p:spPr>
        <p:txBody>
          <a:bodyPr wrap="square">
            <a:spAutoFit/>
          </a:bodyPr>
          <a:lstStyle/>
          <a:p>
            <a:pPr>
              <a:spcAft>
                <a:spcPts val="800"/>
              </a:spcAft>
              <a:defRPr sz="1400">
                <a:solidFill>
                  <a:srgbClr val="2C3E50"/>
                </a:solidFill>
                <a:latin typeface="Calibri"/>
              </a:defRPr>
            </a:pPr>
            <a:r>
              <a:t>Hypothesis: at the correct (x, z) location, free material parameters could let a wrong radius still fit the data.</a:t>
            </a:r>
          </a:p>
          <a:p>
            <a:pPr>
              <a:spcAft>
                <a:spcPts val="800"/>
              </a:spcAft>
              <a:defRPr sz="1400">
                <a:solidFill>
                  <a:srgbClr val="2C3E50"/>
                </a:solidFill>
                <a:latin typeface="Calibri"/>
              </a:defRPr>
            </a:pPr>
            <a:r>
              <a:t>Sweep: r = 5.4–7.8 mm × εr ∈ {5.5, 6.0, 6.5} × log10 σ ∈ {5, 6, 7} S/m.</a:t>
            </a:r>
          </a:p>
          <a:p>
            <a:pPr>
              <a:spcAft>
                <a:spcPts val="800"/>
              </a:spcAft>
              <a:defRPr sz="1400">
                <a:solidFill>
                  <a:srgbClr val="2C3E50"/>
                </a:solidFill>
                <a:latin typeface="Calibri"/>
              </a:defRPr>
            </a:pPr>
          </a:p>
          <a:p>
            <a:pPr>
              <a:spcAft>
                <a:spcPts val="800"/>
              </a:spcAft>
              <a:defRPr sz="1400">
                <a:solidFill>
                  <a:srgbClr val="2C3E50"/>
                </a:solidFill>
                <a:latin typeface="Calibri"/>
              </a:defRPr>
            </a:pPr>
            <a:r>
              <a:t>Result:</a:t>
            </a:r>
          </a:p>
          <a:p>
            <a:pPr lvl="1">
              <a:spcAft>
                <a:spcPts val="800"/>
              </a:spcAft>
              <a:defRPr sz="1400">
                <a:solidFill>
                  <a:srgbClr val="2C3E50"/>
                </a:solidFill>
                <a:latin typeface="Calibri"/>
              </a:defRPr>
            </a:pPr>
            <a:r>
              <a:t>• Best material set is the true one (εr = 6.0).</a:t>
            </a:r>
          </a:p>
          <a:p>
            <a:pPr lvl="1">
              <a:spcAft>
                <a:spcPts val="800"/>
              </a:spcAft>
              <a:defRPr sz="1400">
                <a:solidFill>
                  <a:srgbClr val="2C3E50"/>
                </a:solidFill>
                <a:latin typeface="Calibri"/>
              </a:defRPr>
            </a:pPr>
            <a:r>
              <a:t>• Rebar σ saturates above ≈ 10⁵ S/m (1e5, 1e6, 1e7 all behave the same — the rebar already acts as a perfect conductor).</a:t>
            </a:r>
          </a:p>
          <a:p>
            <a:pPr lvl="1">
              <a:spcAft>
                <a:spcPts val="800"/>
              </a:spcAft>
              <a:defRPr sz="1400">
                <a:solidFill>
                  <a:srgbClr val="2C3E50"/>
                </a:solidFill>
                <a:latin typeface="Calibri"/>
              </a:defRPr>
            </a:pPr>
            <a:r>
              <a:t>• Best radius is 6.0 mm; distinct-radius margin against r = 6.2 mm is J = 1.04 × 10⁻³ (J = least-squares misfit).</a:t>
            </a:r>
          </a:p>
          <a:p>
            <a:pPr>
              <a:spcAft>
                <a:spcPts val="800"/>
              </a:spcAft>
              <a:defRPr sz="1400">
                <a:solidFill>
                  <a:srgbClr val="2C3E50"/>
                </a:solidFill>
                <a:latin typeface="Calibri"/>
              </a:defRPr>
            </a:pPr>
          </a:p>
          <a:p>
            <a:pPr>
              <a:spcAft>
                <a:spcPts val="800"/>
              </a:spcAft>
              <a:defRPr sz="1400">
                <a:solidFill>
                  <a:srgbClr val="2C3E50"/>
                </a:solidFill>
                <a:latin typeface="Calibri"/>
              </a:defRPr>
            </a:pPr>
            <a:r>
              <a:t>Decision: do not add material parameters to the radius optimiser at this stage.</a:t>
            </a:r>
          </a:p>
        </p:txBody>
      </p:sp>
      <p:pic>
        <p:nvPicPr>
          <p:cNvPr id="9" name="Picture 8" descr="material_profiled_radius.png"/>
          <p:cNvPicPr>
            <a:picLocks noChangeAspect="1"/>
          </p:cNvPicPr>
          <p:nvPr/>
        </p:nvPicPr>
        <p:blipFill>
          <a:blip r:embed="rId2"/>
          <a:stretch>
            <a:fillRect/>
          </a:stretch>
        </p:blipFill>
        <p:spPr>
          <a:xfrm>
            <a:off x="6400800" y="1280160"/>
            <a:ext cx="5577840" cy="331089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04</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Wavelet mismatch — the key new finding</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What breaks the pipeline first when we leave the synthetic comfort zone</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Source-wavelet mismatch — does radius survive?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Perturb only the observed source pulse; modelled source stays nominal</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052–055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42</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Real data don't have a perfectly known source pulse. If the observed source differs from the modelled one in amplitude, time-zero, or centre frequency (fc), does the radius selection still hold?</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a wavelet-mismatch runner. Held the modelled source at nominal 1.5 GHz Ricker; perturbed only the observed source across seven cases. Case-code legend: nominal = no change; fc_low10 / fc_high10 = source centre frequency ×0.9 or ×1.1; delay_±50 ps = observed source shifted later (+50 ps) or earlier (−50 ps); amp_low10 / amp_high10 = observed source scaled by 0.9 or 1.1. Same local radius grid as the frequency-weighting matrix.</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Pure amplitude mismatch shifts the best radius by one grid step.</a:t>
            </a:r>
          </a:p>
          <a:p>
            <a:pPr>
              <a:spcAft>
                <a:spcPts val="600"/>
              </a:spcAft>
              <a:defRPr sz="1400">
                <a:solidFill>
                  <a:srgbClr val="2C3E50"/>
                </a:solidFill>
                <a:latin typeface="Calibri"/>
              </a:defRPr>
            </a:pPr>
            <a:r>
              <a:t>Pure centre-frequency or time-delay mismatch can peg the best radius to the grid bound (5.4 or 7.8 mm).</a:t>
            </a:r>
          </a:p>
          <a:p>
            <a:pPr>
              <a:spcAft>
                <a:spcPts val="600"/>
              </a:spcAft>
              <a:defRPr sz="1400">
                <a:solidFill>
                  <a:srgbClr val="2C3E50"/>
                </a:solidFill>
                <a:latin typeface="Calibri"/>
              </a:defRPr>
            </a:pPr>
            <a:r>
              <a:t>Adding source profiling one nuisance parameter at a time (amplitude → + time → + frequency-scale) recovers the true radius.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Raw mismatch — radius pegged to the grid bound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Fixed-source least-squares (LS) with no nuisance parameters fit per candidate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052</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43</a:t>
            </a:r>
          </a:p>
        </p:txBody>
      </p:sp>
      <p:pic>
        <p:nvPicPr>
          <p:cNvPr id="8" name="Picture 7" descr="wavelet_mismatch_radius_profiles.png"/>
          <p:cNvPicPr>
            <a:picLocks noChangeAspect="1"/>
          </p:cNvPicPr>
          <p:nvPr/>
        </p:nvPicPr>
        <p:blipFill>
          <a:blip r:embed="rId2"/>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Case codes: fc_low10 / fc_high10 = observed centre frequency ×0.9 / ×1.1; delay_±50 ps = observed source shifted later / earlier by 50 ps; amp_low10 / amp_high10 = observed amplitude ×0.9 / ×1.1. Only the nominal and amp_low10 curves keep their minimum at r = 6.0 mm — the four fc / delay cases push the minimum to the lower (5.4 mm) or upper (7.8 mm) radius bound.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 amplitude scalar fit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Fix amplitude mismatch first — fit one scalar amplitude per candidate (closed form, essentially free)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053</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44</a:t>
            </a:r>
          </a:p>
        </p:txBody>
      </p:sp>
      <p:pic>
        <p:nvPicPr>
          <p:cNvPr id="8" name="Picture 7" descr="wavelet_mismatch_radius_profiles.png"/>
          <p:cNvPicPr>
            <a:picLocks noChangeAspect="1"/>
          </p:cNvPicPr>
          <p:nvPr/>
        </p:nvPicPr>
        <p:blipFill>
          <a:blip r:embed="rId2"/>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Amplitude mismatch is cleanly separated from radius. amp_high10 (observed amplitude ×1.1) returns to r = 6.0 mm; the four fc / delay cases (centre-frequency and time-shift perturbations) are unchanged.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 global time-shift grid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small ±80 ps time-shift profile to the nuisance fit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054</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45</a:t>
            </a:r>
          </a:p>
        </p:txBody>
      </p:sp>
      <p:pic>
        <p:nvPicPr>
          <p:cNvPr id="8" name="Picture 7" descr="wavelet_mismatch_radius_profiles.png"/>
          <p:cNvPicPr>
            <a:picLocks noChangeAspect="1"/>
          </p:cNvPicPr>
          <p:nvPr/>
        </p:nvPicPr>
        <p:blipFill>
          <a:blip r:embed="rId2"/>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Time-shift grid: {−80, −50, −25, 0, +25, +50, +80} ps applied globally per scan position (not per candidate). delay_±50 ps cases land back at r = 6.0 mm. The remaining failure is the fc_low10 / fc_high10 pair (centre-frequency ×0.9 / ×1.1) — bandwidth mismatch is not yet absorbed.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 frequency-scale profile — all cases recover</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Add a small centre-frequency scale grid (fc_scale ∈ {0.9, 1.0, 1.1}) to the source profile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055</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46</a:t>
            </a:r>
          </a:p>
        </p:txBody>
      </p:sp>
      <p:pic>
        <p:nvPicPr>
          <p:cNvPr id="8" name="Picture 7" descr="wavelet_mismatch_radius_profiles.png"/>
          <p:cNvPicPr>
            <a:picLocks noChangeAspect="1"/>
          </p:cNvPicPr>
          <p:nvPr/>
        </p:nvPicPr>
        <p:blipFill>
          <a:blip r:embed="rId2"/>
          <a:stretch>
            <a:fillRect/>
          </a:stretch>
        </p:blipFill>
        <p:spPr>
          <a:xfrm>
            <a:off x="2248684" y="1280160"/>
            <a:ext cx="7694326"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Per-candidate nuisance fit is now: amplitude scalar + global time-shift + centre-frequency scale. All seven mismatch cases collapse onto a clean V at the true r = 6.0 mm. Distinct-radius margin (objective gap to r = 6.2 mm) ranges from 4.55 × 10⁻⁴ (fc_low10) to 1.20 × 10⁻³ (fc_high10).</a:t>
            </a:r>
          </a:p>
        </p:txBody>
      </p:sp>
      <p:sp>
        <p:nvSpPr>
          <p:cNvPr id="10" name="TextBox 9"/>
          <p:cNvSpPr txBox="1"/>
          <p:nvPr/>
        </p:nvSpPr>
        <p:spPr>
          <a:xfrm>
            <a:off x="640080" y="6126480"/>
            <a:ext cx="10972800" cy="457200"/>
          </a:xfrm>
          <a:prstGeom prst="rect">
            <a:avLst/>
          </a:prstGeom>
          <a:noFill/>
        </p:spPr>
        <p:txBody>
          <a:bodyPr wrap="square">
            <a:spAutoFit/>
          </a:bodyPr>
          <a:lstStyle/>
          <a:p>
            <a:pPr algn="l">
              <a:defRPr sz="1200" b="0" i="1">
                <a:solidFill>
                  <a:srgbClr val="E8913A"/>
                </a:solidFill>
                <a:latin typeface="Calibri"/>
              </a:defRPr>
            </a:pPr>
            <a:r>
              <a:t>This is the most important new contribution of this arc.</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05</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Source-profiled polish — synthesis</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Every surviving idea assembled into one runner</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Production source-profiled radius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What the recommended pipeline actually runs at the final stage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057–058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48</a:t>
            </a:r>
          </a:p>
        </p:txBody>
      </p:sp>
      <p:sp>
        <p:nvSpPr>
          <p:cNvPr id="8" name="TextBox 7"/>
          <p:cNvSpPr txBox="1"/>
          <p:nvPr/>
        </p:nvSpPr>
        <p:spPr>
          <a:xfrm>
            <a:off x="640080" y="1371600"/>
            <a:ext cx="10972800" cy="365760"/>
          </a:xfrm>
          <a:prstGeom prst="rect">
            <a:avLst/>
          </a:prstGeom>
          <a:noFill/>
        </p:spPr>
        <p:txBody>
          <a:bodyPr wrap="square">
            <a:spAutoFit/>
          </a:bodyPr>
          <a:lstStyle/>
          <a:p>
            <a:pPr algn="l">
              <a:defRPr sz="1400" b="1" i="0">
                <a:solidFill>
                  <a:srgbClr val="1A2332"/>
                </a:solidFill>
                <a:latin typeface="Calibri"/>
              </a:defRPr>
            </a:pPr>
            <a:r>
              <a:t>Hypothesis</a:t>
            </a:r>
          </a:p>
        </p:txBody>
      </p:sp>
      <p:sp>
        <p:nvSpPr>
          <p:cNvPr id="9" name="TextBox 8"/>
          <p:cNvSpPr txBox="1"/>
          <p:nvPr/>
        </p:nvSpPr>
        <p:spPr>
          <a:xfrm>
            <a:off x="640080" y="1737360"/>
            <a:ext cx="10972800" cy="822960"/>
          </a:xfrm>
          <a:prstGeom prst="rect">
            <a:avLst/>
          </a:prstGeom>
          <a:noFill/>
        </p:spPr>
        <p:txBody>
          <a:bodyPr wrap="square">
            <a:spAutoFit/>
          </a:bodyPr>
          <a:lstStyle/>
          <a:p>
            <a:pPr algn="l">
              <a:defRPr sz="1400" b="0" i="0">
                <a:solidFill>
                  <a:srgbClr val="2C3E50"/>
                </a:solidFill>
                <a:latin typeface="Calibri"/>
              </a:defRPr>
            </a:pPr>
            <a:r>
              <a:t>If the surviving ideas are right, a single runner that does (a) local x/z/r grid, (b) per-candidate amplitude + time-shift + frequency-scale source profile, and (c) top-k reporting should recover the true radius in both nominal and mismatched cases.</a:t>
            </a:r>
          </a:p>
        </p:txBody>
      </p:sp>
      <p:sp>
        <p:nvSpPr>
          <p:cNvPr id="10" name="TextBox 9"/>
          <p:cNvSpPr txBox="1"/>
          <p:nvPr/>
        </p:nvSpPr>
        <p:spPr>
          <a:xfrm>
            <a:off x="640080" y="2743200"/>
            <a:ext cx="10972800" cy="365760"/>
          </a:xfrm>
          <a:prstGeom prst="rect">
            <a:avLst/>
          </a:prstGeom>
          <a:noFill/>
        </p:spPr>
        <p:txBody>
          <a:bodyPr wrap="square">
            <a:spAutoFit/>
          </a:bodyPr>
          <a:lstStyle/>
          <a:p>
            <a:pPr algn="l">
              <a:defRPr sz="1400" b="1" i="0">
                <a:solidFill>
                  <a:srgbClr val="1A2332"/>
                </a:solidFill>
                <a:latin typeface="Calibri"/>
              </a:defRPr>
            </a:pPr>
            <a:r>
              <a:t>What we did</a:t>
            </a:r>
          </a:p>
        </p:txBody>
      </p:sp>
      <p:sp>
        <p:nvSpPr>
          <p:cNvPr id="11" name="TextBox 10"/>
          <p:cNvSpPr txBox="1"/>
          <p:nvPr/>
        </p:nvSpPr>
        <p:spPr>
          <a:xfrm>
            <a:off x="640080" y="3108960"/>
            <a:ext cx="10972800" cy="1280160"/>
          </a:xfrm>
          <a:prstGeom prst="rect">
            <a:avLst/>
          </a:prstGeom>
          <a:noFill/>
        </p:spPr>
        <p:txBody>
          <a:bodyPr wrap="square">
            <a:spAutoFit/>
          </a:bodyPr>
          <a:lstStyle/>
          <a:p>
            <a:pPr algn="l">
              <a:defRPr sz="1400" b="0" i="0">
                <a:solidFill>
                  <a:srgbClr val="2C3E50"/>
                </a:solidFill>
                <a:latin typeface="Calibri"/>
              </a:defRPr>
            </a:pPr>
            <a:r>
              <a:t>Built run_single_rebar_source_profiled_polish.py. Validated it on a nominal smoke run and a combined-mismatch run with injected fc = 1.1, shift = -50 ps, amplitude = 1.1.</a:t>
            </a:r>
          </a:p>
        </p:txBody>
      </p:sp>
      <p:sp>
        <p:nvSpPr>
          <p:cNvPr id="12" name="TextBox 11"/>
          <p:cNvSpPr txBox="1"/>
          <p:nvPr/>
        </p:nvSpPr>
        <p:spPr>
          <a:xfrm>
            <a:off x="640080" y="4572000"/>
            <a:ext cx="10972800" cy="365760"/>
          </a:xfrm>
          <a:prstGeom prst="rect">
            <a:avLst/>
          </a:prstGeom>
          <a:noFill/>
        </p:spPr>
        <p:txBody>
          <a:bodyPr wrap="square">
            <a:spAutoFit/>
          </a:bodyPr>
          <a:lstStyle/>
          <a:p>
            <a:pPr algn="l">
              <a:defRPr sz="1400" b="1" i="0">
                <a:solidFill>
                  <a:srgbClr val="E8913A"/>
                </a:solidFill>
                <a:latin typeface="Calibri"/>
              </a:defRPr>
            </a:pPr>
            <a:r>
              <a:t>What we'll see</a:t>
            </a:r>
          </a:p>
        </p:txBody>
      </p:sp>
      <p:sp>
        <p:nvSpPr>
          <p:cNvPr id="13" name="TextBox 12"/>
          <p:cNvSpPr txBox="1"/>
          <p:nvPr/>
        </p:nvSpPr>
        <p:spPr>
          <a:xfrm>
            <a:off x="640080" y="4983480"/>
            <a:ext cx="10972800" cy="1828800"/>
          </a:xfrm>
          <a:prstGeom prst="rect">
            <a:avLst/>
          </a:prstGeom>
          <a:noFill/>
        </p:spPr>
        <p:txBody>
          <a:bodyPr wrap="square">
            <a:spAutoFit/>
          </a:bodyPr>
          <a:lstStyle/>
          <a:p>
            <a:pPr>
              <a:spcAft>
                <a:spcPts val="600"/>
              </a:spcAft>
              <a:defRPr sz="1400">
                <a:solidFill>
                  <a:srgbClr val="2C3E50"/>
                </a:solidFill>
                <a:latin typeface="Calibri"/>
              </a:defRPr>
            </a:pPr>
            <a:r>
              <a:t>Nominal case: best r = 6.0 mm, margin 9.815e-4. Source profile recovers truth (fc=1.0, shift=0, amp=1.0).</a:t>
            </a:r>
          </a:p>
          <a:p>
            <a:pPr>
              <a:spcAft>
                <a:spcPts val="600"/>
              </a:spcAft>
              <a:defRPr sz="1400">
                <a:solidFill>
                  <a:srgbClr val="2C3E50"/>
                </a:solidFill>
                <a:latin typeface="Calibri"/>
              </a:defRPr>
            </a:pPr>
            <a:r>
              <a:t>Combined mismatch: best r = 6.0 mm, margin 1.146e-3. Source profile recovers fc=1.1, shift=-50 ps, amp=1.1.</a:t>
            </a:r>
          </a:p>
          <a:p>
            <a:pPr>
              <a:spcAft>
                <a:spcPts val="600"/>
              </a:spcAft>
              <a:defRPr sz="1400">
                <a:solidFill>
                  <a:srgbClr val="2C3E50"/>
                </a:solidFill>
                <a:latin typeface="Calibri"/>
              </a:defRPr>
            </a:pPr>
            <a:r>
              <a:t>Confidence is reported as top-k candidates and distinct-radius margin, not a single point estimate.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Nominal source-profiled polish</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No injected source mismatch — confirms the runner reproduces the exact-synthetic case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057</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49</a:t>
            </a:r>
          </a:p>
        </p:txBody>
      </p:sp>
      <p:pic>
        <p:nvPicPr>
          <p:cNvPr id="8" name="Picture 7" descr="source_profiled_radius_profile.png"/>
          <p:cNvPicPr>
            <a:picLocks noChangeAspect="1"/>
          </p:cNvPicPr>
          <p:nvPr/>
        </p:nvPicPr>
        <p:blipFill>
          <a:blip r:embed="rId2"/>
          <a:stretch>
            <a:fillRect/>
          </a:stretch>
        </p:blipFill>
        <p:spPr>
          <a:xfrm>
            <a:off x="2343298" y="1280160"/>
            <a:ext cx="7505097"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Best r = 6.0 mm at (x = 250.0 mm, z = 90.0 mm). Recovered source profile lands at (fc_scale = 1.0 = unchanged centre frequency, shift = 0 ps, amp = 1.000 = unchanged amplitude). Next-distinct radius is r = 6.2 mm with objective gap 9.815 × 10⁻⁴.</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400" b="1">
                <a:solidFill>
                  <a:srgbClr val="1A2332"/>
                </a:solidFill>
                <a:latin typeface="Calibri"/>
              </a:defRPr>
            </a:pPr>
            <a:r>
              <a:t>Combined mismatch — joint recovery</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Injected fc_scale = 1.1, time shift = −50 ps, amp scale = 1.1 in the observed source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exp 058</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50</a:t>
            </a:r>
          </a:p>
        </p:txBody>
      </p:sp>
      <p:pic>
        <p:nvPicPr>
          <p:cNvPr id="8" name="Picture 7" descr="source_profiled_radius_profile.png"/>
          <p:cNvPicPr>
            <a:picLocks noChangeAspect="1"/>
          </p:cNvPicPr>
          <p:nvPr/>
        </p:nvPicPr>
        <p:blipFill>
          <a:blip r:embed="rId2"/>
          <a:stretch>
            <a:fillRect/>
          </a:stretch>
        </p:blipFill>
        <p:spPr>
          <a:xfrm>
            <a:off x="2343298" y="1280160"/>
            <a:ext cx="7505097" cy="4389120"/>
          </a:xfrm>
          <a:prstGeom prst="rect">
            <a:avLst/>
          </a:prstGeom>
        </p:spPr>
      </p:pic>
      <p:sp>
        <p:nvSpPr>
          <p:cNvPr id="9" name="TextBox 8"/>
          <p:cNvSpPr txBox="1"/>
          <p:nvPr/>
        </p:nvSpPr>
        <p:spPr>
          <a:xfrm>
            <a:off x="640080" y="5669280"/>
            <a:ext cx="10972800" cy="365760"/>
          </a:xfrm>
          <a:prstGeom prst="rect">
            <a:avLst/>
          </a:prstGeom>
          <a:noFill/>
        </p:spPr>
        <p:txBody>
          <a:bodyPr wrap="square">
            <a:spAutoFit/>
          </a:bodyPr>
          <a:lstStyle/>
          <a:p>
            <a:pPr algn="ctr">
              <a:defRPr sz="1100" i="1">
                <a:solidFill>
                  <a:srgbClr val="7F8C8D"/>
                </a:solidFill>
                <a:latin typeface="Calibri"/>
              </a:defRPr>
            </a:pPr>
            <a:r>
              <a:t>Best r = 6.0 mm at (x = 250.0 mm, z = 90.0 mm). Recovered source profile matches the injected one exactly: (fc_scale = 1.1, shift = −50 ps, amp = 1.100). Distinct-radius margin (J = least-squares misfit gap to next radius r = 6.2 mm) is 1.146 × 10⁻³.</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200" b="1">
                <a:solidFill>
                  <a:srgbClr val="1A2332"/>
                </a:solidFill>
                <a:latin typeface="Calibri"/>
              </a:defRPr>
            </a:pPr>
            <a:r>
              <a:t>Verdict by paper — what worked and what did not</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Concrete adoption / rejection per paper, with the experiment that justifies it</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conclusion</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51</a:t>
            </a:r>
          </a:p>
        </p:txBody>
      </p:sp>
      <p:graphicFrame>
        <p:nvGraphicFramePr>
          <p:cNvPr id="8" name="Table 7"/>
          <p:cNvGraphicFramePr>
            <a:graphicFrameLocks noGrp="1"/>
          </p:cNvGraphicFramePr>
          <p:nvPr/>
        </p:nvGraphicFramePr>
        <p:xfrm>
          <a:off x="365760" y="1280160"/>
          <a:ext cx="11475720" cy="5193792"/>
        </p:xfrm>
        <a:graphic>
          <a:graphicData uri="http://schemas.openxmlformats.org/drawingml/2006/table">
            <a:tbl>
              <a:tblPr firstRow="1" bandRow="1">
                <a:tableStyleId>{5C22544A-7EE6-4342-B048-85BDC9FD1C3A}</a:tableStyleId>
              </a:tblPr>
              <a:tblGrid>
                <a:gridCol w="2194560"/>
                <a:gridCol w="4663440"/>
                <a:gridCol w="4617720"/>
              </a:tblGrid>
              <a:tr h="365760">
                <a:tc>
                  <a:txBody>
                    <a:bodyPr/>
                    <a:lstStyle/>
                    <a:p>
                      <a:pPr algn="l"/>
                      <a:r>
                        <a:rPr sz="1200" b="1">
                          <a:solidFill>
                            <a:srgbClr val="FFFFFF"/>
                          </a:solidFill>
                          <a:latin typeface="Calibri"/>
                        </a:rPr>
                        <a:t>Paper / method</a:t>
                      </a:r>
                    </a:p>
                  </a:txBody>
                  <a:tcPr marL="73152" marR="45720" marT="36576" marB="36576">
                    <a:solidFill>
                      <a:srgbClr val="1A2332"/>
                    </a:solidFill>
                  </a:tcPr>
                </a:tc>
                <a:tc>
                  <a:txBody>
                    <a:bodyPr/>
                    <a:lstStyle/>
                    <a:p>
                      <a:pPr algn="l"/>
                      <a:r>
                        <a:rPr sz="1200" b="1">
                          <a:solidFill>
                            <a:srgbClr val="FFFFFF"/>
                          </a:solidFill>
                          <a:latin typeface="Calibri"/>
                        </a:rPr>
                        <a:t>What worked  ✓</a:t>
                      </a:r>
                    </a:p>
                  </a:txBody>
                  <a:tcPr marL="73152" marR="45720" marT="36576" marB="36576">
                    <a:solidFill>
                      <a:srgbClr val="1A2332"/>
                    </a:solidFill>
                  </a:tcPr>
                </a:tc>
                <a:tc>
                  <a:txBody>
                    <a:bodyPr/>
                    <a:lstStyle/>
                    <a:p>
                      <a:pPr algn="l"/>
                      <a:r>
                        <a:rPr sz="1200" b="1">
                          <a:solidFill>
                            <a:srgbClr val="FFFFFF"/>
                          </a:solidFill>
                          <a:latin typeface="Calibri"/>
                        </a:rPr>
                        <a:t>What did not work / deferred  ✗</a:t>
                      </a:r>
                    </a:p>
                  </a:txBody>
                  <a:tcPr marL="73152" marR="45720" marT="36576" marB="36576">
                    <a:solidFill>
                      <a:srgbClr val="1A2332"/>
                    </a:solidFill>
                  </a:tcPr>
                </a:tc>
              </a:tr>
              <a:tr h="804672">
                <a:tc>
                  <a:txBody>
                    <a:bodyPr wrap="square"/>
                    <a:lstStyle/>
                    <a:p>
                      <a:r>
                        <a:rPr sz="1100" b="1">
                          <a:solidFill>
                            <a:srgbClr val="1A2332"/>
                          </a:solidFill>
                          <a:latin typeface="Calibri"/>
                        </a:rPr>
                        <a:t>Paper 1 — WRI</a:t>
                      </a:r>
                      <a:br/>
                      <a:r>
                        <a:t>(Feng et al. 2022)</a:t>
                      </a:r>
                    </a:p>
                  </a:txBody>
                  <a:tcPr marL="73152" marR="45720" marT="45720" marB="45720">
                    <a:solidFill>
                      <a:srgbClr val="F4F6F8"/>
                    </a:solidFill>
                  </a:tcPr>
                </a:tc>
                <a:tc>
                  <a:txBody>
                    <a:bodyPr wrap="square"/>
                    <a:lstStyle/>
                    <a:p>
                      <a:r>
                        <a:rPr sz="1000">
                          <a:solidFill>
                            <a:srgbClr val="2C3E50"/>
                          </a:solidFill>
                          <a:latin typeface="Calibri"/>
                        </a:rPr>
                        <a:t>Cumulative-frequency philosophy adopted as time-domain weighted LS.  carry_low_25 (25% × 1.0 GHz + 1.0 × 1.5 GHz) preserves ~80% of the 1.5 GHz-only radius margin while keeping a low-frequency contribution.</a:t>
                      </a:r>
                      <a:br/>
                      <a:r>
                        <a:t>[exp 046–049]</a:t>
                      </a:r>
                    </a:p>
                  </a:txBody>
                  <a:tcPr marL="91440" marR="73152" marT="45720" marB="45720">
                    <a:solidFill>
                      <a:srgbClr val="E6F5EC"/>
                    </a:solidFill>
                  </a:tcPr>
                </a:tc>
                <a:tc>
                  <a:txBody>
                    <a:bodyPr wrap="square"/>
                    <a:lstStyle/>
                    <a:p>
                      <a:r>
                        <a:rPr sz="1000">
                          <a:solidFill>
                            <a:srgbClr val="2C3E50"/>
                          </a:solidFill>
                          <a:latin typeface="Calibri"/>
                        </a:rPr>
                        <a:t>Full WRI solver itself — would require a new frequency-domain Helmholtz/Maxwell operator, complex sparse solves, and a new adjoint. Deferred; the current radius bias is already explained by source handling.</a:t>
                      </a:r>
                      <a:br/>
                      <a:r>
                        <a:t>[doc 28]</a:t>
                      </a:r>
                    </a:p>
                  </a:txBody>
                  <a:tcPr marL="91440" marR="73152" marT="45720" marB="45720">
                    <a:solidFill>
                      <a:srgbClr val="FAE5E2"/>
                    </a:solidFill>
                  </a:tcPr>
                </a:tc>
              </a:tr>
              <a:tr h="804672">
                <a:tc>
                  <a:txBody>
                    <a:bodyPr wrap="square"/>
                    <a:lstStyle/>
                    <a:p>
                      <a:r>
                        <a:rPr sz="1100" b="1">
                          <a:solidFill>
                            <a:srgbClr val="1A2332"/>
                          </a:solidFill>
                          <a:latin typeface="Calibri"/>
                        </a:rPr>
                        <a:t>Paper 2 — PEBDD</a:t>
                      </a:r>
                      <a:br/>
                      <a:r>
                        <a:t>(Zhou et al. 2021)</a:t>
                      </a:r>
                    </a:p>
                  </a:txBody>
                  <a:tcPr marL="73152" marR="45720" marT="45720" marB="45720">
                    <a:solidFill>
                      <a:srgbClr val="F4F6F8"/>
                    </a:solidFill>
                  </a:tcPr>
                </a:tc>
                <a:tc>
                  <a:txBody>
                    <a:bodyPr wrap="square"/>
                    <a:lstStyle/>
                    <a:p>
                      <a:r>
                        <a:rPr sz="1000">
                          <a:solidFill>
                            <a:srgbClr val="2C3E50"/>
                          </a:solidFill>
                          <a:latin typeface="Calibri"/>
                        </a:rPr>
                        <a:t>Matched-filter trace band-pass (same filter on observed and synthetic) as the seed-builder stage. Spectrum-design tool to choose band edges from real residual spectra rather than guesses.</a:t>
                      </a:r>
                      <a:br/>
                      <a:r>
                        <a:t>[exp 028–045]</a:t>
                      </a:r>
                    </a:p>
                  </a:txBody>
                  <a:tcPr marL="91440" marR="73152" marT="45720" marB="45720">
                    <a:solidFill>
                      <a:srgbClr val="E6F5EC"/>
                    </a:solidFill>
                  </a:tcPr>
                </a:tc>
                <a:tc>
                  <a:txBody>
                    <a:bodyPr wrap="square"/>
                    <a:lstStyle/>
                    <a:p>
                      <a:r>
                        <a:rPr sz="1000">
                          <a:solidFill>
                            <a:srgbClr val="2C3E50"/>
                          </a:solidFill>
                          <a:latin typeface="Calibri"/>
                        </a:rPr>
                        <a:t>PEBDD did not fix radius on its own. Every Powell stage stopped in the high-radius basin (r ≈ 6.86–6.93 mm). The polish stage was still the radius selector. Use PEBDD as a seed-builder only.</a:t>
                      </a:r>
                      <a:br/>
                      <a:r>
                        <a:t>[exp 031, 045]</a:t>
                      </a:r>
                    </a:p>
                  </a:txBody>
                  <a:tcPr marL="91440" marR="73152" marT="45720" marB="45720">
                    <a:solidFill>
                      <a:srgbClr val="FAE5E2"/>
                    </a:solidFill>
                  </a:tcPr>
                </a:tc>
              </a:tr>
              <a:tr h="804672">
                <a:tc>
                  <a:txBody>
                    <a:bodyPr wrap="square"/>
                    <a:lstStyle/>
                    <a:p>
                      <a:r>
                        <a:rPr sz="1100" b="1">
                          <a:solidFill>
                            <a:srgbClr val="1A2332"/>
                          </a:solidFill>
                          <a:latin typeface="Calibri"/>
                        </a:rPr>
                        <a:t>Paper 3 — OT-LS</a:t>
                      </a:r>
                      <a:br/>
                      <a:r>
                        <a:t>(Hunziker et al. 2025)</a:t>
                      </a:r>
                    </a:p>
                  </a:txBody>
                  <a:tcPr marL="73152" marR="45720" marT="45720" marB="45720">
                    <a:solidFill>
                      <a:srgbClr val="F4F6F8"/>
                    </a:solidFill>
                  </a:tcPr>
                </a:tc>
                <a:tc>
                  <a:txBody>
                    <a:bodyPr wrap="square"/>
                    <a:lstStyle/>
                    <a:p>
                      <a:r>
                        <a:rPr sz="1000">
                          <a:solidFill>
                            <a:srgbClr val="2C3E50"/>
                          </a:solidFill>
                          <a:latin typeface="Calibri"/>
                        </a:rPr>
                        <a:t>NRCCC trace-shift diagnostic implemented and saved in every run summary. Useful as a safety check for future field-data and poor-initial-model scenarios.</a:t>
                      </a:r>
                      <a:br/>
                      <a:r>
                        <a:t>[exp 024–027]</a:t>
                      </a:r>
                    </a:p>
                  </a:txBody>
                  <a:tcPr marL="91440" marR="73152" marT="45720" marB="45720">
                    <a:solidFill>
                      <a:srgbClr val="E6F5EC"/>
                    </a:solidFill>
                  </a:tcPr>
                </a:tc>
                <a:tc>
                  <a:txBody>
                    <a:bodyPr wrap="square"/>
                    <a:lstStyle/>
                    <a:p>
                      <a:r>
                        <a:rPr sz="1000">
                          <a:solidFill>
                            <a:srgbClr val="2C3E50"/>
                          </a:solidFill>
                          <a:latin typeface="Calibri"/>
                        </a:rPr>
                        <a:t>OT objective inside the optimiser was ruled out. Every wrong-radius candidate, including under 10% noise, already had NRCCC = 1.0 — the radius problem is not cycle skipping. OT brings no benefit here.</a:t>
                      </a:r>
                      <a:br/>
                      <a:r>
                        <a:t>[exp 024–026]</a:t>
                      </a:r>
                    </a:p>
                  </a:txBody>
                  <a:tcPr marL="91440" marR="73152" marT="45720" marB="45720">
                    <a:solidFill>
                      <a:srgbClr val="FAE5E2"/>
                    </a:solidFill>
                  </a:tcPr>
                </a:tc>
              </a:tr>
              <a:tr h="804672">
                <a:tc>
                  <a:txBody>
                    <a:bodyPr wrap="square"/>
                    <a:lstStyle/>
                    <a:p>
                      <a:r>
                        <a:rPr sz="1100" b="1">
                          <a:solidFill>
                            <a:srgbClr val="1A2332"/>
                          </a:solidFill>
                          <a:latin typeface="Calibri"/>
                        </a:rPr>
                        <a:t>Paper 4 — W2</a:t>
                      </a:r>
                      <a:br/>
                      <a:r>
                        <a:t>(Lu et al. 2024)</a:t>
                      </a:r>
                    </a:p>
                  </a:txBody>
                  <a:tcPr marL="73152" marR="45720" marT="45720" marB="45720">
                    <a:solidFill>
                      <a:srgbClr val="F4F6F8"/>
                    </a:solidFill>
                  </a:tcPr>
                </a:tc>
                <a:tc>
                  <a:txBody>
                    <a:bodyPr wrap="square"/>
                    <a:lstStyle/>
                    <a:p>
                      <a:r>
                        <a:rPr sz="1000">
                          <a:solidFill>
                            <a:srgbClr val="2C3E50"/>
                          </a:solidFill>
                          <a:latin typeface="Calibri"/>
                        </a:rPr>
                        <a:t>Standalone Softplus / Sinkhorn W2 module with tests, used as a landscape gate. Paper's shift-convexity claim reproduced on shifted Ricker pulses (gate 1 passed).</a:t>
                      </a:r>
                      <a:br/>
                      <a:r>
                        <a:t>[exp 048]</a:t>
                      </a:r>
                    </a:p>
                  </a:txBody>
                  <a:tcPr marL="91440" marR="73152" marT="45720" marB="45720">
                    <a:solidFill>
                      <a:srgbClr val="E6F5EC"/>
                    </a:solidFill>
                  </a:tcPr>
                </a:tc>
                <a:tc>
                  <a:txBody>
                    <a:bodyPr wrap="square"/>
                    <a:lstStyle/>
                    <a:p>
                      <a:r>
                        <a:rPr sz="1000">
                          <a:solidFill>
                            <a:srgbClr val="2C3E50"/>
                          </a:solidFill>
                          <a:latin typeface="Calibri"/>
                        </a:rPr>
                        <a:t>W2 as the final radius objective. On the rebar landscape the margin collapsed from 1.04 × 10⁻³ (LS) to 1.06 × 10⁻⁷ (W2) — Softplus removes the amplitude content radius depends on. Rejected.</a:t>
                      </a:r>
                      <a:br/>
                      <a:r>
                        <a:t>[exp 050, 051]</a:t>
                      </a:r>
                    </a:p>
                  </a:txBody>
                  <a:tcPr marL="91440" marR="73152" marT="45720" marB="45720">
                    <a:solidFill>
                      <a:srgbClr val="FAE5E2"/>
                    </a:solidFill>
                  </a:tcPr>
                </a:tc>
              </a:tr>
              <a:tr h="804672">
                <a:tc>
                  <a:txBody>
                    <a:bodyPr wrap="square"/>
                    <a:lstStyle/>
                    <a:p>
                      <a:r>
                        <a:rPr sz="1100" b="1">
                          <a:solidFill>
                            <a:srgbClr val="1A2332"/>
                          </a:solidFill>
                          <a:latin typeface="Calibri"/>
                        </a:rPr>
                        <a:t>Paper 5 — IFWI</a:t>
                      </a:r>
                      <a:br/>
                      <a:r>
                        <a:t>(Sun et al. 2025)</a:t>
                      </a:r>
                    </a:p>
                  </a:txBody>
                  <a:tcPr marL="73152" marR="45720" marT="45720" marB="45720">
                    <a:solidFill>
                      <a:srgbClr val="F4F6F8"/>
                    </a:solidFill>
                  </a:tcPr>
                </a:tc>
                <a:tc>
                  <a:txBody>
                    <a:bodyPr wrap="square"/>
                    <a:lstStyle/>
                    <a:p>
                      <a:r>
                        <a:rPr sz="1000">
                          <a:solidFill>
                            <a:srgbClr val="2C3E50"/>
                          </a:solidFill>
                          <a:latin typeface="Calibri"/>
                        </a:rPr>
                        <a:t>Frequency-principle thinking — smooth structure before detail — already implicit in our staged pipeline (coarse → fine → polish).</a:t>
                      </a:r>
                      <a:br/>
                      <a:r>
                        <a:t>[design]</a:t>
                      </a:r>
                    </a:p>
                  </a:txBody>
                  <a:tcPr marL="91440" marR="73152" marT="45720" marB="45720">
                    <a:solidFill>
                      <a:srgbClr val="E6F5EC"/>
                    </a:solidFill>
                  </a:tcPr>
                </a:tc>
                <a:tc>
                  <a:txBody>
                    <a:bodyPr wrap="square"/>
                    <a:lstStyle/>
                    <a:p>
                      <a:r>
                        <a:rPr sz="1000">
                          <a:solidFill>
                            <a:srgbClr val="2C3E50"/>
                          </a:solidFill>
                          <a:latin typeface="Calibri"/>
                        </a:rPr>
                        <a:t>Full neural implicit field — flexible neural residual would risk absorbing radius bias into a 'background correction', making radius less meaningful, not more. Deferred to multi-rebar / field data.</a:t>
                      </a:r>
                      <a:br/>
                      <a:r>
                        <a:t>[doc 29]</a:t>
                      </a:r>
                    </a:p>
                  </a:txBody>
                  <a:tcPr marL="91440" marR="73152" marT="45720" marB="45720">
                    <a:solidFill>
                      <a:srgbClr val="FAE5E2"/>
                    </a:solidFill>
                  </a:tcPr>
                </a:tc>
              </a:tr>
              <a:tr h="804672">
                <a:tc>
                  <a:txBody>
                    <a:bodyPr wrap="square"/>
                    <a:lstStyle/>
                    <a:p>
                      <a:r>
                        <a:rPr sz="1100" b="1">
                          <a:solidFill>
                            <a:srgbClr val="1A2332"/>
                          </a:solidFill>
                          <a:latin typeface="Calibri"/>
                        </a:rPr>
                        <a:t>Additional finding</a:t>
                      </a:r>
                      <a:br/>
                      <a:r>
                        <a:t>(beyond the 5 papers)</a:t>
                      </a:r>
                    </a:p>
                  </a:txBody>
                  <a:tcPr marL="73152" marR="45720" marT="45720" marB="45720">
                    <a:solidFill>
                      <a:srgbClr val="F4F6F8"/>
                    </a:solidFill>
                  </a:tcPr>
                </a:tc>
                <a:tc>
                  <a:txBody>
                    <a:bodyPr wrap="square"/>
                    <a:lstStyle/>
                    <a:p>
                      <a:r>
                        <a:rPr sz="1000">
                          <a:solidFill>
                            <a:srgbClr val="2C3E50"/>
                          </a:solidFill>
                          <a:latin typeface="Calibri"/>
                        </a:rPr>
                        <a:t>Source-wavelet profiling — per-candidate amplitude scalar + global time-shift + centre-frequency scale grid. Recovers radius even when the modelled source differs from the observed one (all seven mismatch cases land at r = 6.0 mm).</a:t>
                      </a:r>
                      <a:br/>
                      <a:r>
                        <a:t>[exp 052–055, productionised in 057, 058]</a:t>
                      </a:r>
                    </a:p>
                  </a:txBody>
                  <a:tcPr marL="91440" marR="73152" marT="45720" marB="45720">
                    <a:solidFill>
                      <a:srgbClr val="E6F5EC"/>
                    </a:solidFill>
                  </a:tcPr>
                </a:tc>
                <a:tc>
                  <a:txBody>
                    <a:bodyPr wrap="square"/>
                    <a:lstStyle/>
                    <a:p>
                      <a:r>
                        <a:rPr sz="1000">
                          <a:solidFill>
                            <a:srgbClr val="2C3E50"/>
                          </a:solidFill>
                          <a:latin typeface="Calibri"/>
                        </a:rPr>
                        <a:t>Fixed-source LS alone — bias to the radius grid bound under modest fc or time-zero mismatch. Cannot be relied on for field data without the source profile.</a:t>
                      </a:r>
                      <a:br/>
                      <a:r>
                        <a:t>[exp 052]</a:t>
                      </a:r>
                    </a:p>
                  </a:txBody>
                  <a:tcPr marL="91440" marR="73152" marT="45720" marB="45720">
                    <a:solidFill>
                      <a:srgbClr val="FAE5E2"/>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828800"/>
            <a:ext cx="1828800" cy="914400"/>
          </a:xfrm>
          <a:prstGeom prst="rect">
            <a:avLst/>
          </a:prstGeom>
          <a:noFill/>
        </p:spPr>
        <p:txBody>
          <a:bodyPr wrap="square">
            <a:spAutoFit/>
          </a:bodyPr>
          <a:lstStyle/>
          <a:p>
            <a:pPr algn="l">
              <a:defRPr sz="7200" b="1" i="0">
                <a:solidFill>
                  <a:srgbClr val="E8913A"/>
                </a:solidFill>
                <a:latin typeface="Calibri"/>
              </a:defRPr>
            </a:pPr>
            <a:r>
              <a:t>06</a:t>
            </a:r>
          </a:p>
        </p:txBody>
      </p:sp>
      <p:sp>
        <p:nvSpPr>
          <p:cNvPr id="4" name="Rectangle 3"/>
          <p:cNvSpPr/>
          <p:nvPr/>
        </p:nvSpPr>
        <p:spPr>
          <a:xfrm>
            <a:off x="3108960" y="2011680"/>
            <a:ext cx="36576" cy="2194560"/>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0" y="2103120"/>
            <a:ext cx="8046720" cy="1645920"/>
          </a:xfrm>
          <a:prstGeom prst="rect">
            <a:avLst/>
          </a:prstGeom>
          <a:noFill/>
        </p:spPr>
        <p:txBody>
          <a:bodyPr wrap="square">
            <a:spAutoFit/>
          </a:bodyPr>
          <a:lstStyle/>
          <a:p>
            <a:pPr>
              <a:defRPr sz="2800" b="1">
                <a:solidFill>
                  <a:srgbClr val="FFFFFF"/>
                </a:solidFill>
                <a:latin typeface="Calibri"/>
              </a:defRPr>
            </a:pPr>
            <a:r>
              <a:t>Deferred branches and what's next</a:t>
            </a:r>
          </a:p>
        </p:txBody>
      </p:sp>
      <p:sp>
        <p:nvSpPr>
          <p:cNvPr id="6" name="TextBox 5"/>
          <p:cNvSpPr txBox="1"/>
          <p:nvPr/>
        </p:nvSpPr>
        <p:spPr>
          <a:xfrm>
            <a:off x="3657600" y="3840480"/>
            <a:ext cx="8046720" cy="731520"/>
          </a:xfrm>
          <a:prstGeom prst="rect">
            <a:avLst/>
          </a:prstGeom>
          <a:noFill/>
        </p:spPr>
        <p:txBody>
          <a:bodyPr wrap="square">
            <a:spAutoFit/>
          </a:bodyPr>
          <a:lstStyle/>
          <a:p>
            <a:pPr algn="l">
              <a:defRPr sz="1600" b="0" i="1">
                <a:solidFill>
                  <a:srgbClr val="AABBCC"/>
                </a:solidFill>
                <a:latin typeface="Calibri"/>
              </a:defRPr>
            </a:pPr>
            <a:r>
              <a:t>What we are explicitly not building next, and what we are doing instead</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What we deferred</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Documented in 28 / 29 trackers; reserved for later stages</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docs 28 + 29</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53</a:t>
            </a:r>
          </a:p>
        </p:txBody>
      </p:sp>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1508760"/>
            <a:ext cx="5394960" cy="548640"/>
          </a:xfrm>
          <a:prstGeom prst="rect">
            <a:avLst/>
          </a:prstGeom>
          <a:noFill/>
        </p:spPr>
        <p:txBody>
          <a:bodyPr wrap="square">
            <a:spAutoFit/>
          </a:bodyPr>
          <a:lstStyle/>
          <a:p>
            <a:pPr algn="ctr">
              <a:defRPr sz="1800" b="1" i="0">
                <a:solidFill>
                  <a:srgbClr val="1A2332"/>
                </a:solidFill>
                <a:latin typeface="Calibri"/>
              </a:defRPr>
            </a:pPr>
            <a:r>
              <a:t>WRI (full)</a:t>
            </a:r>
          </a:p>
        </p:txBody>
      </p:sp>
      <p:sp>
        <p:nvSpPr>
          <p:cNvPr id="10" name="TextBox 9"/>
          <p:cNvSpPr txBox="1"/>
          <p:nvPr/>
        </p:nvSpPr>
        <p:spPr>
          <a:xfrm>
            <a:off x="82296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Needs a new frequency-domain Helmholtz / Maxwell operator</a:t>
            </a:r>
          </a:p>
          <a:p>
            <a:pPr>
              <a:spcAft>
                <a:spcPts val="800"/>
              </a:spcAft>
              <a:defRPr sz="1300">
                <a:solidFill>
                  <a:srgbClr val="2C3E50"/>
                </a:solidFill>
                <a:latin typeface="Calibri"/>
              </a:defRPr>
            </a:pPr>
            <a:r>
              <a:t>Complex sparse solves at large grid</a:t>
            </a:r>
          </a:p>
          <a:p>
            <a:pPr>
              <a:spcAft>
                <a:spcPts val="800"/>
              </a:spcAft>
              <a:defRPr sz="1300">
                <a:solidFill>
                  <a:srgbClr val="2C3E50"/>
                </a:solidFill>
                <a:latin typeface="Calibri"/>
              </a:defRPr>
            </a:pPr>
            <a:r>
              <a:t>Frequency-domain adjoint and penalty continuation</a:t>
            </a:r>
          </a:p>
          <a:p>
            <a:pPr>
              <a:spcAft>
                <a:spcPts val="800"/>
              </a:spcAft>
              <a:defRPr sz="1300">
                <a:solidFill>
                  <a:srgbClr val="2C3E50"/>
                </a:solidFill>
                <a:latin typeface="Calibri"/>
              </a:defRPr>
            </a:pPr>
            <a:r>
              <a:t>Defer reason: radius is already well explained by source handling and weighted LS</a:t>
            </a:r>
          </a:p>
        </p:txBody>
      </p:sp>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1508760"/>
            <a:ext cx="5394960" cy="548640"/>
          </a:xfrm>
          <a:prstGeom prst="rect">
            <a:avLst/>
          </a:prstGeom>
          <a:noFill/>
        </p:spPr>
        <p:txBody>
          <a:bodyPr wrap="square">
            <a:spAutoFit/>
          </a:bodyPr>
          <a:lstStyle/>
          <a:p>
            <a:pPr algn="ctr">
              <a:defRPr sz="1800" b="1" i="0">
                <a:solidFill>
                  <a:srgbClr val="1A2332"/>
                </a:solidFill>
                <a:latin typeface="Calibri"/>
              </a:defRPr>
            </a:pPr>
            <a:r>
              <a:t>IFWI (neural implicit field)</a:t>
            </a:r>
          </a:p>
        </p:txBody>
      </p:sp>
      <p:sp>
        <p:nvSpPr>
          <p:cNvPr id="13" name="TextBox 12"/>
          <p:cNvSpPr txBox="1"/>
          <p:nvPr/>
        </p:nvSpPr>
        <p:spPr>
          <a:xfrm>
            <a:off x="649224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Flexible neural residual can absorb radius bias</a:t>
            </a:r>
          </a:p>
          <a:p>
            <a:pPr>
              <a:spcAft>
                <a:spcPts val="800"/>
              </a:spcAft>
              <a:defRPr sz="1300">
                <a:solidFill>
                  <a:srgbClr val="2C3E50"/>
                </a:solidFill>
                <a:latin typeface="Calibri"/>
              </a:defRPr>
            </a:pPr>
            <a:r>
              <a:t>Needs differentiable FDTD, held-out source validation, regularisation guardrails</a:t>
            </a:r>
          </a:p>
          <a:p>
            <a:pPr>
              <a:spcAft>
                <a:spcPts val="800"/>
              </a:spcAft>
              <a:defRPr sz="1300">
                <a:solidFill>
                  <a:srgbClr val="2C3E50"/>
                </a:solidFill>
                <a:latin typeface="Calibri"/>
              </a:defRPr>
            </a:pPr>
            <a:r>
              <a:t>Defer reason: not the right tool while explicit nuisance parameters still suffice</a:t>
            </a:r>
          </a:p>
          <a:p>
            <a:pPr>
              <a:spcAft>
                <a:spcPts val="800"/>
              </a:spcAft>
              <a:defRPr sz="1300">
                <a:solidFill>
                  <a:srgbClr val="2C3E50"/>
                </a:solidFill>
                <a:latin typeface="Calibri"/>
              </a:defRPr>
            </a:pPr>
            <a:r>
              <a:t>Reserved for multi-rebar / field-data stages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Recommended pipeline</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For controlled single-rebar synthetic data; transferable to field data with the source profile</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tracker 30 summary</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54</a:t>
            </a:r>
          </a:p>
        </p:txBody>
      </p:sp>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1508760"/>
            <a:ext cx="5394960" cy="548640"/>
          </a:xfrm>
          <a:prstGeom prst="rect">
            <a:avLst/>
          </a:prstGeom>
          <a:noFill/>
        </p:spPr>
        <p:txBody>
          <a:bodyPr wrap="square">
            <a:spAutoFit/>
          </a:bodyPr>
          <a:lstStyle/>
          <a:p>
            <a:pPr algn="ctr">
              <a:defRPr sz="1800" b="1" i="0">
                <a:solidFill>
                  <a:srgbClr val="1A2332"/>
                </a:solidFill>
                <a:latin typeface="Calibri"/>
              </a:defRPr>
            </a:pPr>
            <a:r>
              <a:t>What the pipeline does</a:t>
            </a:r>
          </a:p>
        </p:txBody>
      </p:sp>
      <p:sp>
        <p:nvSpPr>
          <p:cNvPr id="10" name="TextBox 9"/>
          <p:cNvSpPr txBox="1"/>
          <p:nvPr/>
        </p:nvSpPr>
        <p:spPr>
          <a:xfrm>
            <a:off x="82296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1. Bring x/z into the basin (staged or PEBDD path).</a:t>
            </a:r>
          </a:p>
          <a:p>
            <a:pPr>
              <a:spcAft>
                <a:spcPts val="800"/>
              </a:spcAft>
              <a:defRPr sz="1300">
                <a:solidFill>
                  <a:srgbClr val="2C3E50"/>
                </a:solidFill>
                <a:latin typeface="Calibri"/>
              </a:defRPr>
            </a:pPr>
            <a:r>
              <a:t>2. Final radius from 1.5 GHz-only LS or carry_low_25.</a:t>
            </a:r>
          </a:p>
          <a:p>
            <a:pPr>
              <a:spcAft>
                <a:spcPts val="800"/>
              </a:spcAft>
              <a:defRPr sz="1300">
                <a:solidFill>
                  <a:srgbClr val="2C3E50"/>
                </a:solidFill>
                <a:latin typeface="Calibri"/>
              </a:defRPr>
            </a:pPr>
            <a:r>
              <a:t>3. Local radius profiling / grid polish, not continuous Powell.</a:t>
            </a:r>
          </a:p>
          <a:p>
            <a:pPr>
              <a:spcAft>
                <a:spcPts val="800"/>
              </a:spcAft>
              <a:defRPr sz="1300">
                <a:solidFill>
                  <a:srgbClr val="2C3E50"/>
                </a:solidFill>
                <a:latin typeface="Calibri"/>
              </a:defRPr>
            </a:pPr>
            <a:r>
              <a:t>4. Profile source amplitude + time-shift + center-frequency scale at the final stage.</a:t>
            </a:r>
          </a:p>
          <a:p>
            <a:pPr>
              <a:spcAft>
                <a:spcPts val="800"/>
              </a:spcAft>
              <a:defRPr sz="1300">
                <a:solidFill>
                  <a:srgbClr val="2C3E50"/>
                </a:solidFill>
                <a:latin typeface="Calibri"/>
              </a:defRPr>
            </a:pPr>
            <a:r>
              <a:t>5. Report top-k candidates and distinct-radius margin.</a:t>
            </a:r>
          </a:p>
        </p:txBody>
      </p:sp>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1508760"/>
            <a:ext cx="5394960" cy="548640"/>
          </a:xfrm>
          <a:prstGeom prst="rect">
            <a:avLst/>
          </a:prstGeom>
          <a:noFill/>
        </p:spPr>
        <p:txBody>
          <a:bodyPr wrap="square">
            <a:spAutoFit/>
          </a:bodyPr>
          <a:lstStyle/>
          <a:p>
            <a:pPr algn="ctr">
              <a:defRPr sz="1800" b="1" i="0">
                <a:solidFill>
                  <a:srgbClr val="1A2332"/>
                </a:solidFill>
                <a:latin typeface="Calibri"/>
              </a:defRPr>
            </a:pPr>
            <a:r>
              <a:t>What we are explicitly not doing next</a:t>
            </a:r>
          </a:p>
        </p:txBody>
      </p:sp>
      <p:sp>
        <p:nvSpPr>
          <p:cNvPr id="13" name="TextBox 12"/>
          <p:cNvSpPr txBox="1"/>
          <p:nvPr/>
        </p:nvSpPr>
        <p:spPr>
          <a:xfrm>
            <a:off x="649224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Another broad global search.</a:t>
            </a:r>
          </a:p>
          <a:p>
            <a:pPr>
              <a:spcAft>
                <a:spcPts val="800"/>
              </a:spcAft>
              <a:defRPr sz="1300">
                <a:solidFill>
                  <a:srgbClr val="2C3E50"/>
                </a:solidFill>
                <a:latin typeface="Calibri"/>
              </a:defRPr>
            </a:pPr>
            <a:r>
              <a:t>W2 inside the optimizer for radius.</a:t>
            </a:r>
          </a:p>
          <a:p>
            <a:pPr>
              <a:spcAft>
                <a:spcPts val="800"/>
              </a:spcAft>
              <a:defRPr sz="1300">
                <a:solidFill>
                  <a:srgbClr val="2C3E50"/>
                </a:solidFill>
                <a:latin typeface="Calibri"/>
              </a:defRPr>
            </a:pPr>
            <a:r>
              <a:t>Free rebar conductivity in the radius optimizer.</a:t>
            </a:r>
          </a:p>
          <a:p>
            <a:pPr>
              <a:spcAft>
                <a:spcPts val="800"/>
              </a:spcAft>
              <a:defRPr sz="1300">
                <a:solidFill>
                  <a:srgbClr val="2C3E50"/>
                </a:solidFill>
                <a:latin typeface="Calibri"/>
              </a:defRPr>
            </a:pPr>
            <a:r>
              <a:t>Full WRI or full IFWI at this stage.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4864"/>
          </a:xfrm>
          <a:prstGeom prst="rect">
            <a:avLst/>
          </a:prstGeom>
          <a:solidFill>
            <a:srgbClr val="2C5F7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01168"/>
            <a:ext cx="8503920" cy="640080"/>
          </a:xfrm>
          <a:prstGeom prst="rect">
            <a:avLst/>
          </a:prstGeom>
          <a:noFill/>
        </p:spPr>
        <p:txBody>
          <a:bodyPr wrap="square">
            <a:spAutoFit/>
          </a:bodyPr>
          <a:lstStyle/>
          <a:p>
            <a:pPr>
              <a:defRPr sz="2600" b="1">
                <a:solidFill>
                  <a:srgbClr val="1A2332"/>
                </a:solidFill>
                <a:latin typeface="Calibri"/>
              </a:defRPr>
            </a:pPr>
            <a:r>
              <a:t>Next experiments</a:t>
            </a:r>
          </a:p>
        </p:txBody>
      </p:sp>
      <p:sp>
        <p:nvSpPr>
          <p:cNvPr id="4" name="Rectangle 3"/>
          <p:cNvSpPr/>
          <p:nvPr/>
        </p:nvSpPr>
        <p:spPr>
          <a:xfrm>
            <a:off x="640080" y="804672"/>
            <a:ext cx="2194560" cy="36576"/>
          </a:xfrm>
          <a:prstGeom prst="rect">
            <a:avLst/>
          </a:prstGeom>
          <a:solidFill>
            <a:srgbClr val="E891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868680"/>
            <a:ext cx="10972800" cy="365760"/>
          </a:xfrm>
          <a:prstGeom prst="rect">
            <a:avLst/>
          </a:prstGeom>
          <a:noFill/>
        </p:spPr>
        <p:txBody>
          <a:bodyPr wrap="none">
            <a:spAutoFit/>
          </a:bodyPr>
          <a:lstStyle/>
          <a:p>
            <a:pPr>
              <a:defRPr sz="1300">
                <a:solidFill>
                  <a:srgbClr val="7F8C8D"/>
                </a:solidFill>
                <a:latin typeface="Calibri"/>
              </a:defRPr>
            </a:pPr>
            <a:r>
              <a:t>Direct follow-ons that reuse the source-profiled polish runner</a:t>
            </a:r>
          </a:p>
        </p:txBody>
      </p:sp>
      <p:sp>
        <p:nvSpPr>
          <p:cNvPr id="6" name="Rounded Rectangle 5"/>
          <p:cNvSpPr/>
          <p:nvPr/>
        </p:nvSpPr>
        <p:spPr>
          <a:xfrm>
            <a:off x="9357055" y="292608"/>
            <a:ext cx="2194560" cy="36576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1A2332"/>
                </a:solidFill>
                <a:latin typeface="Calibri"/>
              </a:defRPr>
            </a:pPr>
            <a:r>
              <a:t>post-058 plan</a:t>
            </a:r>
          </a:p>
        </p:txBody>
      </p:sp>
      <p:sp>
        <p:nvSpPr>
          <p:cNvPr id="7" name="TextBox 6"/>
          <p:cNvSpPr txBox="1"/>
          <p:nvPr/>
        </p:nvSpPr>
        <p:spPr>
          <a:xfrm>
            <a:off x="11460175" y="6446520"/>
            <a:ext cx="548640" cy="274320"/>
          </a:xfrm>
          <a:prstGeom prst="rect">
            <a:avLst/>
          </a:prstGeom>
          <a:noFill/>
        </p:spPr>
        <p:txBody>
          <a:bodyPr wrap="none">
            <a:spAutoFit/>
          </a:bodyPr>
          <a:lstStyle/>
          <a:p>
            <a:pPr algn="r">
              <a:defRPr sz="1000">
                <a:solidFill>
                  <a:srgbClr val="7F8C8D"/>
                </a:solidFill>
                <a:latin typeface="Calibri"/>
              </a:defRPr>
            </a:pPr>
            <a:r>
              <a:t>55</a:t>
            </a:r>
          </a:p>
        </p:txBody>
      </p:sp>
      <p:sp>
        <p:nvSpPr>
          <p:cNvPr id="8" name="Rounded Rectangle 7"/>
          <p:cNvSpPr/>
          <p:nvPr/>
        </p:nvSpPr>
        <p:spPr>
          <a:xfrm>
            <a:off x="548640" y="1371600"/>
            <a:ext cx="5394960" cy="4572000"/>
          </a:xfrm>
          <a:prstGeom prst="roundRect">
            <a:avLst/>
          </a:prstGeom>
          <a:solidFill>
            <a:srgbClr val="FDF1E0"/>
          </a:solidFill>
          <a:ln w="12700">
            <a:solidFill>
              <a:srgbClr val="E8913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1508760"/>
            <a:ext cx="5394960" cy="548640"/>
          </a:xfrm>
          <a:prstGeom prst="rect">
            <a:avLst/>
          </a:prstGeom>
          <a:noFill/>
        </p:spPr>
        <p:txBody>
          <a:bodyPr wrap="square">
            <a:spAutoFit/>
          </a:bodyPr>
          <a:lstStyle/>
          <a:p>
            <a:pPr algn="ctr">
              <a:defRPr sz="1800" b="1" i="0">
                <a:solidFill>
                  <a:srgbClr val="1A2332"/>
                </a:solidFill>
                <a:latin typeface="Calibri"/>
              </a:defRPr>
            </a:pPr>
            <a:r>
              <a:t>Replication matrix</a:t>
            </a:r>
          </a:p>
        </p:txBody>
      </p:sp>
      <p:sp>
        <p:nvSpPr>
          <p:cNvPr id="10" name="TextBox 9"/>
          <p:cNvSpPr txBox="1"/>
          <p:nvPr/>
        </p:nvSpPr>
        <p:spPr>
          <a:xfrm>
            <a:off x="82296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Run source-profiled polish across several noise seeds.</a:t>
            </a:r>
          </a:p>
          <a:p>
            <a:pPr>
              <a:spcAft>
                <a:spcPts val="800"/>
              </a:spcAft>
              <a:defRPr sz="1300">
                <a:solidFill>
                  <a:srgbClr val="2C3E50"/>
                </a:solidFill>
                <a:latin typeface="Calibri"/>
              </a:defRPr>
            </a:pPr>
            <a:r>
              <a:t>Run across several source-mismatch combinations (fc, shift, amp).</a:t>
            </a:r>
          </a:p>
          <a:p>
            <a:pPr>
              <a:spcAft>
                <a:spcPts val="800"/>
              </a:spcAft>
              <a:defRPr sz="1300">
                <a:solidFill>
                  <a:srgbClr val="2C3E50"/>
                </a:solidFill>
                <a:latin typeface="Calibri"/>
              </a:defRPr>
            </a:pPr>
            <a:r>
              <a:t>Stress with offset x/z/r seeds to map the basin where the polish still works.</a:t>
            </a:r>
          </a:p>
        </p:txBody>
      </p:sp>
      <p:sp>
        <p:nvSpPr>
          <p:cNvPr id="11" name="Rounded Rectangle 10"/>
          <p:cNvSpPr/>
          <p:nvPr/>
        </p:nvSpPr>
        <p:spPr>
          <a:xfrm>
            <a:off x="6217920" y="1371600"/>
            <a:ext cx="5394960" cy="4572000"/>
          </a:xfrm>
          <a:prstGeom prst="roundRect">
            <a:avLst/>
          </a:prstGeom>
          <a:solidFill>
            <a:srgbClr val="EBF5FB"/>
          </a:solidFill>
          <a:ln w="12700">
            <a:solidFill>
              <a:srgbClr val="2C5F7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17920" y="1508760"/>
            <a:ext cx="5394960" cy="548640"/>
          </a:xfrm>
          <a:prstGeom prst="rect">
            <a:avLst/>
          </a:prstGeom>
          <a:noFill/>
        </p:spPr>
        <p:txBody>
          <a:bodyPr wrap="square">
            <a:spAutoFit/>
          </a:bodyPr>
          <a:lstStyle/>
          <a:p>
            <a:pPr algn="ctr">
              <a:defRPr sz="1800" b="1" i="0">
                <a:solidFill>
                  <a:srgbClr val="1A2332"/>
                </a:solidFill>
                <a:latin typeface="Calibri"/>
              </a:defRPr>
            </a:pPr>
            <a:r>
              <a:t>Scaling out</a:t>
            </a:r>
          </a:p>
        </p:txBody>
      </p:sp>
      <p:sp>
        <p:nvSpPr>
          <p:cNvPr id="13" name="TextBox 12"/>
          <p:cNvSpPr txBox="1"/>
          <p:nvPr/>
        </p:nvSpPr>
        <p:spPr>
          <a:xfrm>
            <a:off x="6492240" y="2103120"/>
            <a:ext cx="4846320" cy="3657600"/>
          </a:xfrm>
          <a:prstGeom prst="rect">
            <a:avLst/>
          </a:prstGeom>
          <a:noFill/>
        </p:spPr>
        <p:txBody>
          <a:bodyPr wrap="square">
            <a:spAutoFit/>
          </a:bodyPr>
          <a:lstStyle/>
          <a:p>
            <a:pPr>
              <a:spcAft>
                <a:spcPts val="800"/>
              </a:spcAft>
              <a:defRPr sz="1300">
                <a:solidFill>
                  <a:srgbClr val="2C3E50"/>
                </a:solidFill>
                <a:latin typeface="Calibri"/>
              </a:defRPr>
            </a:pPr>
            <a:r>
              <a:t>Extend to two then three rebars: same forward model, same polish stage; the global stage becomes the load-bearing piece.</a:t>
            </a:r>
          </a:p>
          <a:p>
            <a:pPr>
              <a:spcAft>
                <a:spcPts val="800"/>
              </a:spcAft>
              <a:defRPr sz="1300">
                <a:solidFill>
                  <a:srgbClr val="2C3E50"/>
                </a:solidFill>
                <a:latin typeface="Calibri"/>
              </a:defRPr>
            </a:pPr>
            <a:r>
              <a:t>Introduce a hyperbola or migration baseline for a non-FWI cross-check.</a:t>
            </a:r>
          </a:p>
          <a:p>
            <a:pPr>
              <a:spcAft>
                <a:spcPts val="800"/>
              </a:spcAft>
              <a:defRPr sz="1300">
                <a:solidFill>
                  <a:srgbClr val="2C3E50"/>
                </a:solidFill>
                <a:latin typeface="Calibri"/>
              </a:defRPr>
            </a:pPr>
            <a:r>
              <a:t>Move toward field-style data with the source profile in place.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