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about recovering the position, depth, and radius of a single rebar in concrete from a ground-penetrating radar B-scan. Everything is synthetic — observed data and candidate data come from the same wave-equation solver, so any failure we see is in the inverse pipeline, not the physics. The story has three pieces. First, the forward model is a GPU-accelerated 2D finite-difference time-domain solver with absorbing boundaries, batched across scan positions. Second, the inversion is a staged solver — coarse global search, then fine continuous refinement, then a deterministic local grid polish. Third, the result is exact recovery on clean data, and the polished radius stays correct under additive noise up to ten percent. Where the radius starts becoming ambiguous, the pipeline reports a top-k list rather than a single point estimate.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unknowns are intentionally tiny. We are not estimating a full subsurface image — only three numbers from a B-scan: lateral position, depth, and radius of one circular rebar. That keeps the inverse problem clean enough to diagnose identifiability. The twin-experiment design — observed and candidate B-scans come from the same forward operator — means any wrong answer must come from the inverse pipeline. The identifiability hierarchy on the left is consistent with the GPR-FWI literature: lateral position is set by the hyperbola apex, depth is set by the moveout once velocity is known, and radius is the weakly identified quantity that couples to nuisance parameters and to the grid. The true model on the right is what the observed B-scan is synthesised from; the initial guess is deliberately offset so the optimiser has real work to 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forward model sits at the top, used by all three stages — what changes from stage to stage is the search strategy and the grid resolution. Stage one is a coarse global search on a 2 mm grid using differential evolution. Its job is to find the right basin in (x, z, r); it does not need to be accurate. Stage two takes that seed and runs a fine continuous local search on the production 1 mm grid using SciPy's derivative-free Powell optimiser. It locks in lateral position and depth, but it consistently biases the radius slightly high because of a depth–radius coupling we will see in a moment. Stage three is a deterministic small grid search over depth and radius on the 1 mm grid. It is the step that closes the radius gap by accepting that the rasterised geometry is piecewise constant in physical coordinates.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 model is a 2D transverse-magnetic finite-difference time-domain solver on a Yee staggered grid, with convolutional perfectly matched layer boundaries to absorb outgoing waves. It runs on the GPU through CuPy. The important property for inversion runtime is that the batched B-scan path advances every scan position in one GPU launch, so a single objective evaluation costs roughly the same as a single forward solve. Every change to the solver is parity-tested against the CPU reference for both the single-trace and the batched paths, so GPU regressions are caught early. Every inversion or diagnostic run writes a manifest with the exact command, git commit, backend, and summary path, so the experiment log is reproducible. On the right is one observed B-scan with five scan positions; the rebar hyperbola sits near 2 nanoseconds.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panels show the inversion objective as a function of radius, on a log scale. The only thing that changes between the left and right panels is the grid step of the forward model. On the 2 mm grid, the radius values 4.5, 5.0, and 5.5 all sit on a flat plateau because the circular rebar rasterises to the same set of cells for all three — the optimiser literally cannot distinguish them. The 1 mm grid breaks those plateaus and gives us a clean V-shape with the true 6.0 mm radius at the bottom. The implication is important: radius identifiability in this code is dominated by geometry discretisation. We tried multi-frequency stacking first; it did not fix the plateau. A finer grid did. That is why the production pipeline runs at 1 mm even though the seed stage uses 2 mm for speed.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technical insight of the deck. The continuous Powell optimiser stops at radius about 6.8 mm and depth about 0.65 mm deeper than truth, with a small but non-zero misfit. When we fix x and z and profile radius alone, the right answer is 6.0 mm exactly. When we fix x and the wrong depth and profile radius, we get the same 6.8 mm Powell found. So a deeper rebar trades against a larger radius and produces a near-identical waveform — the objective near the optimum is an elongated valley, not a clean basin. Adding more scan positions narrows the valley but does not move its radius minimum, because the trade-off is intrinsic to the physics at the wavelengths we are using. The remedy cannot come from more data; it has to come from the search strategy. That is what motivates stage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grid polish is the single most important step for radius in this pipeline. It is conceptually simple: take Powell's approximate answer, build a small list of nearby (depth, radius) candidates on an absolute millimetre grid, run the forward solver on each, and pick the best. The default is a 40-candidate coarse grid with depth step 0.5 mm and radius step 0.2 mm; an 160-candidate fine preset exists for audit runs. The polish also keeps the top few candidates, not just the winner, so the margin between the chosen geometry and its closest competitor is auditable. On the right, Powell hands off radius 6.96 mm with a small but non-zero misfit. After polish, we land at radius 6.00 mm with misfit zero. The depth reads 89.75 mm rather than 90.00 mm because at this 1 mm grid resolution the rasterised circle is identical for several sub-millimetre depth values — that is a representation detail, not a result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exact-synthetic final result. The three model panels are the initial guess on the left, the recovered model in the middle, and the ground truth on the right. The rebar appears as a small high-permittivity inclusion in the concrete; the recovered and ground-truth panels are visually identical because, on the 1 mm grid, they are the same model. The metric tiles below confirm: lateral position 250 mm exactly, depth 89.75 mm (which is the same rasterised cell as 90 mm), radius 6.0 mm exactly, normalised root mean square misfit zero for both the model and the data. The depth reads 89.75 rather than 90.00 because at 1 mm grid resolution several sub-millimetre depth values produce the same rasterised circle. That is a representation detail, not a science result.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B-scans side by side: observed on the left, recovered from the inverted geometry on the right. Both show the same direct-wave band at the top, the same rebar diffraction hyperbola near 2 nanoseconds, and the same trailing reverberations. The two panels are not just visually similar — the trace-by-trace difference is below the floating-point floor, so the normalised data misfit is exactly zero. This is the strongest possible synthetic recovery signal: on the 1 mm grid, the recovered model is the same model as the truth, not just a close fit. The value of showing both panels is mostly to make the zero-misfit statement visible to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panels are direct diagnostics of the inversion objective landscape — not optimisation runs, just the objective evaluated on a grid of candidates. The left panel fixes the radius at the true value and sweeps x and z; the dark minimum sits exactly at the true position and the landscape is smoothly convex around it. The right panel fixes x at the true value and sweeps z and radius; here we see the elongated diagonal valley where deeper-and-larger and shallower-and-smaller candidates all fit the data almost equally well. That valley is the geometric origin of the radius bias we have been discussing. The polish stage works because it enumerates discrete cells across this valley rather than following a gradient down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not that the data misfit is small — under noise the misfit cannot be smaller than the noise floor. The point is that the recovered geometry does not move. Across two noise seeds and four noise levels — exact, one percent, five percent, and ten percent additive trace-RMS noise — the polished radius is exactly 6.0 mm in every case. The data-misfit bars on the right rise linearly with the injected noise level, exactly as they should: the residual is now fully explained by the noise we added, not by a bad model. The model-misfit row stays at zero throughout because the rasterised geometry the polish selects is unchanged. This is what makes the polish stage worth defending under realistic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calibrates where the pipeline starts to lose radius discrimination. The eight bars are the top eight polish candidates at ten percent additive noise, sorted by their objective values. The true 6.0 mm radius still wins in two equivalent depth cells, but the margin against the next-distinct radius — 6.2 mm — is only about 5.6e-4. That is a real margin, but it is small enough that beyond this noise level we should not trust a single point estimate. The pipeline's recommended behaviour at this regime is to report the top-k candidates plus the distinct-radius margin and let the user decide how to interpret. It also tells us not to use the zero-misfit early-stop option on noisy data, because the true model cannot reach zero misfit when noise is present.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forward directions all lift one assumption of the current twin experiment. Multi-rebar re-introduces two or three rebars; the polish stage and identifiability hierarchy carry over, but the global search stage gets harder because the basin landscape becomes multi-modal. Nuisance parameters means letting concrete permittivity, conductivity, time-zero, and source wavelet float — this is the realism gap that shows up in the FWI literature, and radius identifiability depends on calibrating it. Field-style validation adds a hyperbola-fitting and migration baseline so we can quantify what full-waveform inversion buys over simpler methods, and lets us cross-check the forward model against an independent solver. The pipeline pieces that transfer directly are the forward model, the numbered-run convention, and the grid-polish stage. The new work is in the search strategy and in mapping which parameters the observed data actually constrains.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463040"/>
            <a:ext cx="2377440" cy="320040"/>
          </a:xfrm>
          <a:prstGeom prst="round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2377440" cy="320040"/>
          </a:xfrm>
          <a:prstGeom prst="rect">
            <a:avLst/>
          </a:prstGeom>
          <a:noFill/>
        </p:spPr>
        <p:txBody>
          <a:bodyPr wrap="square">
            <a:spAutoFit/>
          </a:bodyPr>
          <a:lstStyle/>
          <a:p>
            <a:pPr algn="ctr">
              <a:defRPr sz="1200" b="1" i="0">
                <a:solidFill>
                  <a:srgbClr val="1A2332"/>
                </a:solidFill>
                <a:latin typeface="Calibri"/>
              </a:defRPr>
            </a:pPr>
            <a:r>
              <a:t>SINGLE REBAR  •  TWIN EXPERIMENT</a:t>
            </a:r>
          </a:p>
        </p:txBody>
      </p:sp>
      <p:sp>
        <p:nvSpPr>
          <p:cNvPr id="5" name="TextBox 4"/>
          <p:cNvSpPr txBox="1"/>
          <p:nvPr/>
        </p:nvSpPr>
        <p:spPr>
          <a:xfrm>
            <a:off x="777240" y="1920240"/>
            <a:ext cx="10972800" cy="1280160"/>
          </a:xfrm>
          <a:prstGeom prst="rect">
            <a:avLst/>
          </a:prstGeom>
          <a:noFill/>
        </p:spPr>
        <p:txBody>
          <a:bodyPr wrap="square">
            <a:spAutoFit/>
          </a:bodyPr>
          <a:lstStyle/>
          <a:p>
            <a:pPr algn="l">
              <a:defRPr sz="4600" b="1" i="0">
                <a:solidFill>
                  <a:srgbClr val="FFFFFF"/>
                </a:solidFill>
                <a:latin typeface="Calibri"/>
              </a:defRPr>
            </a:pPr>
            <a:r>
              <a:t>Single-Rebar Geometry Inversion</a:t>
            </a:r>
          </a:p>
        </p:txBody>
      </p:sp>
      <p:sp>
        <p:nvSpPr>
          <p:cNvPr id="6" name="TextBox 5"/>
          <p:cNvSpPr txBox="1"/>
          <p:nvPr/>
        </p:nvSpPr>
        <p:spPr>
          <a:xfrm>
            <a:off x="777240" y="2743200"/>
            <a:ext cx="10972800" cy="914400"/>
          </a:xfrm>
          <a:prstGeom prst="rect">
            <a:avLst/>
          </a:prstGeom>
          <a:noFill/>
        </p:spPr>
        <p:txBody>
          <a:bodyPr wrap="square">
            <a:spAutoFit/>
          </a:bodyPr>
          <a:lstStyle/>
          <a:p>
            <a:pPr algn="l">
              <a:defRPr sz="2200" b="0" i="1">
                <a:solidFill>
                  <a:srgbClr val="CCDDEE"/>
                </a:solidFill>
                <a:latin typeface="Calibri"/>
              </a:defRPr>
            </a:pPr>
            <a:r>
              <a:t>Recovering position, depth, and radius from synthetic GPR B-scans</a:t>
            </a:r>
          </a:p>
        </p:txBody>
      </p:sp>
      <p:sp>
        <p:nvSpPr>
          <p:cNvPr id="7" name="Rounded Rectangle 6"/>
          <p:cNvSpPr/>
          <p:nvPr/>
        </p:nvSpPr>
        <p:spPr>
          <a:xfrm>
            <a:off x="777240" y="4114800"/>
            <a:ext cx="3383280" cy="1280160"/>
          </a:xfrm>
          <a:prstGeom prst="roundRect">
            <a:avLst/>
          </a:prstGeom>
          <a:solidFill>
            <a:srgbClr val="243B5E"/>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4279392"/>
            <a:ext cx="3383280" cy="457200"/>
          </a:xfrm>
          <a:prstGeom prst="rect">
            <a:avLst/>
          </a:prstGeom>
          <a:noFill/>
        </p:spPr>
        <p:txBody>
          <a:bodyPr wrap="square">
            <a:spAutoFit/>
          </a:bodyPr>
          <a:lstStyle/>
          <a:p>
            <a:pPr algn="ctr">
              <a:defRPr sz="1800" b="1" i="0">
                <a:solidFill>
                  <a:srgbClr val="E8913A"/>
                </a:solidFill>
                <a:latin typeface="Calibri"/>
              </a:defRPr>
            </a:pPr>
            <a:r>
              <a:t>GPU FDTD</a:t>
            </a:r>
          </a:p>
        </p:txBody>
      </p:sp>
      <p:sp>
        <p:nvSpPr>
          <p:cNvPr id="9" name="TextBox 8"/>
          <p:cNvSpPr txBox="1"/>
          <p:nvPr/>
        </p:nvSpPr>
        <p:spPr>
          <a:xfrm>
            <a:off x="777240" y="4800600"/>
            <a:ext cx="3383280" cy="457200"/>
          </a:xfrm>
          <a:prstGeom prst="rect">
            <a:avLst/>
          </a:prstGeom>
          <a:noFill/>
        </p:spPr>
        <p:txBody>
          <a:bodyPr wrap="square">
            <a:spAutoFit/>
          </a:bodyPr>
          <a:lstStyle/>
          <a:p>
            <a:pPr algn="ctr">
              <a:defRPr sz="1300" b="0" i="0">
                <a:solidFill>
                  <a:srgbClr val="FFFFFF"/>
                </a:solidFill>
                <a:latin typeface="Calibri"/>
              </a:defRPr>
            </a:pPr>
            <a:r>
              <a:t>2D TMz + CPML, batched</a:t>
            </a:r>
          </a:p>
        </p:txBody>
      </p:sp>
      <p:sp>
        <p:nvSpPr>
          <p:cNvPr id="10" name="Rounded Rectangle 9"/>
          <p:cNvSpPr/>
          <p:nvPr/>
        </p:nvSpPr>
        <p:spPr>
          <a:xfrm>
            <a:off x="4434840" y="4114800"/>
            <a:ext cx="3383280" cy="1280160"/>
          </a:xfrm>
          <a:prstGeom prst="roundRect">
            <a:avLst/>
          </a:prstGeom>
          <a:solidFill>
            <a:srgbClr val="243B5E"/>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4279392"/>
            <a:ext cx="3383280" cy="457200"/>
          </a:xfrm>
          <a:prstGeom prst="rect">
            <a:avLst/>
          </a:prstGeom>
          <a:noFill/>
        </p:spPr>
        <p:txBody>
          <a:bodyPr wrap="square">
            <a:spAutoFit/>
          </a:bodyPr>
          <a:lstStyle/>
          <a:p>
            <a:pPr algn="ctr">
              <a:defRPr sz="1800" b="1" i="0">
                <a:solidFill>
                  <a:srgbClr val="E8913A"/>
                </a:solidFill>
                <a:latin typeface="Calibri"/>
              </a:defRPr>
            </a:pPr>
            <a:r>
              <a:t>Staged solver</a:t>
            </a:r>
          </a:p>
        </p:txBody>
      </p:sp>
      <p:sp>
        <p:nvSpPr>
          <p:cNvPr id="12" name="TextBox 11"/>
          <p:cNvSpPr txBox="1"/>
          <p:nvPr/>
        </p:nvSpPr>
        <p:spPr>
          <a:xfrm>
            <a:off x="4434840" y="4800600"/>
            <a:ext cx="3383280" cy="457200"/>
          </a:xfrm>
          <a:prstGeom prst="rect">
            <a:avLst/>
          </a:prstGeom>
          <a:noFill/>
        </p:spPr>
        <p:txBody>
          <a:bodyPr wrap="square">
            <a:spAutoFit/>
          </a:bodyPr>
          <a:lstStyle/>
          <a:p>
            <a:pPr algn="ctr">
              <a:defRPr sz="1300" b="0" i="0">
                <a:solidFill>
                  <a:srgbClr val="FFFFFF"/>
                </a:solidFill>
                <a:latin typeface="Calibri"/>
              </a:defRPr>
            </a:pPr>
            <a:r>
              <a:t>Coarse → fine → polish</a:t>
            </a:r>
          </a:p>
        </p:txBody>
      </p:sp>
      <p:sp>
        <p:nvSpPr>
          <p:cNvPr id="13" name="Rounded Rectangle 12"/>
          <p:cNvSpPr/>
          <p:nvPr/>
        </p:nvSpPr>
        <p:spPr>
          <a:xfrm>
            <a:off x="8092440" y="4114800"/>
            <a:ext cx="3383280" cy="1280160"/>
          </a:xfrm>
          <a:prstGeom prst="roundRect">
            <a:avLst/>
          </a:prstGeom>
          <a:solidFill>
            <a:srgbClr val="243B5E"/>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92440" y="4279392"/>
            <a:ext cx="3383280" cy="457200"/>
          </a:xfrm>
          <a:prstGeom prst="rect">
            <a:avLst/>
          </a:prstGeom>
          <a:noFill/>
        </p:spPr>
        <p:txBody>
          <a:bodyPr wrap="square">
            <a:spAutoFit/>
          </a:bodyPr>
          <a:lstStyle/>
          <a:p>
            <a:pPr algn="ctr">
              <a:defRPr sz="1800" b="1" i="0">
                <a:solidFill>
                  <a:srgbClr val="E8913A"/>
                </a:solidFill>
                <a:latin typeface="Calibri"/>
              </a:defRPr>
            </a:pPr>
            <a:r>
              <a:t>Verified</a:t>
            </a:r>
          </a:p>
        </p:txBody>
      </p:sp>
      <p:sp>
        <p:nvSpPr>
          <p:cNvPr id="15" name="TextBox 14"/>
          <p:cNvSpPr txBox="1"/>
          <p:nvPr/>
        </p:nvSpPr>
        <p:spPr>
          <a:xfrm>
            <a:off x="8092440" y="4800600"/>
            <a:ext cx="3383280" cy="457200"/>
          </a:xfrm>
          <a:prstGeom prst="rect">
            <a:avLst/>
          </a:prstGeom>
          <a:noFill/>
        </p:spPr>
        <p:txBody>
          <a:bodyPr wrap="square">
            <a:spAutoFit/>
          </a:bodyPr>
          <a:lstStyle/>
          <a:p>
            <a:pPr algn="ctr">
              <a:defRPr sz="1300" b="0" i="0">
                <a:solidFill>
                  <a:srgbClr val="FFFFFF"/>
                </a:solidFill>
                <a:latin typeface="Calibri"/>
              </a:defRPr>
            </a:pPr>
            <a:r>
              <a:t>Exact recovery, robust to 10% noise</a:t>
            </a:r>
          </a:p>
        </p:txBody>
      </p:sp>
      <p:sp>
        <p:nvSpPr>
          <p:cNvPr id="16" name="TextBox 15"/>
          <p:cNvSpPr txBox="1"/>
          <p:nvPr/>
        </p:nvSpPr>
        <p:spPr>
          <a:xfrm>
            <a:off x="777240" y="6309360"/>
            <a:ext cx="10972800" cy="274320"/>
          </a:xfrm>
          <a:prstGeom prst="rect">
            <a:avLst/>
          </a:prstGeom>
          <a:noFill/>
        </p:spPr>
        <p:txBody>
          <a:bodyPr wrap="square">
            <a:spAutoFit/>
          </a:bodyPr>
          <a:lstStyle/>
          <a:p>
            <a:pPr algn="l">
              <a:defRPr sz="1200" b="0" i="0">
                <a:solidFill>
                  <a:srgbClr val="7F8C8D"/>
                </a:solidFill>
                <a:latin typeface="Calibri"/>
              </a:defRPr>
            </a:pPr>
            <a:r>
              <a:t>GPR-FDTD-FWI  •  DGX Spark  •  2026</a:t>
            </a:r>
          </a:p>
        </p:txBody>
      </p:sp>
      <p:sp>
        <p:nvSpPr>
          <p:cNvPr id="17" name="TextBox 1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The problem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What we are estimating and what is actually hard</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a:t>
            </a:r>
          </a:p>
        </p:txBody>
      </p:sp>
      <p:sp>
        <p:nvSpPr>
          <p:cNvPr id="7" name="TextBox 6"/>
          <p:cNvSpPr txBox="1"/>
          <p:nvPr/>
        </p:nvSpPr>
        <p:spPr>
          <a:xfrm>
            <a:off x="640080" y="1280160"/>
            <a:ext cx="6858000" cy="4114800"/>
          </a:xfrm>
          <a:prstGeom prst="rect">
            <a:avLst/>
          </a:prstGeom>
          <a:noFill/>
        </p:spPr>
        <p:txBody>
          <a:bodyPr wrap="square">
            <a:spAutoFit/>
          </a:bodyPr>
          <a:lstStyle/>
          <a:p>
            <a:pPr>
              <a:spcAft>
                <a:spcPts val="800"/>
              </a:spcAft>
              <a:defRPr sz="1500">
                <a:solidFill>
                  <a:srgbClr val="2C3E50"/>
                </a:solidFill>
                <a:latin typeface="Calibri"/>
              </a:defRPr>
            </a:pPr>
            <a:r>
              <a:t>Unknown parameter vector: [x, z, radius] for a single circular rebar in concrete.</a:t>
            </a:r>
          </a:p>
          <a:p>
            <a:pPr>
              <a:spcAft>
                <a:spcPts val="800"/>
              </a:spcAft>
              <a:defRPr sz="1500">
                <a:solidFill>
                  <a:srgbClr val="2C3E50"/>
                </a:solidFill>
                <a:latin typeface="Calibri"/>
              </a:defRPr>
            </a:pPr>
            <a:r>
              <a:t>Observed data: a 2D B-scan (depth-time × lateral position) from common-offset GPR.</a:t>
            </a:r>
          </a:p>
          <a:p>
            <a:pPr>
              <a:spcAft>
                <a:spcPts val="800"/>
              </a:spcAft>
              <a:defRPr sz="1500">
                <a:solidFill>
                  <a:srgbClr val="2C3E50"/>
                </a:solidFill>
                <a:latin typeface="Calibri"/>
              </a:defRPr>
            </a:pPr>
            <a:r>
              <a:t>Twin experiment: synthetic-to-synthetic. The 'observed' B-scan and the candidate B-scans share the same forward operator, so any failure is in the inverse pipeline, not the physics.</a:t>
            </a:r>
          </a:p>
          <a:p>
            <a:pPr>
              <a:spcAft>
                <a:spcPts val="800"/>
              </a:spcAft>
              <a:defRPr sz="1500">
                <a:solidFill>
                  <a:srgbClr val="2C3E50"/>
                </a:solidFill>
                <a:latin typeface="Calibri"/>
              </a:defRPr>
            </a:pPr>
            <a:r>
              <a:t>Identifiability hierarchy (literature-consistent):</a:t>
            </a:r>
          </a:p>
          <a:p>
            <a:pPr lvl="1">
              <a:spcAft>
                <a:spcPts val="800"/>
              </a:spcAft>
              <a:defRPr sz="1500">
                <a:solidFill>
                  <a:srgbClr val="2C3E50"/>
                </a:solidFill>
                <a:latin typeface="Calibri"/>
              </a:defRPr>
            </a:pPr>
            <a:r>
              <a:t>Lateral position: easy, set by hyperbola apex.</a:t>
            </a:r>
          </a:p>
          <a:p>
            <a:pPr lvl="1">
              <a:spcAft>
                <a:spcPts val="800"/>
              </a:spcAft>
              <a:defRPr sz="1500">
                <a:solidFill>
                  <a:srgbClr val="2C3E50"/>
                </a:solidFill>
                <a:latin typeface="Calibri"/>
              </a:defRPr>
            </a:pPr>
            <a:r>
              <a:t>Cover depth: easy once velocity is known.</a:t>
            </a:r>
          </a:p>
          <a:p>
            <a:pPr lvl="1">
              <a:spcAft>
                <a:spcPts val="800"/>
              </a:spcAft>
              <a:defRPr sz="1500">
                <a:solidFill>
                  <a:srgbClr val="2C3E50"/>
                </a:solidFill>
                <a:latin typeface="Calibri"/>
              </a:defRPr>
            </a:pPr>
            <a:r>
              <a:t>Radius / diameter: weakly identified; nuisance-coupled and grid-sensitive.</a:t>
            </a:r>
          </a:p>
        </p:txBody>
      </p:sp>
      <p:sp>
        <p:nvSpPr>
          <p:cNvPr id="8" name="Rounded Rectangle 7"/>
          <p:cNvSpPr/>
          <p:nvPr/>
        </p:nvSpPr>
        <p:spPr>
          <a:xfrm>
            <a:off x="7863840" y="1280160"/>
            <a:ext cx="3749039" cy="420624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0" y="1417320"/>
            <a:ext cx="3749039" cy="457200"/>
          </a:xfrm>
          <a:prstGeom prst="rect">
            <a:avLst/>
          </a:prstGeom>
          <a:noFill/>
        </p:spPr>
        <p:txBody>
          <a:bodyPr wrap="square">
            <a:spAutoFit/>
          </a:bodyPr>
          <a:lstStyle/>
          <a:p>
            <a:pPr algn="ctr">
              <a:defRPr sz="1600" b="1" i="0">
                <a:solidFill>
                  <a:srgbClr val="1A2332"/>
                </a:solidFill>
                <a:latin typeface="Calibri"/>
              </a:defRPr>
            </a:pPr>
            <a:r>
              <a:t>Synthetic truth</a:t>
            </a:r>
          </a:p>
        </p:txBody>
      </p:sp>
      <p:sp>
        <p:nvSpPr>
          <p:cNvPr id="10" name="TextBox 9"/>
          <p:cNvSpPr txBox="1"/>
          <p:nvPr/>
        </p:nvSpPr>
        <p:spPr>
          <a:xfrm>
            <a:off x="7863840" y="1874520"/>
            <a:ext cx="3749039" cy="365760"/>
          </a:xfrm>
          <a:prstGeom prst="rect">
            <a:avLst/>
          </a:prstGeom>
          <a:noFill/>
        </p:spPr>
        <p:txBody>
          <a:bodyPr wrap="square">
            <a:spAutoFit/>
          </a:bodyPr>
          <a:lstStyle/>
          <a:p>
            <a:pPr algn="ctr">
              <a:defRPr sz="1400" b="0" i="0">
                <a:solidFill>
                  <a:srgbClr val="2C3E50"/>
                </a:solidFill>
                <a:latin typeface="Calibri"/>
              </a:defRPr>
            </a:pPr>
            <a:r>
              <a:t>x = 250.0 mm   z = 90.0 mm   r = 6.0 mm</a:t>
            </a:r>
          </a:p>
        </p:txBody>
      </p:sp>
      <p:sp>
        <p:nvSpPr>
          <p:cNvPr id="11" name="TextBox 10"/>
          <p:cNvSpPr txBox="1"/>
          <p:nvPr/>
        </p:nvSpPr>
        <p:spPr>
          <a:xfrm>
            <a:off x="7863840" y="2423160"/>
            <a:ext cx="3749039" cy="457200"/>
          </a:xfrm>
          <a:prstGeom prst="rect">
            <a:avLst/>
          </a:prstGeom>
          <a:noFill/>
        </p:spPr>
        <p:txBody>
          <a:bodyPr wrap="square">
            <a:spAutoFit/>
          </a:bodyPr>
          <a:lstStyle/>
          <a:p>
            <a:pPr algn="ctr">
              <a:defRPr sz="1400" b="1" i="0">
                <a:solidFill>
                  <a:srgbClr val="1A2332"/>
                </a:solidFill>
                <a:latin typeface="Calibri"/>
              </a:defRPr>
            </a:pPr>
            <a:r>
              <a:t>Initial guess (intentionally wrong)</a:t>
            </a:r>
          </a:p>
        </p:txBody>
      </p:sp>
      <p:sp>
        <p:nvSpPr>
          <p:cNvPr id="12" name="TextBox 11"/>
          <p:cNvSpPr txBox="1"/>
          <p:nvPr/>
        </p:nvSpPr>
        <p:spPr>
          <a:xfrm>
            <a:off x="7863840" y="2834640"/>
            <a:ext cx="3749039" cy="365760"/>
          </a:xfrm>
          <a:prstGeom prst="rect">
            <a:avLst/>
          </a:prstGeom>
          <a:noFill/>
        </p:spPr>
        <p:txBody>
          <a:bodyPr wrap="square">
            <a:spAutoFit/>
          </a:bodyPr>
          <a:lstStyle/>
          <a:p>
            <a:pPr algn="ctr">
              <a:defRPr sz="1400" b="0" i="0">
                <a:solidFill>
                  <a:srgbClr val="2C3E50"/>
                </a:solidFill>
                <a:latin typeface="Calibri"/>
              </a:defRPr>
            </a:pPr>
            <a:r>
              <a:t>x = 235.0 mm   z = 80.0 mm   r = 8.0 mm</a:t>
            </a:r>
          </a:p>
        </p:txBody>
      </p:sp>
      <p:sp>
        <p:nvSpPr>
          <p:cNvPr id="13" name="TextBox 12"/>
          <p:cNvSpPr txBox="1"/>
          <p:nvPr/>
        </p:nvSpPr>
        <p:spPr>
          <a:xfrm>
            <a:off x="7863840" y="3429000"/>
            <a:ext cx="3749039" cy="457200"/>
          </a:xfrm>
          <a:prstGeom prst="rect">
            <a:avLst/>
          </a:prstGeom>
          <a:noFill/>
        </p:spPr>
        <p:txBody>
          <a:bodyPr wrap="square">
            <a:spAutoFit/>
          </a:bodyPr>
          <a:lstStyle/>
          <a:p>
            <a:pPr algn="ctr">
              <a:defRPr sz="1400" b="1" i="0">
                <a:solidFill>
                  <a:srgbClr val="1A2332"/>
                </a:solidFill>
                <a:latin typeface="Calibri"/>
              </a:defRPr>
            </a:pPr>
            <a:r>
              <a:t>Acquisition</a:t>
            </a:r>
          </a:p>
        </p:txBody>
      </p:sp>
      <p:sp>
        <p:nvSpPr>
          <p:cNvPr id="14" name="TextBox 13"/>
          <p:cNvSpPr txBox="1"/>
          <p:nvPr/>
        </p:nvSpPr>
        <p:spPr>
          <a:xfrm>
            <a:off x="7863840" y="3886200"/>
            <a:ext cx="3749039" cy="1463040"/>
          </a:xfrm>
          <a:prstGeom prst="rect">
            <a:avLst/>
          </a:prstGeom>
          <a:noFill/>
        </p:spPr>
        <p:txBody>
          <a:bodyPr wrap="square">
            <a:spAutoFit/>
          </a:bodyPr>
          <a:lstStyle/>
          <a:p>
            <a:pPr algn="ctr">
              <a:defRPr sz="1300" b="0" i="0">
                <a:solidFill>
                  <a:srgbClr val="2C3E50"/>
                </a:solidFill>
                <a:latin typeface="Calibri"/>
              </a:defRPr>
            </a:pPr>
            <a:r>
              <a:t>1.5 GHz Ricker source</a:t>
            </a:r>
            <a:br/>
            <a:r>
              <a:t>5–9 scan positions, 20 mm Tx–Rx offset</a:t>
            </a:r>
            <a:br/>
            <a:r>
              <a:t>Concrete εr = 6.0, σ = 0.01 S/m</a:t>
            </a:r>
            <a:br/>
            <a:r>
              <a:t>Air layer above slab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Pipeline architecture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Same forward model, three optimizers staged from coarse to fine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a:t>
            </a:r>
          </a:p>
        </p:txBody>
      </p:sp>
      <p:pic>
        <p:nvPicPr>
          <p:cNvPr id="7" name="Picture 6" descr="pipeline_architecture.png"/>
          <p:cNvPicPr>
            <a:picLocks noChangeAspect="1"/>
          </p:cNvPicPr>
          <p:nvPr/>
        </p:nvPicPr>
        <p:blipFill>
          <a:blip r:embed="rId2"/>
          <a:stretch>
            <a:fillRect/>
          </a:stretch>
        </p:blipFill>
        <p:spPr>
          <a:xfrm>
            <a:off x="365760" y="1280160"/>
            <a:ext cx="11430000" cy="4126016"/>
          </a:xfrm>
          <a:prstGeom prst="rect">
            <a:avLst/>
          </a:prstGeom>
        </p:spPr>
      </p:pic>
      <p:sp>
        <p:nvSpPr>
          <p:cNvPr id="8" name="TextBox 7"/>
          <p:cNvSpPr txBox="1"/>
          <p:nvPr/>
        </p:nvSpPr>
        <p:spPr>
          <a:xfrm>
            <a:off x="640080" y="5669280"/>
            <a:ext cx="10972800" cy="457200"/>
          </a:xfrm>
          <a:prstGeom prst="rect">
            <a:avLst/>
          </a:prstGeom>
          <a:noFill/>
        </p:spPr>
        <p:txBody>
          <a:bodyPr wrap="square">
            <a:spAutoFit/>
          </a:bodyPr>
          <a:lstStyle/>
          <a:p>
            <a:pPr algn="l">
              <a:defRPr sz="1300" b="0" i="1">
                <a:solidFill>
                  <a:srgbClr val="7F8C8D"/>
                </a:solidFill>
                <a:latin typeface="Calibri"/>
              </a:defRPr>
            </a:pPr>
            <a:r>
              <a:t>Each stage hands its best estimate to the next. The forward model is identical; what changes is the resolution and the search strategy.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Forward model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GPU-batched 2D TMz FDTD with CPML; parity-tested against the CPU reference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a:t>
            </a:r>
          </a:p>
        </p:txBody>
      </p:sp>
      <p:sp>
        <p:nvSpPr>
          <p:cNvPr id="7" name="TextBox 6"/>
          <p:cNvSpPr txBox="1"/>
          <p:nvPr/>
        </p:nvSpPr>
        <p:spPr>
          <a:xfrm>
            <a:off x="640080" y="1280160"/>
            <a:ext cx="5943600" cy="4572000"/>
          </a:xfrm>
          <a:prstGeom prst="rect">
            <a:avLst/>
          </a:prstGeom>
          <a:noFill/>
        </p:spPr>
        <p:txBody>
          <a:bodyPr wrap="square">
            <a:spAutoFit/>
          </a:bodyPr>
          <a:lstStyle/>
          <a:p>
            <a:pPr>
              <a:spcAft>
                <a:spcPts val="800"/>
              </a:spcAft>
              <a:defRPr sz="1500">
                <a:solidFill>
                  <a:srgbClr val="2C3E50"/>
                </a:solidFill>
                <a:latin typeface="Calibri"/>
              </a:defRPr>
            </a:pPr>
            <a:r>
              <a:t>Solver: 2D transverse-magnetic (TMz) Yee-grid FDTD with CPML boundaries.</a:t>
            </a:r>
          </a:p>
          <a:p>
            <a:pPr>
              <a:spcAft>
                <a:spcPts val="800"/>
              </a:spcAft>
              <a:defRPr sz="1500">
                <a:solidFill>
                  <a:srgbClr val="2C3E50"/>
                </a:solidFill>
                <a:latin typeface="Calibri"/>
              </a:defRPr>
            </a:pPr>
            <a:r>
              <a:t>Backend: CuPy on the DGX Spark GB10. Batched B-scan support advances every scan position in one GPU launch.</a:t>
            </a:r>
          </a:p>
          <a:p>
            <a:pPr>
              <a:spcAft>
                <a:spcPts val="800"/>
              </a:spcAft>
              <a:defRPr sz="1500">
                <a:solidFill>
                  <a:srgbClr val="2C3E50"/>
                </a:solidFill>
                <a:latin typeface="Calibri"/>
              </a:defRPr>
            </a:pPr>
            <a:r>
              <a:t>Parity tests cover the single-trace and the batched paths against the CPU CPML solver, so changes in CuPy or kernels can be caught.</a:t>
            </a:r>
          </a:p>
          <a:p>
            <a:pPr>
              <a:spcAft>
                <a:spcPts val="800"/>
              </a:spcAft>
              <a:defRPr sz="1500">
                <a:solidFill>
                  <a:srgbClr val="2C3E50"/>
                </a:solidFill>
                <a:latin typeface="Calibri"/>
              </a:defRPr>
            </a:pPr>
            <a:r>
              <a:t>Numbered-run convention: every diagnostic and inversion writes a run_manifest.json with the command, git commit, backend, and summary path.</a:t>
            </a:r>
          </a:p>
        </p:txBody>
      </p:sp>
      <p:pic>
        <p:nvPicPr>
          <p:cNvPr id="8" name="Picture 7" descr="single_rebar_observed_bscan.png"/>
          <p:cNvPicPr>
            <a:picLocks noChangeAspect="1"/>
          </p:cNvPicPr>
          <p:nvPr/>
        </p:nvPicPr>
        <p:blipFill>
          <a:blip r:embed="rId2"/>
          <a:stretch>
            <a:fillRect/>
          </a:stretch>
        </p:blipFill>
        <p:spPr>
          <a:xfrm>
            <a:off x="7040880" y="1188720"/>
            <a:ext cx="4937760" cy="3514784"/>
          </a:xfrm>
          <a:prstGeom prst="rect">
            <a:avLst/>
          </a:prstGeom>
        </p:spPr>
      </p:pic>
      <p:sp>
        <p:nvSpPr>
          <p:cNvPr id="9" name="TextBox 8"/>
          <p:cNvSpPr txBox="1"/>
          <p:nvPr/>
        </p:nvSpPr>
        <p:spPr>
          <a:xfrm>
            <a:off x="7040880" y="5394960"/>
            <a:ext cx="4937760" cy="411480"/>
          </a:xfrm>
          <a:prstGeom prst="rect">
            <a:avLst/>
          </a:prstGeom>
          <a:noFill/>
        </p:spPr>
        <p:txBody>
          <a:bodyPr wrap="square">
            <a:spAutoFit/>
          </a:bodyPr>
          <a:lstStyle/>
          <a:p>
            <a:pPr algn="ctr">
              <a:defRPr sz="1200" i="1">
                <a:solidFill>
                  <a:srgbClr val="7F8C8D"/>
                </a:solidFill>
                <a:latin typeface="Calibri"/>
              </a:defRPr>
            </a:pPr>
            <a:r>
              <a:t>Synthetic 'observed' B-scan: rebar hyperbola near 2 ns, 5 scan positions, 1.5 GHz.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Why radius is hard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Hard-grid rasterization, not lack of signal</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a:t>
            </a:r>
          </a:p>
        </p:txBody>
      </p:sp>
      <p:pic>
        <p:nvPicPr>
          <p:cNvPr id="7" name="Picture 6" descr="radius_sweep_pair.png"/>
          <p:cNvPicPr>
            <a:picLocks noChangeAspect="1"/>
          </p:cNvPicPr>
          <p:nvPr/>
        </p:nvPicPr>
        <p:blipFill>
          <a:blip r:embed="rId2"/>
          <a:stretch>
            <a:fillRect/>
          </a:stretch>
        </p:blipFill>
        <p:spPr>
          <a:xfrm>
            <a:off x="365760" y="1188720"/>
            <a:ext cx="11521440" cy="3967797"/>
          </a:xfrm>
          <a:prstGeom prst="rect">
            <a:avLst/>
          </a:prstGeom>
        </p:spPr>
      </p:pic>
      <p:sp>
        <p:nvSpPr>
          <p:cNvPr id="8" name="TextBox 7"/>
          <p:cNvSpPr txBox="1"/>
          <p:nvPr/>
        </p:nvSpPr>
        <p:spPr>
          <a:xfrm>
            <a:off x="640080" y="5120640"/>
            <a:ext cx="10972800" cy="914400"/>
          </a:xfrm>
          <a:prstGeom prst="rect">
            <a:avLst/>
          </a:prstGeom>
          <a:noFill/>
        </p:spPr>
        <p:txBody>
          <a:bodyPr wrap="square">
            <a:spAutoFit/>
          </a:bodyPr>
          <a:lstStyle/>
          <a:p>
            <a:pPr algn="l">
              <a:defRPr sz="1400" b="0" i="0">
                <a:solidFill>
                  <a:srgbClr val="2C3E50"/>
                </a:solidFill>
                <a:latin typeface="Calibri"/>
              </a:defRPr>
            </a:pPr>
            <a:r>
              <a:t>Same waveform objective, same scan, same true radius — only the grid step changed. The 2 mm grid produces flat plateaus where nearby radii rasterize to the same material mask. The 1 mm grid breaks the plateaus and reveals a clean basin at r = 6.0 mm.</a:t>
            </a:r>
          </a:p>
        </p:txBody>
      </p:sp>
      <p:sp>
        <p:nvSpPr>
          <p:cNvPr id="9" name="TextBox 8"/>
          <p:cNvSpPr txBox="1"/>
          <p:nvPr/>
        </p:nvSpPr>
        <p:spPr>
          <a:xfrm>
            <a:off x="640080" y="5943600"/>
            <a:ext cx="10972800" cy="457200"/>
          </a:xfrm>
          <a:prstGeom prst="rect">
            <a:avLst/>
          </a:prstGeom>
          <a:noFill/>
        </p:spPr>
        <p:txBody>
          <a:bodyPr wrap="square">
            <a:spAutoFit/>
          </a:bodyPr>
          <a:lstStyle/>
          <a:p>
            <a:pPr algn="l">
              <a:defRPr sz="1400" b="1" i="0">
                <a:solidFill>
                  <a:srgbClr val="E8913A"/>
                </a:solidFill>
                <a:latin typeface="Calibri"/>
              </a:defRPr>
            </a:pPr>
            <a:r>
              <a:t>Significance: radius identifiability in this code is dominated by geometry discretization. Multi-frequency stacking did not fix it; a finer grid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Depth–radius coupling</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Why the continuous optimizer still drifts after the grid is fine enough</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6</a:t>
            </a:r>
          </a:p>
        </p:txBody>
      </p:sp>
      <p:sp>
        <p:nvSpPr>
          <p:cNvPr id="7" name="Rounded Rectangle 6"/>
          <p:cNvSpPr/>
          <p:nvPr/>
        </p:nvSpPr>
        <p:spPr>
          <a:xfrm>
            <a:off x="640080" y="1280160"/>
            <a:ext cx="3657600" cy="2011680"/>
          </a:xfrm>
          <a:prstGeom prst="roundRect">
            <a:avLst/>
          </a:prstGeom>
          <a:solidFill>
            <a:srgbClr val="FDF1E0"/>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417320"/>
            <a:ext cx="3657600" cy="457200"/>
          </a:xfrm>
          <a:prstGeom prst="rect">
            <a:avLst/>
          </a:prstGeom>
          <a:noFill/>
        </p:spPr>
        <p:txBody>
          <a:bodyPr wrap="square">
            <a:spAutoFit/>
          </a:bodyPr>
          <a:lstStyle/>
          <a:p>
            <a:pPr algn="ctr">
              <a:defRPr sz="1400" b="1" i="0">
                <a:solidFill>
                  <a:srgbClr val="1A2332"/>
                </a:solidFill>
                <a:latin typeface="Calibri"/>
              </a:defRPr>
            </a:pPr>
            <a:r>
              <a:t>At Powell's stop (run 010)</a:t>
            </a:r>
          </a:p>
        </p:txBody>
      </p:sp>
      <p:sp>
        <p:nvSpPr>
          <p:cNvPr id="9" name="TextBox 8"/>
          <p:cNvSpPr txBox="1"/>
          <p:nvPr/>
        </p:nvSpPr>
        <p:spPr>
          <a:xfrm>
            <a:off x="640080" y="1965960"/>
            <a:ext cx="3657600" cy="1188720"/>
          </a:xfrm>
          <a:prstGeom prst="rect">
            <a:avLst/>
          </a:prstGeom>
          <a:noFill/>
        </p:spPr>
        <p:txBody>
          <a:bodyPr wrap="square">
            <a:spAutoFit/>
          </a:bodyPr>
          <a:lstStyle/>
          <a:p>
            <a:pPr algn="ctr">
              <a:defRPr sz="1300" b="0" i="0">
                <a:solidFill>
                  <a:srgbClr val="2C3E50"/>
                </a:solidFill>
                <a:latin typeface="Calibri"/>
              </a:defRPr>
            </a:pPr>
            <a:r>
              <a:t>x = 249.5 mm   z = 90.65 mm</a:t>
            </a:r>
            <a:br/>
            <a:r>
              <a:t>best radius ≈ 6.80 mm</a:t>
            </a:r>
            <a:br/>
            <a:r>
              <a:t>J ≈ 2.1e-3</a:t>
            </a:r>
          </a:p>
        </p:txBody>
      </p:sp>
      <p:sp>
        <p:nvSpPr>
          <p:cNvPr id="10" name="Rounded Rectangle 9"/>
          <p:cNvSpPr/>
          <p:nvPr/>
        </p:nvSpPr>
        <p:spPr>
          <a:xfrm>
            <a:off x="4480560" y="1280160"/>
            <a:ext cx="3657600" cy="2011680"/>
          </a:xfrm>
          <a:prstGeom prst="roundRect">
            <a:avLst/>
          </a:prstGeom>
          <a:solidFill>
            <a:srgbClr val="E6F5EC"/>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80560" y="1417320"/>
            <a:ext cx="3657600" cy="457200"/>
          </a:xfrm>
          <a:prstGeom prst="rect">
            <a:avLst/>
          </a:prstGeom>
          <a:noFill/>
        </p:spPr>
        <p:txBody>
          <a:bodyPr wrap="square">
            <a:spAutoFit/>
          </a:bodyPr>
          <a:lstStyle/>
          <a:p>
            <a:pPr algn="ctr">
              <a:defRPr sz="1400" b="1" i="0">
                <a:solidFill>
                  <a:srgbClr val="1A2332"/>
                </a:solidFill>
                <a:latin typeface="Calibri"/>
              </a:defRPr>
            </a:pPr>
            <a:r>
              <a:t>Same x, true depth (run 011)</a:t>
            </a:r>
          </a:p>
        </p:txBody>
      </p:sp>
      <p:sp>
        <p:nvSpPr>
          <p:cNvPr id="12" name="TextBox 11"/>
          <p:cNvSpPr txBox="1"/>
          <p:nvPr/>
        </p:nvSpPr>
        <p:spPr>
          <a:xfrm>
            <a:off x="4480560" y="1965960"/>
            <a:ext cx="3657600" cy="1188720"/>
          </a:xfrm>
          <a:prstGeom prst="rect">
            <a:avLst/>
          </a:prstGeom>
          <a:noFill/>
        </p:spPr>
        <p:txBody>
          <a:bodyPr wrap="square">
            <a:spAutoFit/>
          </a:bodyPr>
          <a:lstStyle/>
          <a:p>
            <a:pPr algn="ctr">
              <a:defRPr sz="1300" b="0" i="0">
                <a:solidFill>
                  <a:srgbClr val="2C3E50"/>
                </a:solidFill>
                <a:latin typeface="Calibri"/>
              </a:defRPr>
            </a:pPr>
            <a:r>
              <a:t>x = 249.5 mm   z = 90.00 mm</a:t>
            </a:r>
            <a:br/>
            <a:r>
              <a:t>best radius = 6.00 mm</a:t>
            </a:r>
            <a:br/>
            <a:r>
              <a:t>J ≈ 0</a:t>
            </a:r>
          </a:p>
        </p:txBody>
      </p:sp>
      <p:sp>
        <p:nvSpPr>
          <p:cNvPr id="13" name="Rounded Rectangle 12"/>
          <p:cNvSpPr/>
          <p:nvPr/>
        </p:nvSpPr>
        <p:spPr>
          <a:xfrm>
            <a:off x="8321040" y="1280160"/>
            <a:ext cx="3657600" cy="20116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0" y="1417320"/>
            <a:ext cx="3657600" cy="457200"/>
          </a:xfrm>
          <a:prstGeom prst="rect">
            <a:avLst/>
          </a:prstGeom>
          <a:noFill/>
        </p:spPr>
        <p:txBody>
          <a:bodyPr wrap="square">
            <a:spAutoFit/>
          </a:bodyPr>
          <a:lstStyle/>
          <a:p>
            <a:pPr algn="ctr">
              <a:defRPr sz="1400" b="1" i="0">
                <a:solidFill>
                  <a:srgbClr val="1A2332"/>
                </a:solidFill>
                <a:latin typeface="Calibri"/>
              </a:defRPr>
            </a:pPr>
            <a:r>
              <a:t>More sources, same z bias (run 013)</a:t>
            </a:r>
          </a:p>
        </p:txBody>
      </p:sp>
      <p:sp>
        <p:nvSpPr>
          <p:cNvPr id="15" name="TextBox 14"/>
          <p:cNvSpPr txBox="1"/>
          <p:nvPr/>
        </p:nvSpPr>
        <p:spPr>
          <a:xfrm>
            <a:off x="8321040" y="1965960"/>
            <a:ext cx="3657600" cy="1188720"/>
          </a:xfrm>
          <a:prstGeom prst="rect">
            <a:avLst/>
          </a:prstGeom>
          <a:noFill/>
        </p:spPr>
        <p:txBody>
          <a:bodyPr wrap="square">
            <a:spAutoFit/>
          </a:bodyPr>
          <a:lstStyle/>
          <a:p>
            <a:pPr algn="ctr">
              <a:defRPr sz="1300" b="0" i="0">
                <a:solidFill>
                  <a:srgbClr val="2C3E50"/>
                </a:solidFill>
                <a:latin typeface="Calibri"/>
              </a:defRPr>
            </a:pPr>
            <a:r>
              <a:t>9 sources, x = 249.5 mm, z = 90.65 mm</a:t>
            </a:r>
            <a:br/>
            <a:r>
              <a:t>best radius ≈ 6.80 mm</a:t>
            </a:r>
            <a:br/>
            <a:r>
              <a:t>9-src didn't move the radius</a:t>
            </a:r>
          </a:p>
        </p:txBody>
      </p:sp>
      <p:sp>
        <p:nvSpPr>
          <p:cNvPr id="16" name="TextBox 15"/>
          <p:cNvSpPr txBox="1"/>
          <p:nvPr/>
        </p:nvSpPr>
        <p:spPr>
          <a:xfrm>
            <a:off x="640080" y="3657600"/>
            <a:ext cx="10972800" cy="2743200"/>
          </a:xfrm>
          <a:prstGeom prst="rect">
            <a:avLst/>
          </a:prstGeom>
          <a:noFill/>
        </p:spPr>
        <p:txBody>
          <a:bodyPr wrap="square">
            <a:spAutoFit/>
          </a:bodyPr>
          <a:lstStyle/>
          <a:p>
            <a:pPr>
              <a:spcAft>
                <a:spcPts val="800"/>
              </a:spcAft>
              <a:defRPr sz="1500">
                <a:solidFill>
                  <a:srgbClr val="2C3E50"/>
                </a:solidFill>
                <a:latin typeface="Calibri"/>
              </a:defRPr>
            </a:pPr>
            <a:r>
              <a:t>Continuous Powell stops in a low-misfit valley where a slightly deeper rebar trades against a slightly larger radius.</a:t>
            </a:r>
          </a:p>
          <a:p>
            <a:pPr>
              <a:spcAft>
                <a:spcPts val="800"/>
              </a:spcAft>
              <a:defRPr sz="1500">
                <a:solidFill>
                  <a:srgbClr val="2C3E50"/>
                </a:solidFill>
                <a:latin typeface="Calibri"/>
              </a:defRPr>
            </a:pPr>
            <a:r>
              <a:t>Profiling at the true depth recovers r = 6 mm exactly — so the signal carries radius information.</a:t>
            </a:r>
          </a:p>
          <a:p>
            <a:pPr>
              <a:spcAft>
                <a:spcPts val="800"/>
              </a:spcAft>
              <a:defRPr sz="1500">
                <a:solidFill>
                  <a:srgbClr val="2C3E50"/>
                </a:solidFill>
                <a:latin typeface="Calibri"/>
              </a:defRPr>
            </a:pPr>
            <a:r>
              <a:t>Adding scan positions narrows the valley but does not move its radius minimum. The fix has to come from the search strategy, not from more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Stage 3 — the grid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Accepting that geometry is piecewise constant on the grid</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7</a:t>
            </a:r>
          </a:p>
        </p:txBody>
      </p:sp>
      <p:sp>
        <p:nvSpPr>
          <p:cNvPr id="7" name="TextBox 6"/>
          <p:cNvSpPr txBox="1"/>
          <p:nvPr/>
        </p:nvSpPr>
        <p:spPr>
          <a:xfrm>
            <a:off x="640080" y="1280160"/>
            <a:ext cx="5943600" cy="4572000"/>
          </a:xfrm>
          <a:prstGeom prst="rect">
            <a:avLst/>
          </a:prstGeom>
          <a:noFill/>
        </p:spPr>
        <p:txBody>
          <a:bodyPr wrap="square">
            <a:spAutoFit/>
          </a:bodyPr>
          <a:lstStyle/>
          <a:p>
            <a:pPr>
              <a:spcAft>
                <a:spcPts val="800"/>
              </a:spcAft>
              <a:defRPr sz="1500">
                <a:solidFill>
                  <a:srgbClr val="2C3E50"/>
                </a:solidFill>
                <a:latin typeface="Calibri"/>
              </a:defRPr>
            </a:pPr>
            <a:r>
              <a:t>Powell's continuous step doesn't help past a point: rasterized geometry is piecewise constant in physical coordinates.</a:t>
            </a:r>
          </a:p>
          <a:p>
            <a:pPr>
              <a:spcAft>
                <a:spcPts val="800"/>
              </a:spcAft>
              <a:defRPr sz="1500">
                <a:solidFill>
                  <a:srgbClr val="2C3E50"/>
                </a:solidFill>
                <a:latin typeface="Calibri"/>
              </a:defRPr>
            </a:pPr>
            <a:r>
              <a:t>Polish takes the Powell seed and evaluates a small set of (z, r) candidates on an absolute millimeter grid.</a:t>
            </a:r>
          </a:p>
          <a:p>
            <a:pPr>
              <a:spcAft>
                <a:spcPts val="800"/>
              </a:spcAft>
              <a:defRPr sz="1500">
                <a:solidFill>
                  <a:srgbClr val="2C3E50"/>
                </a:solidFill>
                <a:latin typeface="Calibri"/>
              </a:defRPr>
            </a:pPr>
            <a:r>
              <a:t>Defaults: 40-candidate coarse grid (z step 0.5 mm, r step 0.2 mm). A 160-candidate fine preset is kept for audit runs.</a:t>
            </a:r>
          </a:p>
          <a:p>
            <a:pPr>
              <a:spcAft>
                <a:spcPts val="800"/>
              </a:spcAft>
              <a:defRPr sz="1500">
                <a:solidFill>
                  <a:srgbClr val="2C3E50"/>
                </a:solidFill>
                <a:latin typeface="Calibri"/>
              </a:defRPr>
            </a:pPr>
            <a:r>
              <a:t>Polish exposes the next-best candidates, so the margin between the chosen rebar and its competitors is auditable.</a:t>
            </a:r>
          </a:p>
        </p:txBody>
      </p:sp>
      <p:sp>
        <p:nvSpPr>
          <p:cNvPr id="8" name="Rounded Rectangle 7"/>
          <p:cNvSpPr/>
          <p:nvPr/>
        </p:nvSpPr>
        <p:spPr>
          <a:xfrm>
            <a:off x="7040880" y="1280160"/>
            <a:ext cx="4572000" cy="1828800"/>
          </a:xfrm>
          <a:prstGeom prst="roundRect">
            <a:avLst/>
          </a:prstGeom>
          <a:solidFill>
            <a:srgbClr val="FDF1E0"/>
          </a:solidFill>
          <a:ln w="15875">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40880" y="1417320"/>
            <a:ext cx="4572000" cy="365760"/>
          </a:xfrm>
          <a:prstGeom prst="rect">
            <a:avLst/>
          </a:prstGeom>
          <a:noFill/>
        </p:spPr>
        <p:txBody>
          <a:bodyPr wrap="square">
            <a:spAutoFit/>
          </a:bodyPr>
          <a:lstStyle/>
          <a:p>
            <a:pPr algn="ctr">
              <a:defRPr sz="1400" b="1" i="0">
                <a:solidFill>
                  <a:srgbClr val="1A2332"/>
                </a:solidFill>
                <a:latin typeface="Calibri"/>
              </a:defRPr>
            </a:pPr>
            <a:r>
              <a:t>Powell hand-off</a:t>
            </a:r>
          </a:p>
        </p:txBody>
      </p:sp>
      <p:sp>
        <p:nvSpPr>
          <p:cNvPr id="10" name="TextBox 9"/>
          <p:cNvSpPr txBox="1"/>
          <p:nvPr/>
        </p:nvSpPr>
        <p:spPr>
          <a:xfrm>
            <a:off x="7040880" y="1920240"/>
            <a:ext cx="4572000" cy="1005840"/>
          </a:xfrm>
          <a:prstGeom prst="rect">
            <a:avLst/>
          </a:prstGeom>
          <a:noFill/>
        </p:spPr>
        <p:txBody>
          <a:bodyPr wrap="square">
            <a:spAutoFit/>
          </a:bodyPr>
          <a:lstStyle/>
          <a:p>
            <a:pPr algn="ctr">
              <a:defRPr sz="1400" b="0" i="0">
                <a:solidFill>
                  <a:srgbClr val="2C3E50"/>
                </a:solidFill>
                <a:latin typeface="Calibri"/>
              </a:defRPr>
            </a:pPr>
            <a:r>
              <a:t>x = 249.5 mm   z = 90.65 mm</a:t>
            </a:r>
            <a:br/>
            <a:r>
              <a:t>r = 6.96 mm   J = 2.08e-3</a:t>
            </a:r>
          </a:p>
        </p:txBody>
      </p:sp>
      <p:sp>
        <p:nvSpPr>
          <p:cNvPr id="11" name="Rounded Rectangle 10"/>
          <p:cNvSpPr/>
          <p:nvPr/>
        </p:nvSpPr>
        <p:spPr>
          <a:xfrm>
            <a:off x="7040880" y="3383280"/>
            <a:ext cx="4572000" cy="1828800"/>
          </a:xfrm>
          <a:prstGeom prst="roundRect">
            <a:avLst/>
          </a:prstGeom>
          <a:solidFill>
            <a:srgbClr val="E6F5EC"/>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040880" y="3520440"/>
            <a:ext cx="4572000" cy="365760"/>
          </a:xfrm>
          <a:prstGeom prst="rect">
            <a:avLst/>
          </a:prstGeom>
          <a:noFill/>
        </p:spPr>
        <p:txBody>
          <a:bodyPr wrap="square">
            <a:spAutoFit/>
          </a:bodyPr>
          <a:lstStyle/>
          <a:p>
            <a:pPr algn="ctr">
              <a:defRPr sz="1400" b="1" i="0">
                <a:solidFill>
                  <a:srgbClr val="1A2332"/>
                </a:solidFill>
                <a:latin typeface="Calibri"/>
              </a:defRPr>
            </a:pPr>
            <a:r>
              <a:t>After polish (run 015)</a:t>
            </a:r>
          </a:p>
        </p:txBody>
      </p:sp>
      <p:sp>
        <p:nvSpPr>
          <p:cNvPr id="13" name="TextBox 12"/>
          <p:cNvSpPr txBox="1"/>
          <p:nvPr/>
        </p:nvSpPr>
        <p:spPr>
          <a:xfrm>
            <a:off x="7040880" y="4023360"/>
            <a:ext cx="4572000" cy="1280160"/>
          </a:xfrm>
          <a:prstGeom prst="rect">
            <a:avLst/>
          </a:prstGeom>
          <a:noFill/>
        </p:spPr>
        <p:txBody>
          <a:bodyPr wrap="square">
            <a:spAutoFit/>
          </a:bodyPr>
          <a:lstStyle/>
          <a:p>
            <a:pPr algn="ctr">
              <a:defRPr sz="1400" b="0" i="0">
                <a:solidFill>
                  <a:srgbClr val="2C3E50"/>
                </a:solidFill>
                <a:latin typeface="Calibri"/>
              </a:defRPr>
            </a:pPr>
            <a:r>
              <a:t>x = 250.0 mm   z = 89.75 mm</a:t>
            </a:r>
            <a:br/>
            <a:r>
              <a:t>r = 6.00 mm   J =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Final inversion (exact synthetic)</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Truth = recovered on the 1 mm grid; model and data misfit both zero</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8</a:t>
            </a:r>
          </a:p>
        </p:txBody>
      </p:sp>
      <p:pic>
        <p:nvPicPr>
          <p:cNvPr id="7" name="Picture 6" descr="single_rebar_model_comparison.png"/>
          <p:cNvPicPr>
            <a:picLocks noChangeAspect="1"/>
          </p:cNvPicPr>
          <p:nvPr/>
        </p:nvPicPr>
        <p:blipFill>
          <a:blip r:embed="rId2"/>
          <a:stretch>
            <a:fillRect/>
          </a:stretch>
        </p:blipFill>
        <p:spPr>
          <a:xfrm>
            <a:off x="274320" y="1188720"/>
            <a:ext cx="11887200" cy="3457692"/>
          </a:xfrm>
          <a:prstGeom prst="rect">
            <a:avLst/>
          </a:prstGeom>
        </p:spPr>
      </p:pic>
      <p:sp>
        <p:nvSpPr>
          <p:cNvPr id="8" name="Rounded Rectangle 7"/>
          <p:cNvSpPr/>
          <p:nvPr/>
        </p:nvSpPr>
        <p:spPr>
          <a:xfrm>
            <a:off x="548640" y="4846320"/>
            <a:ext cx="237744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4937760"/>
            <a:ext cx="2377440" cy="457200"/>
          </a:xfrm>
          <a:prstGeom prst="rect">
            <a:avLst/>
          </a:prstGeom>
          <a:noFill/>
        </p:spPr>
        <p:txBody>
          <a:bodyPr wrap="square">
            <a:spAutoFit/>
          </a:bodyPr>
          <a:lstStyle/>
          <a:p>
            <a:pPr algn="ctr">
              <a:defRPr sz="2200" b="1" i="0">
                <a:solidFill>
                  <a:srgbClr val="27AE60"/>
                </a:solidFill>
                <a:latin typeface="Calibri"/>
              </a:defRPr>
            </a:pPr>
            <a:r>
              <a:t>250.0 mm</a:t>
            </a:r>
          </a:p>
        </p:txBody>
      </p:sp>
      <p:sp>
        <p:nvSpPr>
          <p:cNvPr id="10" name="TextBox 9"/>
          <p:cNvSpPr txBox="1"/>
          <p:nvPr/>
        </p:nvSpPr>
        <p:spPr>
          <a:xfrm>
            <a:off x="548640" y="5440680"/>
            <a:ext cx="2377440" cy="457200"/>
          </a:xfrm>
          <a:prstGeom prst="rect">
            <a:avLst/>
          </a:prstGeom>
          <a:noFill/>
        </p:spPr>
        <p:txBody>
          <a:bodyPr wrap="square">
            <a:spAutoFit/>
          </a:bodyPr>
          <a:lstStyle/>
          <a:p>
            <a:pPr algn="ctr">
              <a:defRPr sz="1200" b="0" i="0">
                <a:solidFill>
                  <a:srgbClr val="7F8C8D"/>
                </a:solidFill>
                <a:latin typeface="Calibri"/>
              </a:defRPr>
            </a:pPr>
            <a:r>
              <a:t>x recovery</a:t>
            </a:r>
          </a:p>
        </p:txBody>
      </p:sp>
      <p:sp>
        <p:nvSpPr>
          <p:cNvPr id="11" name="Rounded Rectangle 10"/>
          <p:cNvSpPr/>
          <p:nvPr/>
        </p:nvSpPr>
        <p:spPr>
          <a:xfrm>
            <a:off x="3108960" y="4846320"/>
            <a:ext cx="237744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08960" y="4937760"/>
            <a:ext cx="2377440" cy="457200"/>
          </a:xfrm>
          <a:prstGeom prst="rect">
            <a:avLst/>
          </a:prstGeom>
          <a:noFill/>
        </p:spPr>
        <p:txBody>
          <a:bodyPr wrap="square">
            <a:spAutoFit/>
          </a:bodyPr>
          <a:lstStyle/>
          <a:p>
            <a:pPr algn="ctr">
              <a:defRPr sz="2200" b="1" i="0">
                <a:solidFill>
                  <a:srgbClr val="27AE60"/>
                </a:solidFill>
                <a:latin typeface="Calibri"/>
              </a:defRPr>
            </a:pPr>
            <a:r>
              <a:t>89.75 mm</a:t>
            </a:r>
          </a:p>
        </p:txBody>
      </p:sp>
      <p:sp>
        <p:nvSpPr>
          <p:cNvPr id="13" name="TextBox 12"/>
          <p:cNvSpPr txBox="1"/>
          <p:nvPr/>
        </p:nvSpPr>
        <p:spPr>
          <a:xfrm>
            <a:off x="3108960" y="5440680"/>
            <a:ext cx="2377440" cy="457200"/>
          </a:xfrm>
          <a:prstGeom prst="rect">
            <a:avLst/>
          </a:prstGeom>
          <a:noFill/>
        </p:spPr>
        <p:txBody>
          <a:bodyPr wrap="square">
            <a:spAutoFit/>
          </a:bodyPr>
          <a:lstStyle/>
          <a:p>
            <a:pPr algn="ctr">
              <a:defRPr sz="1200" b="0" i="0">
                <a:solidFill>
                  <a:srgbClr val="7F8C8D"/>
                </a:solidFill>
                <a:latin typeface="Calibri"/>
              </a:defRPr>
            </a:pPr>
            <a:r>
              <a:t>z recovery</a:t>
            </a:r>
          </a:p>
        </p:txBody>
      </p:sp>
      <p:sp>
        <p:nvSpPr>
          <p:cNvPr id="14" name="Rounded Rectangle 13"/>
          <p:cNvSpPr/>
          <p:nvPr/>
        </p:nvSpPr>
        <p:spPr>
          <a:xfrm>
            <a:off x="5669280" y="4846320"/>
            <a:ext cx="237744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4937760"/>
            <a:ext cx="2377440" cy="457200"/>
          </a:xfrm>
          <a:prstGeom prst="rect">
            <a:avLst/>
          </a:prstGeom>
          <a:noFill/>
        </p:spPr>
        <p:txBody>
          <a:bodyPr wrap="square">
            <a:spAutoFit/>
          </a:bodyPr>
          <a:lstStyle/>
          <a:p>
            <a:pPr algn="ctr">
              <a:defRPr sz="2200" b="1" i="0">
                <a:solidFill>
                  <a:srgbClr val="27AE60"/>
                </a:solidFill>
                <a:latin typeface="Calibri"/>
              </a:defRPr>
            </a:pPr>
            <a:r>
              <a:t>6.00 mm</a:t>
            </a:r>
          </a:p>
        </p:txBody>
      </p:sp>
      <p:sp>
        <p:nvSpPr>
          <p:cNvPr id="16" name="TextBox 15"/>
          <p:cNvSpPr txBox="1"/>
          <p:nvPr/>
        </p:nvSpPr>
        <p:spPr>
          <a:xfrm>
            <a:off x="5669280" y="5440680"/>
            <a:ext cx="2377440" cy="457200"/>
          </a:xfrm>
          <a:prstGeom prst="rect">
            <a:avLst/>
          </a:prstGeom>
          <a:noFill/>
        </p:spPr>
        <p:txBody>
          <a:bodyPr wrap="square">
            <a:spAutoFit/>
          </a:bodyPr>
          <a:lstStyle/>
          <a:p>
            <a:pPr algn="ctr">
              <a:defRPr sz="1200" b="0" i="0">
                <a:solidFill>
                  <a:srgbClr val="7F8C8D"/>
                </a:solidFill>
                <a:latin typeface="Calibri"/>
              </a:defRPr>
            </a:pPr>
            <a:r>
              <a:t>radius</a:t>
            </a:r>
          </a:p>
        </p:txBody>
      </p:sp>
      <p:sp>
        <p:nvSpPr>
          <p:cNvPr id="17" name="Rounded Rectangle 16"/>
          <p:cNvSpPr/>
          <p:nvPr/>
        </p:nvSpPr>
        <p:spPr>
          <a:xfrm>
            <a:off x="8229600" y="4846320"/>
            <a:ext cx="3474720" cy="1097280"/>
          </a:xfrm>
          <a:prstGeom prst="roundRect">
            <a:avLst/>
          </a:prstGeom>
          <a:solidFill>
            <a:srgbClr val="EBF5FB"/>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600" y="4937760"/>
            <a:ext cx="3474720" cy="457200"/>
          </a:xfrm>
          <a:prstGeom prst="rect">
            <a:avLst/>
          </a:prstGeom>
          <a:noFill/>
        </p:spPr>
        <p:txBody>
          <a:bodyPr wrap="square">
            <a:spAutoFit/>
          </a:bodyPr>
          <a:lstStyle/>
          <a:p>
            <a:pPr algn="ctr">
              <a:defRPr sz="2200" b="1" i="0">
                <a:solidFill>
                  <a:srgbClr val="27AE60"/>
                </a:solidFill>
                <a:latin typeface="Calibri"/>
              </a:defRPr>
            </a:pPr>
            <a:r>
              <a:t>0  /  0</a:t>
            </a:r>
          </a:p>
        </p:txBody>
      </p:sp>
      <p:sp>
        <p:nvSpPr>
          <p:cNvPr id="19" name="TextBox 18"/>
          <p:cNvSpPr txBox="1"/>
          <p:nvPr/>
        </p:nvSpPr>
        <p:spPr>
          <a:xfrm>
            <a:off x="8229600" y="5440680"/>
            <a:ext cx="3474720" cy="457200"/>
          </a:xfrm>
          <a:prstGeom prst="rect">
            <a:avLst/>
          </a:prstGeom>
          <a:noFill/>
        </p:spPr>
        <p:txBody>
          <a:bodyPr wrap="square">
            <a:spAutoFit/>
          </a:bodyPr>
          <a:lstStyle/>
          <a:p>
            <a:pPr algn="ctr">
              <a:defRPr sz="1200" b="0" i="0">
                <a:solidFill>
                  <a:srgbClr val="7F8C8D"/>
                </a:solidFill>
                <a:latin typeface="Calibri"/>
              </a:defRPr>
            </a:pPr>
            <a:r>
              <a:t>NRMS (model /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Observed vs recovered B-scans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The recovered geometry reproduces the data trace-for-trace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9</a:t>
            </a:r>
          </a:p>
        </p:txBody>
      </p:sp>
      <p:pic>
        <p:nvPicPr>
          <p:cNvPr id="7" name="Picture 6" descr="single_rebar_observed_bscan.png"/>
          <p:cNvPicPr>
            <a:picLocks noChangeAspect="1"/>
          </p:cNvPicPr>
          <p:nvPr/>
        </p:nvPicPr>
        <p:blipFill>
          <a:blip r:embed="rId2"/>
          <a:stretch>
            <a:fillRect/>
          </a:stretch>
        </p:blipFill>
        <p:spPr>
          <a:xfrm>
            <a:off x="182880" y="1280160"/>
            <a:ext cx="5943600" cy="4230759"/>
          </a:xfrm>
          <a:prstGeom prst="rect">
            <a:avLst/>
          </a:prstGeom>
        </p:spPr>
      </p:pic>
      <p:pic>
        <p:nvPicPr>
          <p:cNvPr id="8" name="Picture 7" descr="single_rebar_recovered_bscan.png"/>
          <p:cNvPicPr>
            <a:picLocks noChangeAspect="1"/>
          </p:cNvPicPr>
          <p:nvPr/>
        </p:nvPicPr>
        <p:blipFill>
          <a:blip r:embed="rId3"/>
          <a:stretch>
            <a:fillRect/>
          </a:stretch>
        </p:blipFill>
        <p:spPr>
          <a:xfrm>
            <a:off x="6217920" y="1280160"/>
            <a:ext cx="5943600" cy="4230759"/>
          </a:xfrm>
          <a:prstGeom prst="rect">
            <a:avLst/>
          </a:prstGeom>
        </p:spPr>
      </p:pic>
      <p:sp>
        <p:nvSpPr>
          <p:cNvPr id="9" name="TextBox 8"/>
          <p:cNvSpPr txBox="1"/>
          <p:nvPr/>
        </p:nvSpPr>
        <p:spPr>
          <a:xfrm>
            <a:off x="182880" y="5394960"/>
            <a:ext cx="5943600" cy="411480"/>
          </a:xfrm>
          <a:prstGeom prst="rect">
            <a:avLst/>
          </a:prstGeom>
          <a:noFill/>
        </p:spPr>
        <p:txBody>
          <a:bodyPr wrap="square">
            <a:spAutoFit/>
          </a:bodyPr>
          <a:lstStyle/>
          <a:p>
            <a:pPr algn="ctr">
              <a:defRPr sz="1200" i="1">
                <a:solidFill>
                  <a:srgbClr val="7F8C8D"/>
                </a:solidFill>
                <a:latin typeface="Calibri"/>
              </a:defRPr>
            </a:pPr>
            <a:r>
              <a:t>Observed B-scan (synthetic truth, 5 sources, 1.5 GHz Ricker).</a:t>
            </a:r>
          </a:p>
        </p:txBody>
      </p:sp>
      <p:sp>
        <p:nvSpPr>
          <p:cNvPr id="10" name="TextBox 9"/>
          <p:cNvSpPr txBox="1"/>
          <p:nvPr/>
        </p:nvSpPr>
        <p:spPr>
          <a:xfrm>
            <a:off x="6217920" y="5394960"/>
            <a:ext cx="5943600" cy="411480"/>
          </a:xfrm>
          <a:prstGeom prst="rect">
            <a:avLst/>
          </a:prstGeom>
          <a:noFill/>
        </p:spPr>
        <p:txBody>
          <a:bodyPr wrap="square">
            <a:spAutoFit/>
          </a:bodyPr>
          <a:lstStyle/>
          <a:p>
            <a:pPr algn="ctr">
              <a:defRPr sz="1200" i="1">
                <a:solidFill>
                  <a:srgbClr val="7F8C8D"/>
                </a:solidFill>
                <a:latin typeface="Calibri"/>
              </a:defRPr>
            </a:pPr>
            <a:r>
              <a:t>Recovered B-scan from inverted geometry (run 015).</a:t>
            </a:r>
          </a:p>
        </p:txBody>
      </p:sp>
      <p:sp>
        <p:nvSpPr>
          <p:cNvPr id="11" name="TextBox 10"/>
          <p:cNvSpPr txBox="1"/>
          <p:nvPr/>
        </p:nvSpPr>
        <p:spPr>
          <a:xfrm>
            <a:off x="640080" y="5852160"/>
            <a:ext cx="10972800" cy="640080"/>
          </a:xfrm>
          <a:prstGeom prst="rect">
            <a:avLst/>
          </a:prstGeom>
          <a:noFill/>
        </p:spPr>
        <p:txBody>
          <a:bodyPr wrap="square">
            <a:spAutoFit/>
          </a:bodyPr>
          <a:lstStyle/>
          <a:p>
            <a:pPr algn="l">
              <a:defRPr sz="1400" b="0" i="1">
                <a:solidFill>
                  <a:srgbClr val="2C3E50"/>
                </a:solidFill>
                <a:latin typeface="Calibri"/>
              </a:defRPr>
            </a:pPr>
            <a:r>
              <a:t>Difference is below the floating-point floor: NRMS data = 0. The recovered model is not just a close fit; on the 1 mm grid it is the same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Objective landscape diagnostics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The optimizers are working on a well-behaved local landscape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10</a:t>
            </a:r>
          </a:p>
        </p:txBody>
      </p:sp>
      <p:pic>
        <p:nvPicPr>
          <p:cNvPr id="7" name="Picture 6" descr="xz_landscape.png"/>
          <p:cNvPicPr>
            <a:picLocks noChangeAspect="1"/>
          </p:cNvPicPr>
          <p:nvPr/>
        </p:nvPicPr>
        <p:blipFill>
          <a:blip r:embed="rId2"/>
          <a:stretch>
            <a:fillRect/>
          </a:stretch>
        </p:blipFill>
        <p:spPr>
          <a:xfrm>
            <a:off x="274320" y="1280160"/>
            <a:ext cx="5943600" cy="4526615"/>
          </a:xfrm>
          <a:prstGeom prst="rect">
            <a:avLst/>
          </a:prstGeom>
        </p:spPr>
      </p:pic>
      <p:pic>
        <p:nvPicPr>
          <p:cNvPr id="8" name="Picture 7" descr="z_radius_landscape.png"/>
          <p:cNvPicPr>
            <a:picLocks noChangeAspect="1"/>
          </p:cNvPicPr>
          <p:nvPr/>
        </p:nvPicPr>
        <p:blipFill>
          <a:blip r:embed="rId3"/>
          <a:stretch>
            <a:fillRect/>
          </a:stretch>
        </p:blipFill>
        <p:spPr>
          <a:xfrm>
            <a:off x="6217920" y="1280160"/>
            <a:ext cx="5943600" cy="4526615"/>
          </a:xfrm>
          <a:prstGeom prst="rect">
            <a:avLst/>
          </a:prstGeom>
        </p:spPr>
      </p:pic>
      <p:sp>
        <p:nvSpPr>
          <p:cNvPr id="9" name="TextBox 8"/>
          <p:cNvSpPr txBox="1"/>
          <p:nvPr/>
        </p:nvSpPr>
        <p:spPr>
          <a:xfrm>
            <a:off x="274320" y="5120640"/>
            <a:ext cx="5943600" cy="411480"/>
          </a:xfrm>
          <a:prstGeom prst="rect">
            <a:avLst/>
          </a:prstGeom>
          <a:noFill/>
        </p:spPr>
        <p:txBody>
          <a:bodyPr wrap="square">
            <a:spAutoFit/>
          </a:bodyPr>
          <a:lstStyle/>
          <a:p>
            <a:pPr algn="ctr">
              <a:defRPr sz="1200" i="1">
                <a:solidFill>
                  <a:srgbClr val="7F8C8D"/>
                </a:solidFill>
                <a:latin typeface="Calibri"/>
              </a:defRPr>
            </a:pPr>
            <a:r>
              <a:t>x–z slice at the true radius: unimodal, true position at the dark minimum.</a:t>
            </a:r>
          </a:p>
        </p:txBody>
      </p:sp>
      <p:sp>
        <p:nvSpPr>
          <p:cNvPr id="10" name="TextBox 9"/>
          <p:cNvSpPr txBox="1"/>
          <p:nvPr/>
        </p:nvSpPr>
        <p:spPr>
          <a:xfrm>
            <a:off x="6217920" y="5120640"/>
            <a:ext cx="5943600" cy="411480"/>
          </a:xfrm>
          <a:prstGeom prst="rect">
            <a:avLst/>
          </a:prstGeom>
          <a:noFill/>
        </p:spPr>
        <p:txBody>
          <a:bodyPr wrap="square">
            <a:spAutoFit/>
          </a:bodyPr>
          <a:lstStyle/>
          <a:p>
            <a:pPr algn="ctr">
              <a:defRPr sz="1200" i="1">
                <a:solidFill>
                  <a:srgbClr val="7F8C8D"/>
                </a:solidFill>
                <a:latin typeface="Calibri"/>
              </a:defRPr>
            </a:pPr>
            <a:r>
              <a:t>z–radius slice at the true x: the coupled valley discussed in the previous slide.</a:t>
            </a:r>
          </a:p>
        </p:txBody>
      </p:sp>
      <p:sp>
        <p:nvSpPr>
          <p:cNvPr id="11" name="TextBox 10"/>
          <p:cNvSpPr txBox="1"/>
          <p:nvPr/>
        </p:nvSpPr>
        <p:spPr>
          <a:xfrm>
            <a:off x="640080" y="5669280"/>
            <a:ext cx="10972800" cy="914400"/>
          </a:xfrm>
          <a:prstGeom prst="rect">
            <a:avLst/>
          </a:prstGeom>
          <a:noFill/>
        </p:spPr>
        <p:txBody>
          <a:bodyPr wrap="square">
            <a:spAutoFit/>
          </a:bodyPr>
          <a:lstStyle/>
          <a:p>
            <a:pPr algn="l">
              <a:defRPr sz="1400" b="0" i="0">
                <a:solidFill>
                  <a:srgbClr val="2C3E50"/>
                </a:solidFill>
                <a:latin typeface="Calibri"/>
              </a:defRPr>
            </a:pPr>
            <a:r>
              <a:t>The local landscape has the expected shape: position is convex around truth, but the z–radius slice shows the elongated valley that causes continuous optimizers to stop slightly off-radius. That valley is exactly what the grid polish steps over.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Noise robustness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Recovery stays correct under 1–10% additive observed-data noise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11</a:t>
            </a:r>
          </a:p>
        </p:txBody>
      </p:sp>
      <p:pic>
        <p:nvPicPr>
          <p:cNvPr id="7" name="Picture 6" descr="noise_robustness.png"/>
          <p:cNvPicPr>
            <a:picLocks noChangeAspect="1"/>
          </p:cNvPicPr>
          <p:nvPr/>
        </p:nvPicPr>
        <p:blipFill>
          <a:blip r:embed="rId2"/>
          <a:stretch>
            <a:fillRect/>
          </a:stretch>
        </p:blipFill>
        <p:spPr>
          <a:xfrm>
            <a:off x="274320" y="1280160"/>
            <a:ext cx="11887200" cy="4270306"/>
          </a:xfrm>
          <a:prstGeom prst="rect">
            <a:avLst/>
          </a:prstGeom>
        </p:spPr>
      </p:pic>
      <p:sp>
        <p:nvSpPr>
          <p:cNvPr id="8" name="TextBox 7"/>
          <p:cNvSpPr txBox="1"/>
          <p:nvPr/>
        </p:nvSpPr>
        <p:spPr>
          <a:xfrm>
            <a:off x="640080" y="5486400"/>
            <a:ext cx="10972800" cy="914400"/>
          </a:xfrm>
          <a:prstGeom prst="rect">
            <a:avLst/>
          </a:prstGeom>
          <a:noFill/>
        </p:spPr>
        <p:txBody>
          <a:bodyPr wrap="square">
            <a:spAutoFit/>
          </a:bodyPr>
          <a:lstStyle/>
          <a:p>
            <a:pPr algn="l">
              <a:defRPr sz="1400" b="0" i="0">
                <a:solidFill>
                  <a:srgbClr val="2C3E50"/>
                </a:solidFill>
                <a:latin typeface="Calibri"/>
              </a:defRPr>
            </a:pPr>
            <a:r>
              <a:t>Across two seeds and four noise levels, the polished radius is exactly 6.0 mm and the data NRMS matches the injected noise. Model NRMS stays at zero, meaning the rasterized geometry is unchanged.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Margin at the 10% stress level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Where the radius would start being ambiguous</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12</a:t>
            </a:r>
          </a:p>
        </p:txBody>
      </p:sp>
      <p:pic>
        <p:nvPicPr>
          <p:cNvPr id="7" name="Picture 6" descr="top_k_margin.png"/>
          <p:cNvPicPr>
            <a:picLocks noChangeAspect="1"/>
          </p:cNvPicPr>
          <p:nvPr/>
        </p:nvPicPr>
        <p:blipFill>
          <a:blip r:embed="rId2"/>
          <a:stretch>
            <a:fillRect/>
          </a:stretch>
        </p:blipFill>
        <p:spPr>
          <a:xfrm>
            <a:off x="274320" y="1188720"/>
            <a:ext cx="11887200" cy="4838260"/>
          </a:xfrm>
          <a:prstGeom prst="rect">
            <a:avLst/>
          </a:prstGeom>
        </p:spPr>
      </p:pic>
      <p:sp>
        <p:nvSpPr>
          <p:cNvPr id="8" name="TextBox 7"/>
          <p:cNvSpPr txBox="1"/>
          <p:nvPr/>
        </p:nvSpPr>
        <p:spPr>
          <a:xfrm>
            <a:off x="640080" y="5577840"/>
            <a:ext cx="10972800" cy="822960"/>
          </a:xfrm>
          <a:prstGeom prst="rect">
            <a:avLst/>
          </a:prstGeom>
          <a:noFill/>
        </p:spPr>
        <p:txBody>
          <a:bodyPr wrap="square">
            <a:spAutoFit/>
          </a:bodyPr>
          <a:lstStyle/>
          <a:p>
            <a:pPr algn="l">
              <a:defRPr sz="1400" b="0" i="0">
                <a:solidFill>
                  <a:srgbClr val="2C3E50"/>
                </a:solidFill>
                <a:latin typeface="Calibri"/>
              </a:defRPr>
            </a:pPr>
            <a:r>
              <a:t>At 10% noise, r = 6.0 mm still wins, but by only ≈ 5.6e-4 over r = 6.2 mm. Beyond this point we should treat radius as a distribution rather than a single value, and use the top-k candidates list directly.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10972800" cy="640080"/>
          </a:xfrm>
          <a:prstGeom prst="rect">
            <a:avLst/>
          </a:prstGeom>
          <a:noFill/>
        </p:spPr>
        <p:txBody>
          <a:bodyPr wrap="square">
            <a:spAutoFit/>
          </a:bodyPr>
          <a:lstStyle/>
          <a:p>
            <a:pPr>
              <a:defRPr sz="2800" b="1">
                <a:solidFill>
                  <a:srgbClr val="1A2332"/>
                </a:solidFill>
                <a:latin typeface="Calibri"/>
              </a:defRPr>
            </a:pPr>
            <a:r>
              <a:t>What comes next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400">
                <a:solidFill>
                  <a:srgbClr val="7F8C8D"/>
                </a:solidFill>
                <a:latin typeface="Calibri"/>
              </a:defRPr>
            </a:pPr>
            <a:r>
              <a:t>Lift the twin-experiment assumptions one at a time</a:t>
            </a:r>
          </a:p>
        </p:txBody>
      </p:sp>
      <p:sp>
        <p:nvSpPr>
          <p:cNvPr id="6" name="TextBox 5"/>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13</a:t>
            </a:r>
          </a:p>
        </p:txBody>
      </p:sp>
      <p:sp>
        <p:nvSpPr>
          <p:cNvPr id="7" name="Rounded Rectangle 6"/>
          <p:cNvSpPr/>
          <p:nvPr/>
        </p:nvSpPr>
        <p:spPr>
          <a:xfrm>
            <a:off x="640080" y="1280160"/>
            <a:ext cx="3657600" cy="338328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463040"/>
            <a:ext cx="3657600" cy="502920"/>
          </a:xfrm>
          <a:prstGeom prst="rect">
            <a:avLst/>
          </a:prstGeom>
          <a:noFill/>
        </p:spPr>
        <p:txBody>
          <a:bodyPr wrap="square">
            <a:spAutoFit/>
          </a:bodyPr>
          <a:lstStyle/>
          <a:p>
            <a:pPr algn="ctr">
              <a:defRPr sz="1800" b="1" i="0">
                <a:solidFill>
                  <a:srgbClr val="1A2332"/>
                </a:solidFill>
                <a:latin typeface="Calibri"/>
              </a:defRPr>
            </a:pPr>
            <a:r>
              <a:t>Multi-rebar</a:t>
            </a:r>
          </a:p>
        </p:txBody>
      </p:sp>
      <p:sp>
        <p:nvSpPr>
          <p:cNvPr id="9" name="TextBox 8"/>
          <p:cNvSpPr txBox="1"/>
          <p:nvPr/>
        </p:nvSpPr>
        <p:spPr>
          <a:xfrm>
            <a:off x="640080" y="2057400"/>
            <a:ext cx="3657600" cy="2468880"/>
          </a:xfrm>
          <a:prstGeom prst="rect">
            <a:avLst/>
          </a:prstGeom>
          <a:noFill/>
        </p:spPr>
        <p:txBody>
          <a:bodyPr wrap="square">
            <a:spAutoFit/>
          </a:bodyPr>
          <a:lstStyle/>
          <a:p>
            <a:pPr algn="ctr">
              <a:defRPr sz="1300" b="0" i="0">
                <a:solidFill>
                  <a:srgbClr val="2C3E50"/>
                </a:solidFill>
                <a:latin typeface="Calibri"/>
              </a:defRPr>
            </a:pPr>
            <a:r>
              <a:t>Re-introduce 2-3 rebars with shared global x search and per-rebar polish. The polish stage and identifiability hierarchy stay; the global stage gets harder.</a:t>
            </a:r>
          </a:p>
        </p:txBody>
      </p:sp>
      <p:sp>
        <p:nvSpPr>
          <p:cNvPr id="10" name="Rounded Rectangle 9"/>
          <p:cNvSpPr/>
          <p:nvPr/>
        </p:nvSpPr>
        <p:spPr>
          <a:xfrm>
            <a:off x="4480560" y="1280160"/>
            <a:ext cx="3657600" cy="338328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80560" y="1463040"/>
            <a:ext cx="3657600" cy="502920"/>
          </a:xfrm>
          <a:prstGeom prst="rect">
            <a:avLst/>
          </a:prstGeom>
          <a:noFill/>
        </p:spPr>
        <p:txBody>
          <a:bodyPr wrap="square">
            <a:spAutoFit/>
          </a:bodyPr>
          <a:lstStyle/>
          <a:p>
            <a:pPr algn="ctr">
              <a:defRPr sz="1800" b="1" i="0">
                <a:solidFill>
                  <a:srgbClr val="1A2332"/>
                </a:solidFill>
                <a:latin typeface="Calibri"/>
              </a:defRPr>
            </a:pPr>
            <a:r>
              <a:t>Nuisance parameters</a:t>
            </a:r>
          </a:p>
        </p:txBody>
      </p:sp>
      <p:sp>
        <p:nvSpPr>
          <p:cNvPr id="12" name="TextBox 11"/>
          <p:cNvSpPr txBox="1"/>
          <p:nvPr/>
        </p:nvSpPr>
        <p:spPr>
          <a:xfrm>
            <a:off x="4480560" y="2057400"/>
            <a:ext cx="3657600" cy="2468880"/>
          </a:xfrm>
          <a:prstGeom prst="rect">
            <a:avLst/>
          </a:prstGeom>
          <a:noFill/>
        </p:spPr>
        <p:txBody>
          <a:bodyPr wrap="square">
            <a:spAutoFit/>
          </a:bodyPr>
          <a:lstStyle/>
          <a:p>
            <a:pPr algn="ctr">
              <a:defRPr sz="1300" b="0" i="0">
                <a:solidFill>
                  <a:srgbClr val="2C3E50"/>
                </a:solidFill>
                <a:latin typeface="Calibri"/>
              </a:defRPr>
            </a:pPr>
            <a:r>
              <a:t>Let concrete εr, conductivity, time-zero, and source wavelet float. This is the Jazayeri-style realism gap — radius identifiability depends on calibrating them.</a:t>
            </a:r>
          </a:p>
        </p:txBody>
      </p:sp>
      <p:sp>
        <p:nvSpPr>
          <p:cNvPr id="13" name="Rounded Rectangle 12"/>
          <p:cNvSpPr/>
          <p:nvPr/>
        </p:nvSpPr>
        <p:spPr>
          <a:xfrm>
            <a:off x="8321040" y="1280160"/>
            <a:ext cx="3657600" cy="3383280"/>
          </a:xfrm>
          <a:prstGeom prst="roundRect">
            <a:avLst/>
          </a:prstGeom>
          <a:solidFill>
            <a:srgbClr val="F4F6F8"/>
          </a:solidFill>
          <a:ln w="15875">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0" y="1463040"/>
            <a:ext cx="3657600" cy="502920"/>
          </a:xfrm>
          <a:prstGeom prst="rect">
            <a:avLst/>
          </a:prstGeom>
          <a:noFill/>
        </p:spPr>
        <p:txBody>
          <a:bodyPr wrap="square">
            <a:spAutoFit/>
          </a:bodyPr>
          <a:lstStyle/>
          <a:p>
            <a:pPr algn="ctr">
              <a:defRPr sz="1800" b="1" i="0">
                <a:solidFill>
                  <a:srgbClr val="1A2332"/>
                </a:solidFill>
                <a:latin typeface="Calibri"/>
              </a:defRPr>
            </a:pPr>
            <a:r>
              <a:t>Field-style validation</a:t>
            </a:r>
          </a:p>
        </p:txBody>
      </p:sp>
      <p:sp>
        <p:nvSpPr>
          <p:cNvPr id="15" name="TextBox 14"/>
          <p:cNvSpPr txBox="1"/>
          <p:nvPr/>
        </p:nvSpPr>
        <p:spPr>
          <a:xfrm>
            <a:off x="8321040" y="2057400"/>
            <a:ext cx="3657600" cy="2468880"/>
          </a:xfrm>
          <a:prstGeom prst="rect">
            <a:avLst/>
          </a:prstGeom>
          <a:noFill/>
        </p:spPr>
        <p:txBody>
          <a:bodyPr wrap="square">
            <a:spAutoFit/>
          </a:bodyPr>
          <a:lstStyle/>
          <a:p>
            <a:pPr algn="ctr">
              <a:defRPr sz="1300" b="0" i="0">
                <a:solidFill>
                  <a:srgbClr val="2C3E50"/>
                </a:solidFill>
                <a:latin typeface="Calibri"/>
              </a:defRPr>
            </a:pPr>
            <a:r>
              <a:t>Add a hyperbola/migration baseline (RGPR-style) to quantify what FWI buys over geometry-only methods, and cross-check the forward against gprMax.</a:t>
            </a:r>
          </a:p>
        </p:txBody>
      </p:sp>
      <p:sp>
        <p:nvSpPr>
          <p:cNvPr id="16" name="TextBox 15"/>
          <p:cNvSpPr txBox="1"/>
          <p:nvPr/>
        </p:nvSpPr>
        <p:spPr>
          <a:xfrm>
            <a:off x="640080" y="5029200"/>
            <a:ext cx="10972800" cy="1371600"/>
          </a:xfrm>
          <a:prstGeom prst="rect">
            <a:avLst/>
          </a:prstGeom>
          <a:noFill/>
        </p:spPr>
        <p:txBody>
          <a:bodyPr wrap="square">
            <a:spAutoFit/>
          </a:bodyPr>
          <a:lstStyle/>
          <a:p>
            <a:pPr algn="l">
              <a:defRPr sz="1400" b="0" i="0">
                <a:solidFill>
                  <a:srgbClr val="2C3E50"/>
                </a:solidFill>
                <a:latin typeface="Calibri"/>
              </a:defRPr>
            </a:pPr>
            <a:r>
              <a:t>Each direction is supported by the existing pipeline: the forward model, numbered-run convention, and grid-polish stage transfer directly. The work is in the search strategy and in mapping which parameters the data actually supports.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