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unknowns are intentionally tiny. We're not estimating a full image — we are estimating three numbers from a B-scan. That keeps the inverse problem clean enough to diagnose identifiability.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 1 finds the basin globally on a cheap grid. Stage 2 refines continuously on the production grid. Stage 3 is deterministic and small, and is the part that actually closes the radius gap by accepting that the geometry is rasterized.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forward model is the same one used in the previous geometry-inversion runs. The presentation point is that the GPU batched solver makes one objective evaluation as cheap as a single FDTD run for moderate scan counts.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axes are log-J. On the 2 mm grid the optimizer literally cannot distinguish r=4.5, 5.0, 5.5 because the cell mask is identical. On the 1 mm grid we recover a V-shape with the true radius at the bottom.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central technical insight. Radius bias is not 'optimizer failure', it is a real coupling between depth and radius in the waveform objective near the minimum. The remedy is the grid polish in stage 3.</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Polish is the single most important step for radius in this pipeline. The 0.25 mm z difference is a hard-grid equivalence — multiple sub-mm z values produce the same rasterized circle.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 reads 89.75 because the 1 mm hard-grid circle is identical at z=89.75 and z=90.0 — both produce the same material mask and the same B-scan. That is a representation detail, not a science result.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panels show the same direct-wave band and rebar diffraction. Zero misfit is the strongest possible synthetic-recovery signal.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point isn't that the misfit is small; it is that the recovered geometry doesn't move. The data residual is fully explained by the noise we added.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the calibration of where the pipeline starts to lose discrimination. It also justifies why we save top-k candidates and why noisy field data should not use --polish-stop-misfit 0.</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2332"/>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22960" y="1463040"/>
            <a:ext cx="2377440" cy="320040"/>
          </a:xfrm>
          <a:prstGeom prst="round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463040"/>
            <a:ext cx="2377440" cy="320040"/>
          </a:xfrm>
          <a:prstGeom prst="rect">
            <a:avLst/>
          </a:prstGeom>
          <a:noFill/>
        </p:spPr>
        <p:txBody>
          <a:bodyPr wrap="square">
            <a:spAutoFit/>
          </a:bodyPr>
          <a:lstStyle/>
          <a:p>
            <a:pPr algn="ctr">
              <a:defRPr sz="1200" b="1" i="0">
                <a:solidFill>
                  <a:srgbClr val="1A2332"/>
                </a:solidFill>
                <a:latin typeface="Calibri"/>
              </a:defRPr>
            </a:pPr>
            <a:r>
              <a:t>SINGLE REBAR  •  TWIN EXPERIMENT</a:t>
            </a:r>
          </a:p>
        </p:txBody>
      </p:sp>
      <p:sp>
        <p:nvSpPr>
          <p:cNvPr id="5" name="TextBox 4"/>
          <p:cNvSpPr txBox="1"/>
          <p:nvPr/>
        </p:nvSpPr>
        <p:spPr>
          <a:xfrm>
            <a:off x="777240" y="1920240"/>
            <a:ext cx="10972800" cy="1280160"/>
          </a:xfrm>
          <a:prstGeom prst="rect">
            <a:avLst/>
          </a:prstGeom>
          <a:noFill/>
        </p:spPr>
        <p:txBody>
          <a:bodyPr wrap="square">
            <a:spAutoFit/>
          </a:bodyPr>
          <a:lstStyle/>
          <a:p>
            <a:pPr algn="l">
              <a:defRPr sz="4600" b="1" i="0">
                <a:solidFill>
                  <a:srgbClr val="FFFFFF"/>
                </a:solidFill>
                <a:latin typeface="Calibri"/>
              </a:defRPr>
            </a:pPr>
            <a:r>
              <a:t>Single-Rebar Geometry Inversion</a:t>
            </a:r>
          </a:p>
        </p:txBody>
      </p:sp>
      <p:sp>
        <p:nvSpPr>
          <p:cNvPr id="6" name="TextBox 5"/>
          <p:cNvSpPr txBox="1"/>
          <p:nvPr/>
        </p:nvSpPr>
        <p:spPr>
          <a:xfrm>
            <a:off x="777240" y="2743200"/>
            <a:ext cx="10972800" cy="914400"/>
          </a:xfrm>
          <a:prstGeom prst="rect">
            <a:avLst/>
          </a:prstGeom>
          <a:noFill/>
        </p:spPr>
        <p:txBody>
          <a:bodyPr wrap="square">
            <a:spAutoFit/>
          </a:bodyPr>
          <a:lstStyle/>
          <a:p>
            <a:pPr algn="l">
              <a:defRPr sz="2200" b="0" i="1">
                <a:solidFill>
                  <a:srgbClr val="CCDDEE"/>
                </a:solidFill>
                <a:latin typeface="Calibri"/>
              </a:defRPr>
            </a:pPr>
            <a:r>
              <a:t>Recovering position, depth, and radius from synthetic GPR B-scans</a:t>
            </a:r>
          </a:p>
        </p:txBody>
      </p:sp>
      <p:sp>
        <p:nvSpPr>
          <p:cNvPr id="7" name="Rounded Rectangle 6"/>
          <p:cNvSpPr/>
          <p:nvPr/>
        </p:nvSpPr>
        <p:spPr>
          <a:xfrm>
            <a:off x="777240" y="4114800"/>
            <a:ext cx="3383280" cy="1280160"/>
          </a:xfrm>
          <a:prstGeom prst="roundRect">
            <a:avLst/>
          </a:prstGeom>
          <a:solidFill>
            <a:srgbClr val="243B5E"/>
          </a:solidFill>
          <a:ln w="15875">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4279392"/>
            <a:ext cx="3383280" cy="457200"/>
          </a:xfrm>
          <a:prstGeom prst="rect">
            <a:avLst/>
          </a:prstGeom>
          <a:noFill/>
        </p:spPr>
        <p:txBody>
          <a:bodyPr wrap="square">
            <a:spAutoFit/>
          </a:bodyPr>
          <a:lstStyle/>
          <a:p>
            <a:pPr algn="ctr">
              <a:defRPr sz="1800" b="1" i="0">
                <a:solidFill>
                  <a:srgbClr val="E8913A"/>
                </a:solidFill>
                <a:latin typeface="Calibri"/>
              </a:defRPr>
            </a:pPr>
            <a:r>
              <a:t>GPU FDTD</a:t>
            </a:r>
          </a:p>
        </p:txBody>
      </p:sp>
      <p:sp>
        <p:nvSpPr>
          <p:cNvPr id="9" name="TextBox 8"/>
          <p:cNvSpPr txBox="1"/>
          <p:nvPr/>
        </p:nvSpPr>
        <p:spPr>
          <a:xfrm>
            <a:off x="777240" y="4800600"/>
            <a:ext cx="3383280" cy="457200"/>
          </a:xfrm>
          <a:prstGeom prst="rect">
            <a:avLst/>
          </a:prstGeom>
          <a:noFill/>
        </p:spPr>
        <p:txBody>
          <a:bodyPr wrap="square">
            <a:spAutoFit/>
          </a:bodyPr>
          <a:lstStyle/>
          <a:p>
            <a:pPr algn="ctr">
              <a:defRPr sz="1300" b="0" i="0">
                <a:solidFill>
                  <a:srgbClr val="FFFFFF"/>
                </a:solidFill>
                <a:latin typeface="Calibri"/>
              </a:defRPr>
            </a:pPr>
            <a:r>
              <a:t>2D TMz + CPML, batched</a:t>
            </a:r>
          </a:p>
        </p:txBody>
      </p:sp>
      <p:sp>
        <p:nvSpPr>
          <p:cNvPr id="10" name="Rounded Rectangle 9"/>
          <p:cNvSpPr/>
          <p:nvPr/>
        </p:nvSpPr>
        <p:spPr>
          <a:xfrm>
            <a:off x="4434840" y="4114800"/>
            <a:ext cx="3383280" cy="1280160"/>
          </a:xfrm>
          <a:prstGeom prst="roundRect">
            <a:avLst/>
          </a:prstGeom>
          <a:solidFill>
            <a:srgbClr val="243B5E"/>
          </a:solidFill>
          <a:ln w="15875">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434840" y="4279392"/>
            <a:ext cx="3383280" cy="457200"/>
          </a:xfrm>
          <a:prstGeom prst="rect">
            <a:avLst/>
          </a:prstGeom>
          <a:noFill/>
        </p:spPr>
        <p:txBody>
          <a:bodyPr wrap="square">
            <a:spAutoFit/>
          </a:bodyPr>
          <a:lstStyle/>
          <a:p>
            <a:pPr algn="ctr">
              <a:defRPr sz="1800" b="1" i="0">
                <a:solidFill>
                  <a:srgbClr val="E8913A"/>
                </a:solidFill>
                <a:latin typeface="Calibri"/>
              </a:defRPr>
            </a:pPr>
            <a:r>
              <a:t>Staged solver</a:t>
            </a:r>
          </a:p>
        </p:txBody>
      </p:sp>
      <p:sp>
        <p:nvSpPr>
          <p:cNvPr id="12" name="TextBox 11"/>
          <p:cNvSpPr txBox="1"/>
          <p:nvPr/>
        </p:nvSpPr>
        <p:spPr>
          <a:xfrm>
            <a:off x="4434840" y="4800600"/>
            <a:ext cx="3383280" cy="457200"/>
          </a:xfrm>
          <a:prstGeom prst="rect">
            <a:avLst/>
          </a:prstGeom>
          <a:noFill/>
        </p:spPr>
        <p:txBody>
          <a:bodyPr wrap="square">
            <a:spAutoFit/>
          </a:bodyPr>
          <a:lstStyle/>
          <a:p>
            <a:pPr algn="ctr">
              <a:defRPr sz="1300" b="0" i="0">
                <a:solidFill>
                  <a:srgbClr val="FFFFFF"/>
                </a:solidFill>
                <a:latin typeface="Calibri"/>
              </a:defRPr>
            </a:pPr>
            <a:r>
              <a:t>Coarse → fine → polish</a:t>
            </a:r>
          </a:p>
        </p:txBody>
      </p:sp>
      <p:sp>
        <p:nvSpPr>
          <p:cNvPr id="13" name="Rounded Rectangle 12"/>
          <p:cNvSpPr/>
          <p:nvPr/>
        </p:nvSpPr>
        <p:spPr>
          <a:xfrm>
            <a:off x="8092440" y="4114800"/>
            <a:ext cx="3383280" cy="1280160"/>
          </a:xfrm>
          <a:prstGeom prst="roundRect">
            <a:avLst/>
          </a:prstGeom>
          <a:solidFill>
            <a:srgbClr val="243B5E"/>
          </a:solidFill>
          <a:ln w="15875">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092440" y="4279392"/>
            <a:ext cx="3383280" cy="457200"/>
          </a:xfrm>
          <a:prstGeom prst="rect">
            <a:avLst/>
          </a:prstGeom>
          <a:noFill/>
        </p:spPr>
        <p:txBody>
          <a:bodyPr wrap="square">
            <a:spAutoFit/>
          </a:bodyPr>
          <a:lstStyle/>
          <a:p>
            <a:pPr algn="ctr">
              <a:defRPr sz="1800" b="1" i="0">
                <a:solidFill>
                  <a:srgbClr val="E8913A"/>
                </a:solidFill>
                <a:latin typeface="Calibri"/>
              </a:defRPr>
            </a:pPr>
            <a:r>
              <a:t>Verified</a:t>
            </a:r>
          </a:p>
        </p:txBody>
      </p:sp>
      <p:sp>
        <p:nvSpPr>
          <p:cNvPr id="15" name="TextBox 14"/>
          <p:cNvSpPr txBox="1"/>
          <p:nvPr/>
        </p:nvSpPr>
        <p:spPr>
          <a:xfrm>
            <a:off x="8092440" y="4800600"/>
            <a:ext cx="3383280" cy="457200"/>
          </a:xfrm>
          <a:prstGeom prst="rect">
            <a:avLst/>
          </a:prstGeom>
          <a:noFill/>
        </p:spPr>
        <p:txBody>
          <a:bodyPr wrap="square">
            <a:spAutoFit/>
          </a:bodyPr>
          <a:lstStyle/>
          <a:p>
            <a:pPr algn="ctr">
              <a:defRPr sz="1300" b="0" i="0">
                <a:solidFill>
                  <a:srgbClr val="FFFFFF"/>
                </a:solidFill>
                <a:latin typeface="Calibri"/>
              </a:defRPr>
            </a:pPr>
            <a:r>
              <a:t>Exact recovery, robust to 10% noise</a:t>
            </a:r>
          </a:p>
        </p:txBody>
      </p:sp>
      <p:sp>
        <p:nvSpPr>
          <p:cNvPr id="16" name="TextBox 15"/>
          <p:cNvSpPr txBox="1"/>
          <p:nvPr/>
        </p:nvSpPr>
        <p:spPr>
          <a:xfrm>
            <a:off x="777240" y="6309360"/>
            <a:ext cx="10972800" cy="274320"/>
          </a:xfrm>
          <a:prstGeom prst="rect">
            <a:avLst/>
          </a:prstGeom>
          <a:noFill/>
        </p:spPr>
        <p:txBody>
          <a:bodyPr wrap="square">
            <a:spAutoFit/>
          </a:bodyPr>
          <a:lstStyle/>
          <a:p>
            <a:pPr algn="l">
              <a:defRPr sz="1200" b="0" i="0">
                <a:solidFill>
                  <a:srgbClr val="7F8C8D"/>
                </a:solidFill>
                <a:latin typeface="Calibri"/>
              </a:defRPr>
            </a:pPr>
            <a:r>
              <a:t>GPR-FDTD-FWI  •  DGX Spark  •  2026</a:t>
            </a:r>
          </a:p>
        </p:txBody>
      </p:sp>
      <p:sp>
        <p:nvSpPr>
          <p:cNvPr id="17" name="TextBox 1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01168"/>
            <a:ext cx="10972800" cy="640080"/>
          </a:xfrm>
          <a:prstGeom prst="rect">
            <a:avLst/>
          </a:prstGeom>
          <a:noFill/>
        </p:spPr>
        <p:txBody>
          <a:bodyPr wrap="square">
            <a:spAutoFit/>
          </a:bodyPr>
          <a:lstStyle/>
          <a:p>
            <a:pPr>
              <a:defRPr sz="2800" b="1">
                <a:solidFill>
                  <a:srgbClr val="1A2332"/>
                </a:solidFill>
                <a:latin typeface="Calibri"/>
              </a:defRPr>
            </a:pPr>
            <a:r>
              <a:t>The problem</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68680"/>
            <a:ext cx="10972800" cy="365760"/>
          </a:xfrm>
          <a:prstGeom prst="rect">
            <a:avLst/>
          </a:prstGeom>
          <a:noFill/>
        </p:spPr>
        <p:txBody>
          <a:bodyPr wrap="none">
            <a:spAutoFit/>
          </a:bodyPr>
          <a:lstStyle/>
          <a:p>
            <a:pPr>
              <a:defRPr sz="1400">
                <a:solidFill>
                  <a:srgbClr val="7F8C8D"/>
                </a:solidFill>
                <a:latin typeface="Calibri"/>
              </a:defRPr>
            </a:pPr>
            <a:r>
              <a:t>What we are estimating and what is actually hard</a:t>
            </a:r>
          </a:p>
        </p:txBody>
      </p:sp>
      <p:sp>
        <p:nvSpPr>
          <p:cNvPr id="6" name="TextBox 5"/>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2</a:t>
            </a:r>
          </a:p>
        </p:txBody>
      </p:sp>
      <p:sp>
        <p:nvSpPr>
          <p:cNvPr id="7" name="TextBox 6"/>
          <p:cNvSpPr txBox="1"/>
          <p:nvPr/>
        </p:nvSpPr>
        <p:spPr>
          <a:xfrm>
            <a:off x="640080" y="1280160"/>
            <a:ext cx="6858000" cy="4114800"/>
          </a:xfrm>
          <a:prstGeom prst="rect">
            <a:avLst/>
          </a:prstGeom>
          <a:noFill/>
        </p:spPr>
        <p:txBody>
          <a:bodyPr wrap="square">
            <a:spAutoFit/>
          </a:bodyPr>
          <a:lstStyle/>
          <a:p>
            <a:pPr>
              <a:spcAft>
                <a:spcPts val="800"/>
              </a:spcAft>
              <a:defRPr sz="1500">
                <a:solidFill>
                  <a:srgbClr val="2C3E50"/>
                </a:solidFill>
                <a:latin typeface="Calibri"/>
              </a:defRPr>
            </a:pPr>
            <a:r>
              <a:t>Unknown parameter vector: [x, z, radius] for a single circular rebar in concrete.</a:t>
            </a:r>
          </a:p>
          <a:p>
            <a:pPr>
              <a:spcAft>
                <a:spcPts val="800"/>
              </a:spcAft>
              <a:defRPr sz="1500">
                <a:solidFill>
                  <a:srgbClr val="2C3E50"/>
                </a:solidFill>
                <a:latin typeface="Calibri"/>
              </a:defRPr>
            </a:pPr>
            <a:r>
              <a:t>Observed data: a 2D B-scan (depth-time × lateral position) from common-offset GPR.</a:t>
            </a:r>
          </a:p>
          <a:p>
            <a:pPr>
              <a:spcAft>
                <a:spcPts val="800"/>
              </a:spcAft>
              <a:defRPr sz="1500">
                <a:solidFill>
                  <a:srgbClr val="2C3E50"/>
                </a:solidFill>
                <a:latin typeface="Calibri"/>
              </a:defRPr>
            </a:pPr>
            <a:r>
              <a:t>Twin experiment: synthetic-to-synthetic. The 'observed' B-scan and the candidate B-scans share the same forward operator, so any failure is in the inverse pipeline, not the physics.</a:t>
            </a:r>
          </a:p>
          <a:p>
            <a:pPr>
              <a:spcAft>
                <a:spcPts val="800"/>
              </a:spcAft>
              <a:defRPr sz="1500">
                <a:solidFill>
                  <a:srgbClr val="2C3E50"/>
                </a:solidFill>
                <a:latin typeface="Calibri"/>
              </a:defRPr>
            </a:pPr>
            <a:r>
              <a:t>Identifiability hierarchy (literature-consistent):</a:t>
            </a:r>
          </a:p>
          <a:p>
            <a:pPr lvl="1">
              <a:spcAft>
                <a:spcPts val="800"/>
              </a:spcAft>
              <a:defRPr sz="1500">
                <a:solidFill>
                  <a:srgbClr val="2C3E50"/>
                </a:solidFill>
                <a:latin typeface="Calibri"/>
              </a:defRPr>
            </a:pPr>
            <a:r>
              <a:t>Lateral position: easy, set by hyperbola apex.</a:t>
            </a:r>
          </a:p>
          <a:p>
            <a:pPr lvl="1">
              <a:spcAft>
                <a:spcPts val="800"/>
              </a:spcAft>
              <a:defRPr sz="1500">
                <a:solidFill>
                  <a:srgbClr val="2C3E50"/>
                </a:solidFill>
                <a:latin typeface="Calibri"/>
              </a:defRPr>
            </a:pPr>
            <a:r>
              <a:t>Cover depth: easy once velocity is known.</a:t>
            </a:r>
          </a:p>
          <a:p>
            <a:pPr lvl="1">
              <a:spcAft>
                <a:spcPts val="800"/>
              </a:spcAft>
              <a:defRPr sz="1500">
                <a:solidFill>
                  <a:srgbClr val="2C3E50"/>
                </a:solidFill>
                <a:latin typeface="Calibri"/>
              </a:defRPr>
            </a:pPr>
            <a:r>
              <a:t>Radius / diameter: weakly identified; nuisance-coupled and grid-sensitive.</a:t>
            </a:r>
          </a:p>
        </p:txBody>
      </p:sp>
      <p:sp>
        <p:nvSpPr>
          <p:cNvPr id="8" name="Rounded Rectangle 7"/>
          <p:cNvSpPr/>
          <p:nvPr/>
        </p:nvSpPr>
        <p:spPr>
          <a:xfrm>
            <a:off x="7863840" y="1280160"/>
            <a:ext cx="3749039" cy="4206240"/>
          </a:xfrm>
          <a:prstGeom prst="roundRect">
            <a:avLst/>
          </a:prstGeom>
          <a:solidFill>
            <a:srgbClr val="F4F6F8"/>
          </a:solidFill>
          <a:ln w="15875">
            <a:solidFill>
              <a:srgbClr val="2C5F7C"/>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863840" y="1417320"/>
            <a:ext cx="3749039" cy="457200"/>
          </a:xfrm>
          <a:prstGeom prst="rect">
            <a:avLst/>
          </a:prstGeom>
          <a:noFill/>
        </p:spPr>
        <p:txBody>
          <a:bodyPr wrap="square">
            <a:spAutoFit/>
          </a:bodyPr>
          <a:lstStyle/>
          <a:p>
            <a:pPr algn="ctr">
              <a:defRPr sz="1600" b="1" i="0">
                <a:solidFill>
                  <a:srgbClr val="1A2332"/>
                </a:solidFill>
                <a:latin typeface="Calibri"/>
              </a:defRPr>
            </a:pPr>
            <a:r>
              <a:t>Synthetic truth</a:t>
            </a:r>
          </a:p>
        </p:txBody>
      </p:sp>
      <p:sp>
        <p:nvSpPr>
          <p:cNvPr id="10" name="TextBox 9"/>
          <p:cNvSpPr txBox="1"/>
          <p:nvPr/>
        </p:nvSpPr>
        <p:spPr>
          <a:xfrm>
            <a:off x="7863840" y="1874520"/>
            <a:ext cx="3749039" cy="365760"/>
          </a:xfrm>
          <a:prstGeom prst="rect">
            <a:avLst/>
          </a:prstGeom>
          <a:noFill/>
        </p:spPr>
        <p:txBody>
          <a:bodyPr wrap="square">
            <a:spAutoFit/>
          </a:bodyPr>
          <a:lstStyle/>
          <a:p>
            <a:pPr algn="ctr">
              <a:defRPr sz="1400" b="0" i="0">
                <a:solidFill>
                  <a:srgbClr val="2C3E50"/>
                </a:solidFill>
                <a:latin typeface="Calibri"/>
              </a:defRPr>
            </a:pPr>
            <a:r>
              <a:t>x = 250.0 mm   z = 90.0 mm   r = 6.0 mm</a:t>
            </a:r>
          </a:p>
        </p:txBody>
      </p:sp>
      <p:sp>
        <p:nvSpPr>
          <p:cNvPr id="11" name="TextBox 10"/>
          <p:cNvSpPr txBox="1"/>
          <p:nvPr/>
        </p:nvSpPr>
        <p:spPr>
          <a:xfrm>
            <a:off x="7863840" y="2423160"/>
            <a:ext cx="3749039" cy="457200"/>
          </a:xfrm>
          <a:prstGeom prst="rect">
            <a:avLst/>
          </a:prstGeom>
          <a:noFill/>
        </p:spPr>
        <p:txBody>
          <a:bodyPr wrap="square">
            <a:spAutoFit/>
          </a:bodyPr>
          <a:lstStyle/>
          <a:p>
            <a:pPr algn="ctr">
              <a:defRPr sz="1400" b="1" i="0">
                <a:solidFill>
                  <a:srgbClr val="1A2332"/>
                </a:solidFill>
                <a:latin typeface="Calibri"/>
              </a:defRPr>
            </a:pPr>
            <a:r>
              <a:t>Initial guess (intentionally wrong)</a:t>
            </a:r>
          </a:p>
        </p:txBody>
      </p:sp>
      <p:sp>
        <p:nvSpPr>
          <p:cNvPr id="12" name="TextBox 11"/>
          <p:cNvSpPr txBox="1"/>
          <p:nvPr/>
        </p:nvSpPr>
        <p:spPr>
          <a:xfrm>
            <a:off x="7863840" y="2834640"/>
            <a:ext cx="3749039" cy="365760"/>
          </a:xfrm>
          <a:prstGeom prst="rect">
            <a:avLst/>
          </a:prstGeom>
          <a:noFill/>
        </p:spPr>
        <p:txBody>
          <a:bodyPr wrap="square">
            <a:spAutoFit/>
          </a:bodyPr>
          <a:lstStyle/>
          <a:p>
            <a:pPr algn="ctr">
              <a:defRPr sz="1400" b="0" i="0">
                <a:solidFill>
                  <a:srgbClr val="2C3E50"/>
                </a:solidFill>
                <a:latin typeface="Calibri"/>
              </a:defRPr>
            </a:pPr>
            <a:r>
              <a:t>x = 235.0 mm   z = 80.0 mm   r = 8.0 mm</a:t>
            </a:r>
          </a:p>
        </p:txBody>
      </p:sp>
      <p:sp>
        <p:nvSpPr>
          <p:cNvPr id="13" name="TextBox 12"/>
          <p:cNvSpPr txBox="1"/>
          <p:nvPr/>
        </p:nvSpPr>
        <p:spPr>
          <a:xfrm>
            <a:off x="7863840" y="3429000"/>
            <a:ext cx="3749039" cy="457200"/>
          </a:xfrm>
          <a:prstGeom prst="rect">
            <a:avLst/>
          </a:prstGeom>
          <a:noFill/>
        </p:spPr>
        <p:txBody>
          <a:bodyPr wrap="square">
            <a:spAutoFit/>
          </a:bodyPr>
          <a:lstStyle/>
          <a:p>
            <a:pPr algn="ctr">
              <a:defRPr sz="1400" b="1" i="0">
                <a:solidFill>
                  <a:srgbClr val="1A2332"/>
                </a:solidFill>
                <a:latin typeface="Calibri"/>
              </a:defRPr>
            </a:pPr>
            <a:r>
              <a:t>Acquisition</a:t>
            </a:r>
          </a:p>
        </p:txBody>
      </p:sp>
      <p:sp>
        <p:nvSpPr>
          <p:cNvPr id="14" name="TextBox 13"/>
          <p:cNvSpPr txBox="1"/>
          <p:nvPr/>
        </p:nvSpPr>
        <p:spPr>
          <a:xfrm>
            <a:off x="7863840" y="3886200"/>
            <a:ext cx="3749039" cy="1463040"/>
          </a:xfrm>
          <a:prstGeom prst="rect">
            <a:avLst/>
          </a:prstGeom>
          <a:noFill/>
        </p:spPr>
        <p:txBody>
          <a:bodyPr wrap="square">
            <a:spAutoFit/>
          </a:bodyPr>
          <a:lstStyle/>
          <a:p>
            <a:pPr algn="ctr">
              <a:defRPr sz="1300" b="0" i="0">
                <a:solidFill>
                  <a:srgbClr val="2C3E50"/>
                </a:solidFill>
                <a:latin typeface="Calibri"/>
              </a:defRPr>
            </a:pPr>
            <a:r>
              <a:t>1.5 GHz Ricker source</a:t>
            </a:r>
            <a:br/>
            <a:r>
              <a:t>5–9 scan positions, 20 mm Tx–Rx offset</a:t>
            </a:r>
            <a:br/>
            <a:r>
              <a:t>Concrete εr = 6.0, σ = 0.01 S/m</a:t>
            </a:r>
            <a:br/>
            <a:r>
              <a:t>Air layer above slab</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01168"/>
            <a:ext cx="10972800" cy="640080"/>
          </a:xfrm>
          <a:prstGeom prst="rect">
            <a:avLst/>
          </a:prstGeom>
          <a:noFill/>
        </p:spPr>
        <p:txBody>
          <a:bodyPr wrap="square">
            <a:spAutoFit/>
          </a:bodyPr>
          <a:lstStyle/>
          <a:p>
            <a:pPr>
              <a:defRPr sz="2800" b="1">
                <a:solidFill>
                  <a:srgbClr val="1A2332"/>
                </a:solidFill>
                <a:latin typeface="Calibri"/>
              </a:defRPr>
            </a:pPr>
            <a:r>
              <a:t>Pipeline architecture</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68680"/>
            <a:ext cx="10972800" cy="365760"/>
          </a:xfrm>
          <a:prstGeom prst="rect">
            <a:avLst/>
          </a:prstGeom>
          <a:noFill/>
        </p:spPr>
        <p:txBody>
          <a:bodyPr wrap="none">
            <a:spAutoFit/>
          </a:bodyPr>
          <a:lstStyle/>
          <a:p>
            <a:pPr>
              <a:defRPr sz="1400">
                <a:solidFill>
                  <a:srgbClr val="7F8C8D"/>
                </a:solidFill>
                <a:latin typeface="Calibri"/>
              </a:defRPr>
            </a:pPr>
            <a:r>
              <a:t>Same forward model, three optimizers staged from coarse to fine</a:t>
            </a:r>
          </a:p>
        </p:txBody>
      </p:sp>
      <p:sp>
        <p:nvSpPr>
          <p:cNvPr id="6" name="TextBox 5"/>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3</a:t>
            </a:r>
          </a:p>
        </p:txBody>
      </p:sp>
      <p:pic>
        <p:nvPicPr>
          <p:cNvPr id="7" name="Picture 6" descr="pipeline_architecture.png"/>
          <p:cNvPicPr>
            <a:picLocks noChangeAspect="1"/>
          </p:cNvPicPr>
          <p:nvPr/>
        </p:nvPicPr>
        <p:blipFill>
          <a:blip r:embed="rId2"/>
          <a:stretch>
            <a:fillRect/>
          </a:stretch>
        </p:blipFill>
        <p:spPr>
          <a:xfrm>
            <a:off x="365760" y="1280160"/>
            <a:ext cx="11430000" cy="3947979"/>
          </a:xfrm>
          <a:prstGeom prst="rect">
            <a:avLst/>
          </a:prstGeom>
        </p:spPr>
      </p:pic>
      <p:sp>
        <p:nvSpPr>
          <p:cNvPr id="8" name="TextBox 7"/>
          <p:cNvSpPr txBox="1"/>
          <p:nvPr/>
        </p:nvSpPr>
        <p:spPr>
          <a:xfrm>
            <a:off x="640080" y="5669280"/>
            <a:ext cx="10972800" cy="457200"/>
          </a:xfrm>
          <a:prstGeom prst="rect">
            <a:avLst/>
          </a:prstGeom>
          <a:noFill/>
        </p:spPr>
        <p:txBody>
          <a:bodyPr wrap="square">
            <a:spAutoFit/>
          </a:bodyPr>
          <a:lstStyle/>
          <a:p>
            <a:pPr algn="l">
              <a:defRPr sz="1300" b="0" i="1">
                <a:solidFill>
                  <a:srgbClr val="7F8C8D"/>
                </a:solidFill>
                <a:latin typeface="Calibri"/>
              </a:defRPr>
            </a:pPr>
            <a:r>
              <a:t>Each stage hands its best estimate to the next. The forward model is identical; what changes is the resolution and the search strategy.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01168"/>
            <a:ext cx="10972800" cy="640080"/>
          </a:xfrm>
          <a:prstGeom prst="rect">
            <a:avLst/>
          </a:prstGeom>
          <a:noFill/>
        </p:spPr>
        <p:txBody>
          <a:bodyPr wrap="square">
            <a:spAutoFit/>
          </a:bodyPr>
          <a:lstStyle/>
          <a:p>
            <a:pPr>
              <a:defRPr sz="2800" b="1">
                <a:solidFill>
                  <a:srgbClr val="1A2332"/>
                </a:solidFill>
                <a:latin typeface="Calibri"/>
              </a:defRPr>
            </a:pPr>
            <a:r>
              <a:t>Forward model</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68680"/>
            <a:ext cx="10972800" cy="365760"/>
          </a:xfrm>
          <a:prstGeom prst="rect">
            <a:avLst/>
          </a:prstGeom>
          <a:noFill/>
        </p:spPr>
        <p:txBody>
          <a:bodyPr wrap="none">
            <a:spAutoFit/>
          </a:bodyPr>
          <a:lstStyle/>
          <a:p>
            <a:pPr>
              <a:defRPr sz="1400">
                <a:solidFill>
                  <a:srgbClr val="7F8C8D"/>
                </a:solidFill>
                <a:latin typeface="Calibri"/>
              </a:defRPr>
            </a:pPr>
            <a:r>
              <a:t>GPU-batched 2D TMz FDTD with CPML; parity-tested against the CPU reference</a:t>
            </a:r>
          </a:p>
        </p:txBody>
      </p:sp>
      <p:sp>
        <p:nvSpPr>
          <p:cNvPr id="6" name="TextBox 5"/>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4</a:t>
            </a:r>
          </a:p>
        </p:txBody>
      </p:sp>
      <p:sp>
        <p:nvSpPr>
          <p:cNvPr id="7" name="TextBox 6"/>
          <p:cNvSpPr txBox="1"/>
          <p:nvPr/>
        </p:nvSpPr>
        <p:spPr>
          <a:xfrm>
            <a:off x="640080" y="1280160"/>
            <a:ext cx="5943600" cy="4572000"/>
          </a:xfrm>
          <a:prstGeom prst="rect">
            <a:avLst/>
          </a:prstGeom>
          <a:noFill/>
        </p:spPr>
        <p:txBody>
          <a:bodyPr wrap="square">
            <a:spAutoFit/>
          </a:bodyPr>
          <a:lstStyle/>
          <a:p>
            <a:pPr>
              <a:spcAft>
                <a:spcPts val="800"/>
              </a:spcAft>
              <a:defRPr sz="1500">
                <a:solidFill>
                  <a:srgbClr val="2C3E50"/>
                </a:solidFill>
                <a:latin typeface="Calibri"/>
              </a:defRPr>
            </a:pPr>
            <a:r>
              <a:t>Solver: 2D transverse-magnetic (TMz) Yee-grid FDTD with CPML boundaries.</a:t>
            </a:r>
          </a:p>
          <a:p>
            <a:pPr>
              <a:spcAft>
                <a:spcPts val="800"/>
              </a:spcAft>
              <a:defRPr sz="1500">
                <a:solidFill>
                  <a:srgbClr val="2C3E50"/>
                </a:solidFill>
                <a:latin typeface="Calibri"/>
              </a:defRPr>
            </a:pPr>
            <a:r>
              <a:t>Backend: CuPy on the DGX Spark GB10. Batched B-scan support advances every scan position in one GPU launch.</a:t>
            </a:r>
          </a:p>
          <a:p>
            <a:pPr>
              <a:spcAft>
                <a:spcPts val="800"/>
              </a:spcAft>
              <a:defRPr sz="1500">
                <a:solidFill>
                  <a:srgbClr val="2C3E50"/>
                </a:solidFill>
                <a:latin typeface="Calibri"/>
              </a:defRPr>
            </a:pPr>
            <a:r>
              <a:t>Parity tests cover the single-trace and the batched paths against the CPU CPML solver, so changes in CuPy or kernels can be caught.</a:t>
            </a:r>
          </a:p>
          <a:p>
            <a:pPr>
              <a:spcAft>
                <a:spcPts val="800"/>
              </a:spcAft>
              <a:defRPr sz="1500">
                <a:solidFill>
                  <a:srgbClr val="2C3E50"/>
                </a:solidFill>
                <a:latin typeface="Calibri"/>
              </a:defRPr>
            </a:pPr>
            <a:r>
              <a:t>Numbered-run convention: every diagnostic and inversion writes a run_manifest.json with the command, git commit, backend, and summary path.</a:t>
            </a:r>
          </a:p>
        </p:txBody>
      </p:sp>
      <p:pic>
        <p:nvPicPr>
          <p:cNvPr id="8" name="Picture 7" descr="single_rebar_observed_bscan.png"/>
          <p:cNvPicPr>
            <a:picLocks noChangeAspect="1"/>
          </p:cNvPicPr>
          <p:nvPr/>
        </p:nvPicPr>
        <p:blipFill>
          <a:blip r:embed="rId2"/>
          <a:stretch>
            <a:fillRect/>
          </a:stretch>
        </p:blipFill>
        <p:spPr>
          <a:xfrm>
            <a:off x="7040880" y="1188720"/>
            <a:ext cx="4937760" cy="3514784"/>
          </a:xfrm>
          <a:prstGeom prst="rect">
            <a:avLst/>
          </a:prstGeom>
        </p:spPr>
      </p:pic>
      <p:sp>
        <p:nvSpPr>
          <p:cNvPr id="9" name="TextBox 8"/>
          <p:cNvSpPr txBox="1"/>
          <p:nvPr/>
        </p:nvSpPr>
        <p:spPr>
          <a:xfrm>
            <a:off x="7040880" y="5394960"/>
            <a:ext cx="4937760" cy="411480"/>
          </a:xfrm>
          <a:prstGeom prst="rect">
            <a:avLst/>
          </a:prstGeom>
          <a:noFill/>
        </p:spPr>
        <p:txBody>
          <a:bodyPr wrap="square">
            <a:spAutoFit/>
          </a:bodyPr>
          <a:lstStyle/>
          <a:p>
            <a:pPr algn="ctr">
              <a:defRPr sz="1200" i="1">
                <a:solidFill>
                  <a:srgbClr val="7F8C8D"/>
                </a:solidFill>
                <a:latin typeface="Calibri"/>
              </a:defRPr>
            </a:pPr>
            <a:r>
              <a:t>Synthetic 'observed' B-scan: rebar hyperbola near 2 ns, 5 scan positions, 1.5 GHz.</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01168"/>
            <a:ext cx="10972800" cy="640080"/>
          </a:xfrm>
          <a:prstGeom prst="rect">
            <a:avLst/>
          </a:prstGeom>
          <a:noFill/>
        </p:spPr>
        <p:txBody>
          <a:bodyPr wrap="square">
            <a:spAutoFit/>
          </a:bodyPr>
          <a:lstStyle/>
          <a:p>
            <a:pPr>
              <a:defRPr sz="2800" b="1">
                <a:solidFill>
                  <a:srgbClr val="1A2332"/>
                </a:solidFill>
                <a:latin typeface="Calibri"/>
              </a:defRPr>
            </a:pPr>
            <a:r>
              <a:t>Why radius is hard</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68680"/>
            <a:ext cx="10972800" cy="365760"/>
          </a:xfrm>
          <a:prstGeom prst="rect">
            <a:avLst/>
          </a:prstGeom>
          <a:noFill/>
        </p:spPr>
        <p:txBody>
          <a:bodyPr wrap="none">
            <a:spAutoFit/>
          </a:bodyPr>
          <a:lstStyle/>
          <a:p>
            <a:pPr>
              <a:defRPr sz="1400">
                <a:solidFill>
                  <a:srgbClr val="7F8C8D"/>
                </a:solidFill>
                <a:latin typeface="Calibri"/>
              </a:defRPr>
            </a:pPr>
            <a:r>
              <a:t>Hard-grid rasterization, not lack of signal</a:t>
            </a:r>
          </a:p>
        </p:txBody>
      </p:sp>
      <p:sp>
        <p:nvSpPr>
          <p:cNvPr id="6" name="TextBox 5"/>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5</a:t>
            </a:r>
          </a:p>
        </p:txBody>
      </p:sp>
      <p:pic>
        <p:nvPicPr>
          <p:cNvPr id="7" name="Picture 6" descr="radius_sweep_pair.png"/>
          <p:cNvPicPr>
            <a:picLocks noChangeAspect="1"/>
          </p:cNvPicPr>
          <p:nvPr/>
        </p:nvPicPr>
        <p:blipFill>
          <a:blip r:embed="rId2"/>
          <a:stretch>
            <a:fillRect/>
          </a:stretch>
        </p:blipFill>
        <p:spPr>
          <a:xfrm>
            <a:off x="365760" y="1188720"/>
            <a:ext cx="11521440" cy="3967797"/>
          </a:xfrm>
          <a:prstGeom prst="rect">
            <a:avLst/>
          </a:prstGeom>
        </p:spPr>
      </p:pic>
      <p:sp>
        <p:nvSpPr>
          <p:cNvPr id="8" name="TextBox 7"/>
          <p:cNvSpPr txBox="1"/>
          <p:nvPr/>
        </p:nvSpPr>
        <p:spPr>
          <a:xfrm>
            <a:off x="640080" y="5120640"/>
            <a:ext cx="10972800" cy="914400"/>
          </a:xfrm>
          <a:prstGeom prst="rect">
            <a:avLst/>
          </a:prstGeom>
          <a:noFill/>
        </p:spPr>
        <p:txBody>
          <a:bodyPr wrap="square">
            <a:spAutoFit/>
          </a:bodyPr>
          <a:lstStyle/>
          <a:p>
            <a:pPr algn="l">
              <a:defRPr sz="1400" b="0" i="0">
                <a:solidFill>
                  <a:srgbClr val="2C3E50"/>
                </a:solidFill>
                <a:latin typeface="Calibri"/>
              </a:defRPr>
            </a:pPr>
            <a:r>
              <a:t>Same waveform objective, same scan, same true radius — only the grid step changed. The 2 mm grid produces flat plateaus where nearby radii rasterize to the same material mask. The 1 mm grid breaks the plateaus and reveals a clean basin at r = 6.0 mm.</a:t>
            </a:r>
          </a:p>
        </p:txBody>
      </p:sp>
      <p:sp>
        <p:nvSpPr>
          <p:cNvPr id="9" name="TextBox 8"/>
          <p:cNvSpPr txBox="1"/>
          <p:nvPr/>
        </p:nvSpPr>
        <p:spPr>
          <a:xfrm>
            <a:off x="640080" y="5943600"/>
            <a:ext cx="10972800" cy="457200"/>
          </a:xfrm>
          <a:prstGeom prst="rect">
            <a:avLst/>
          </a:prstGeom>
          <a:noFill/>
        </p:spPr>
        <p:txBody>
          <a:bodyPr wrap="square">
            <a:spAutoFit/>
          </a:bodyPr>
          <a:lstStyle/>
          <a:p>
            <a:pPr algn="l">
              <a:defRPr sz="1400" b="1" i="0">
                <a:solidFill>
                  <a:srgbClr val="E8913A"/>
                </a:solidFill>
                <a:latin typeface="Calibri"/>
              </a:defRPr>
            </a:pPr>
            <a:r>
              <a:t>Significance: radius identifiability in this code is dominated by geometry discretization. Multi-frequency stacking did not fix it; a finer grid did.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01168"/>
            <a:ext cx="10972800" cy="640080"/>
          </a:xfrm>
          <a:prstGeom prst="rect">
            <a:avLst/>
          </a:prstGeom>
          <a:noFill/>
        </p:spPr>
        <p:txBody>
          <a:bodyPr wrap="square">
            <a:spAutoFit/>
          </a:bodyPr>
          <a:lstStyle/>
          <a:p>
            <a:pPr>
              <a:defRPr sz="2800" b="1">
                <a:solidFill>
                  <a:srgbClr val="1A2332"/>
                </a:solidFill>
                <a:latin typeface="Calibri"/>
              </a:defRPr>
            </a:pPr>
            <a:r>
              <a:t>Depth–radius coupling</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68680"/>
            <a:ext cx="10972800" cy="365760"/>
          </a:xfrm>
          <a:prstGeom prst="rect">
            <a:avLst/>
          </a:prstGeom>
          <a:noFill/>
        </p:spPr>
        <p:txBody>
          <a:bodyPr wrap="none">
            <a:spAutoFit/>
          </a:bodyPr>
          <a:lstStyle/>
          <a:p>
            <a:pPr>
              <a:defRPr sz="1400">
                <a:solidFill>
                  <a:srgbClr val="7F8C8D"/>
                </a:solidFill>
                <a:latin typeface="Calibri"/>
              </a:defRPr>
            </a:pPr>
            <a:r>
              <a:t>Why the continuous optimizer still drifts after the grid is fine enough</a:t>
            </a:r>
          </a:p>
        </p:txBody>
      </p:sp>
      <p:sp>
        <p:nvSpPr>
          <p:cNvPr id="6" name="TextBox 5"/>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6</a:t>
            </a:r>
          </a:p>
        </p:txBody>
      </p:sp>
      <p:sp>
        <p:nvSpPr>
          <p:cNvPr id="7" name="Rounded Rectangle 6"/>
          <p:cNvSpPr/>
          <p:nvPr/>
        </p:nvSpPr>
        <p:spPr>
          <a:xfrm>
            <a:off x="640080" y="1280160"/>
            <a:ext cx="3657600" cy="2011680"/>
          </a:xfrm>
          <a:prstGeom prst="roundRect">
            <a:avLst/>
          </a:prstGeom>
          <a:solidFill>
            <a:srgbClr val="FDF1E0"/>
          </a:solidFill>
          <a:ln w="15875">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40080" y="1417320"/>
            <a:ext cx="3657600" cy="457200"/>
          </a:xfrm>
          <a:prstGeom prst="rect">
            <a:avLst/>
          </a:prstGeom>
          <a:noFill/>
        </p:spPr>
        <p:txBody>
          <a:bodyPr wrap="square">
            <a:spAutoFit/>
          </a:bodyPr>
          <a:lstStyle/>
          <a:p>
            <a:pPr algn="ctr">
              <a:defRPr sz="1400" b="1" i="0">
                <a:solidFill>
                  <a:srgbClr val="1A2332"/>
                </a:solidFill>
                <a:latin typeface="Calibri"/>
              </a:defRPr>
            </a:pPr>
            <a:r>
              <a:t>At Powell's stop (run 010)</a:t>
            </a:r>
          </a:p>
        </p:txBody>
      </p:sp>
      <p:sp>
        <p:nvSpPr>
          <p:cNvPr id="9" name="TextBox 8"/>
          <p:cNvSpPr txBox="1"/>
          <p:nvPr/>
        </p:nvSpPr>
        <p:spPr>
          <a:xfrm>
            <a:off x="640080" y="1965960"/>
            <a:ext cx="3657600" cy="1188720"/>
          </a:xfrm>
          <a:prstGeom prst="rect">
            <a:avLst/>
          </a:prstGeom>
          <a:noFill/>
        </p:spPr>
        <p:txBody>
          <a:bodyPr wrap="square">
            <a:spAutoFit/>
          </a:bodyPr>
          <a:lstStyle/>
          <a:p>
            <a:pPr algn="ctr">
              <a:defRPr sz="1300" b="0" i="0">
                <a:solidFill>
                  <a:srgbClr val="2C3E50"/>
                </a:solidFill>
                <a:latin typeface="Calibri"/>
              </a:defRPr>
            </a:pPr>
            <a:r>
              <a:t>x = 249.5 mm   z = 90.65 mm</a:t>
            </a:r>
            <a:br/>
            <a:r>
              <a:t>best radius ≈ 6.80 mm</a:t>
            </a:r>
            <a:br/>
            <a:r>
              <a:t>J ≈ 2.1e-3</a:t>
            </a:r>
          </a:p>
        </p:txBody>
      </p:sp>
      <p:sp>
        <p:nvSpPr>
          <p:cNvPr id="10" name="Rounded Rectangle 9"/>
          <p:cNvSpPr/>
          <p:nvPr/>
        </p:nvSpPr>
        <p:spPr>
          <a:xfrm>
            <a:off x="4480560" y="1280160"/>
            <a:ext cx="3657600" cy="2011680"/>
          </a:xfrm>
          <a:prstGeom prst="roundRect">
            <a:avLst/>
          </a:prstGeom>
          <a:solidFill>
            <a:srgbClr val="E6F5EC"/>
          </a:solidFill>
          <a:ln w="15875">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480560" y="1417320"/>
            <a:ext cx="3657600" cy="457200"/>
          </a:xfrm>
          <a:prstGeom prst="rect">
            <a:avLst/>
          </a:prstGeom>
          <a:noFill/>
        </p:spPr>
        <p:txBody>
          <a:bodyPr wrap="square">
            <a:spAutoFit/>
          </a:bodyPr>
          <a:lstStyle/>
          <a:p>
            <a:pPr algn="ctr">
              <a:defRPr sz="1400" b="1" i="0">
                <a:solidFill>
                  <a:srgbClr val="1A2332"/>
                </a:solidFill>
                <a:latin typeface="Calibri"/>
              </a:defRPr>
            </a:pPr>
            <a:r>
              <a:t>Same x, true depth (run 011)</a:t>
            </a:r>
          </a:p>
        </p:txBody>
      </p:sp>
      <p:sp>
        <p:nvSpPr>
          <p:cNvPr id="12" name="TextBox 11"/>
          <p:cNvSpPr txBox="1"/>
          <p:nvPr/>
        </p:nvSpPr>
        <p:spPr>
          <a:xfrm>
            <a:off x="4480560" y="1965960"/>
            <a:ext cx="3657600" cy="1188720"/>
          </a:xfrm>
          <a:prstGeom prst="rect">
            <a:avLst/>
          </a:prstGeom>
          <a:noFill/>
        </p:spPr>
        <p:txBody>
          <a:bodyPr wrap="square">
            <a:spAutoFit/>
          </a:bodyPr>
          <a:lstStyle/>
          <a:p>
            <a:pPr algn="ctr">
              <a:defRPr sz="1300" b="0" i="0">
                <a:solidFill>
                  <a:srgbClr val="2C3E50"/>
                </a:solidFill>
                <a:latin typeface="Calibri"/>
              </a:defRPr>
            </a:pPr>
            <a:r>
              <a:t>x = 249.5 mm   z = 90.00 mm</a:t>
            </a:r>
            <a:br/>
            <a:r>
              <a:t>best radius = 6.00 mm</a:t>
            </a:r>
            <a:br/>
            <a:r>
              <a:t>J ≈ 0</a:t>
            </a:r>
          </a:p>
        </p:txBody>
      </p:sp>
      <p:sp>
        <p:nvSpPr>
          <p:cNvPr id="13" name="Rounded Rectangle 12"/>
          <p:cNvSpPr/>
          <p:nvPr/>
        </p:nvSpPr>
        <p:spPr>
          <a:xfrm>
            <a:off x="8321040" y="1280160"/>
            <a:ext cx="3657600" cy="2011680"/>
          </a:xfrm>
          <a:prstGeom prst="roundRect">
            <a:avLst/>
          </a:prstGeom>
          <a:solidFill>
            <a:srgbClr val="EBF5FB"/>
          </a:solidFill>
          <a:ln w="15875">
            <a:solidFill>
              <a:srgbClr val="2C5F7C"/>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321040" y="1417320"/>
            <a:ext cx="3657600" cy="457200"/>
          </a:xfrm>
          <a:prstGeom prst="rect">
            <a:avLst/>
          </a:prstGeom>
          <a:noFill/>
        </p:spPr>
        <p:txBody>
          <a:bodyPr wrap="square">
            <a:spAutoFit/>
          </a:bodyPr>
          <a:lstStyle/>
          <a:p>
            <a:pPr algn="ctr">
              <a:defRPr sz="1400" b="1" i="0">
                <a:solidFill>
                  <a:srgbClr val="1A2332"/>
                </a:solidFill>
                <a:latin typeface="Calibri"/>
              </a:defRPr>
            </a:pPr>
            <a:r>
              <a:t>More sources, same z bias (run 013)</a:t>
            </a:r>
          </a:p>
        </p:txBody>
      </p:sp>
      <p:sp>
        <p:nvSpPr>
          <p:cNvPr id="15" name="TextBox 14"/>
          <p:cNvSpPr txBox="1"/>
          <p:nvPr/>
        </p:nvSpPr>
        <p:spPr>
          <a:xfrm>
            <a:off x="8321040" y="1965960"/>
            <a:ext cx="3657600" cy="1188720"/>
          </a:xfrm>
          <a:prstGeom prst="rect">
            <a:avLst/>
          </a:prstGeom>
          <a:noFill/>
        </p:spPr>
        <p:txBody>
          <a:bodyPr wrap="square">
            <a:spAutoFit/>
          </a:bodyPr>
          <a:lstStyle/>
          <a:p>
            <a:pPr algn="ctr">
              <a:defRPr sz="1300" b="0" i="0">
                <a:solidFill>
                  <a:srgbClr val="2C3E50"/>
                </a:solidFill>
                <a:latin typeface="Calibri"/>
              </a:defRPr>
            </a:pPr>
            <a:r>
              <a:t>9 sources, x = 249.5 mm, z = 90.65 mm</a:t>
            </a:r>
            <a:br/>
            <a:r>
              <a:t>best radius ≈ 6.80 mm</a:t>
            </a:r>
            <a:br/>
            <a:r>
              <a:t>9-src didn't move the radius</a:t>
            </a:r>
          </a:p>
        </p:txBody>
      </p:sp>
      <p:sp>
        <p:nvSpPr>
          <p:cNvPr id="16" name="TextBox 15"/>
          <p:cNvSpPr txBox="1"/>
          <p:nvPr/>
        </p:nvSpPr>
        <p:spPr>
          <a:xfrm>
            <a:off x="640080" y="3657600"/>
            <a:ext cx="10972800" cy="2743200"/>
          </a:xfrm>
          <a:prstGeom prst="rect">
            <a:avLst/>
          </a:prstGeom>
          <a:noFill/>
        </p:spPr>
        <p:txBody>
          <a:bodyPr wrap="square">
            <a:spAutoFit/>
          </a:bodyPr>
          <a:lstStyle/>
          <a:p>
            <a:pPr>
              <a:spcAft>
                <a:spcPts val="800"/>
              </a:spcAft>
              <a:defRPr sz="1500">
                <a:solidFill>
                  <a:srgbClr val="2C3E50"/>
                </a:solidFill>
                <a:latin typeface="Calibri"/>
              </a:defRPr>
            </a:pPr>
            <a:r>
              <a:t>Continuous Powell stops in a low-misfit valley where a slightly deeper rebar trades against a slightly larger radius.</a:t>
            </a:r>
          </a:p>
          <a:p>
            <a:pPr>
              <a:spcAft>
                <a:spcPts val="800"/>
              </a:spcAft>
              <a:defRPr sz="1500">
                <a:solidFill>
                  <a:srgbClr val="2C3E50"/>
                </a:solidFill>
                <a:latin typeface="Calibri"/>
              </a:defRPr>
            </a:pPr>
            <a:r>
              <a:t>Profiling at the true depth recovers r = 6 mm exactly — so the signal carries radius information.</a:t>
            </a:r>
          </a:p>
          <a:p>
            <a:pPr>
              <a:spcAft>
                <a:spcPts val="800"/>
              </a:spcAft>
              <a:defRPr sz="1500">
                <a:solidFill>
                  <a:srgbClr val="2C3E50"/>
                </a:solidFill>
                <a:latin typeface="Calibri"/>
              </a:defRPr>
            </a:pPr>
            <a:r>
              <a:t>Adding scan positions narrows the valley but does not move its radius minimum. The fix has to come from the search strategy, not from more data.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01168"/>
            <a:ext cx="10972800" cy="640080"/>
          </a:xfrm>
          <a:prstGeom prst="rect">
            <a:avLst/>
          </a:prstGeom>
          <a:noFill/>
        </p:spPr>
        <p:txBody>
          <a:bodyPr wrap="square">
            <a:spAutoFit/>
          </a:bodyPr>
          <a:lstStyle/>
          <a:p>
            <a:pPr>
              <a:defRPr sz="2800" b="1">
                <a:solidFill>
                  <a:srgbClr val="1A2332"/>
                </a:solidFill>
                <a:latin typeface="Calibri"/>
              </a:defRPr>
            </a:pPr>
            <a:r>
              <a:t>Stage 3 — the grid polish</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68680"/>
            <a:ext cx="10972800" cy="365760"/>
          </a:xfrm>
          <a:prstGeom prst="rect">
            <a:avLst/>
          </a:prstGeom>
          <a:noFill/>
        </p:spPr>
        <p:txBody>
          <a:bodyPr wrap="none">
            <a:spAutoFit/>
          </a:bodyPr>
          <a:lstStyle/>
          <a:p>
            <a:pPr>
              <a:defRPr sz="1400">
                <a:solidFill>
                  <a:srgbClr val="7F8C8D"/>
                </a:solidFill>
                <a:latin typeface="Calibri"/>
              </a:defRPr>
            </a:pPr>
            <a:r>
              <a:t>Accepting that geometry is piecewise constant on the grid</a:t>
            </a:r>
          </a:p>
        </p:txBody>
      </p:sp>
      <p:sp>
        <p:nvSpPr>
          <p:cNvPr id="6" name="TextBox 5"/>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7</a:t>
            </a:r>
          </a:p>
        </p:txBody>
      </p:sp>
      <p:sp>
        <p:nvSpPr>
          <p:cNvPr id="7" name="TextBox 6"/>
          <p:cNvSpPr txBox="1"/>
          <p:nvPr/>
        </p:nvSpPr>
        <p:spPr>
          <a:xfrm>
            <a:off x="640080" y="1280160"/>
            <a:ext cx="5943600" cy="4572000"/>
          </a:xfrm>
          <a:prstGeom prst="rect">
            <a:avLst/>
          </a:prstGeom>
          <a:noFill/>
        </p:spPr>
        <p:txBody>
          <a:bodyPr wrap="square">
            <a:spAutoFit/>
          </a:bodyPr>
          <a:lstStyle/>
          <a:p>
            <a:pPr>
              <a:spcAft>
                <a:spcPts val="800"/>
              </a:spcAft>
              <a:defRPr sz="1500">
                <a:solidFill>
                  <a:srgbClr val="2C3E50"/>
                </a:solidFill>
                <a:latin typeface="Calibri"/>
              </a:defRPr>
            </a:pPr>
            <a:r>
              <a:t>Powell's continuous step doesn't help past a point: rasterized geometry is piecewise constant in physical coordinates.</a:t>
            </a:r>
          </a:p>
          <a:p>
            <a:pPr>
              <a:spcAft>
                <a:spcPts val="800"/>
              </a:spcAft>
              <a:defRPr sz="1500">
                <a:solidFill>
                  <a:srgbClr val="2C3E50"/>
                </a:solidFill>
                <a:latin typeface="Calibri"/>
              </a:defRPr>
            </a:pPr>
            <a:r>
              <a:t>Polish takes the Powell seed and evaluates a small set of (z, r) candidates on an absolute millimeter grid.</a:t>
            </a:r>
          </a:p>
          <a:p>
            <a:pPr>
              <a:spcAft>
                <a:spcPts val="800"/>
              </a:spcAft>
              <a:defRPr sz="1500">
                <a:solidFill>
                  <a:srgbClr val="2C3E50"/>
                </a:solidFill>
                <a:latin typeface="Calibri"/>
              </a:defRPr>
            </a:pPr>
            <a:r>
              <a:t>Defaults: 40-candidate coarse grid (z step 0.5 mm, r step 0.2 mm). A 160-candidate fine preset is kept for audit runs.</a:t>
            </a:r>
          </a:p>
          <a:p>
            <a:pPr>
              <a:spcAft>
                <a:spcPts val="800"/>
              </a:spcAft>
              <a:defRPr sz="1500">
                <a:solidFill>
                  <a:srgbClr val="2C3E50"/>
                </a:solidFill>
                <a:latin typeface="Calibri"/>
              </a:defRPr>
            </a:pPr>
            <a:r>
              <a:t>Polish exposes the next-best candidates, so the margin between the chosen rebar and its competitors is auditable.</a:t>
            </a:r>
          </a:p>
        </p:txBody>
      </p:sp>
      <p:sp>
        <p:nvSpPr>
          <p:cNvPr id="8" name="Rounded Rectangle 7"/>
          <p:cNvSpPr/>
          <p:nvPr/>
        </p:nvSpPr>
        <p:spPr>
          <a:xfrm>
            <a:off x="7040880" y="1280160"/>
            <a:ext cx="4572000" cy="1828800"/>
          </a:xfrm>
          <a:prstGeom prst="roundRect">
            <a:avLst/>
          </a:prstGeom>
          <a:solidFill>
            <a:srgbClr val="FDF1E0"/>
          </a:solidFill>
          <a:ln w="15875">
            <a:solidFill>
              <a:srgbClr val="E8913A"/>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040880" y="1417320"/>
            <a:ext cx="4572000" cy="365760"/>
          </a:xfrm>
          <a:prstGeom prst="rect">
            <a:avLst/>
          </a:prstGeom>
          <a:noFill/>
        </p:spPr>
        <p:txBody>
          <a:bodyPr wrap="square">
            <a:spAutoFit/>
          </a:bodyPr>
          <a:lstStyle/>
          <a:p>
            <a:pPr algn="ctr">
              <a:defRPr sz="1400" b="1" i="0">
                <a:solidFill>
                  <a:srgbClr val="1A2332"/>
                </a:solidFill>
                <a:latin typeface="Calibri"/>
              </a:defRPr>
            </a:pPr>
            <a:r>
              <a:t>Powell hand-off</a:t>
            </a:r>
          </a:p>
        </p:txBody>
      </p:sp>
      <p:sp>
        <p:nvSpPr>
          <p:cNvPr id="10" name="TextBox 9"/>
          <p:cNvSpPr txBox="1"/>
          <p:nvPr/>
        </p:nvSpPr>
        <p:spPr>
          <a:xfrm>
            <a:off x="7040880" y="1920240"/>
            <a:ext cx="4572000" cy="1005840"/>
          </a:xfrm>
          <a:prstGeom prst="rect">
            <a:avLst/>
          </a:prstGeom>
          <a:noFill/>
        </p:spPr>
        <p:txBody>
          <a:bodyPr wrap="square">
            <a:spAutoFit/>
          </a:bodyPr>
          <a:lstStyle/>
          <a:p>
            <a:pPr algn="ctr">
              <a:defRPr sz="1400" b="0" i="0">
                <a:solidFill>
                  <a:srgbClr val="2C3E50"/>
                </a:solidFill>
                <a:latin typeface="Calibri"/>
              </a:defRPr>
            </a:pPr>
            <a:r>
              <a:t>x = 249.5 mm   z = 90.65 mm</a:t>
            </a:r>
            <a:br/>
            <a:r>
              <a:t>r = 6.96 mm   J = 2.08e-3</a:t>
            </a:r>
          </a:p>
        </p:txBody>
      </p:sp>
      <p:sp>
        <p:nvSpPr>
          <p:cNvPr id="11" name="Rounded Rectangle 10"/>
          <p:cNvSpPr/>
          <p:nvPr/>
        </p:nvSpPr>
        <p:spPr>
          <a:xfrm>
            <a:off x="7040880" y="3383280"/>
            <a:ext cx="4572000" cy="1828800"/>
          </a:xfrm>
          <a:prstGeom prst="roundRect">
            <a:avLst/>
          </a:prstGeom>
          <a:solidFill>
            <a:srgbClr val="E6F5EC"/>
          </a:solidFill>
          <a:ln w="15875">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040880" y="3520440"/>
            <a:ext cx="4572000" cy="365760"/>
          </a:xfrm>
          <a:prstGeom prst="rect">
            <a:avLst/>
          </a:prstGeom>
          <a:noFill/>
        </p:spPr>
        <p:txBody>
          <a:bodyPr wrap="square">
            <a:spAutoFit/>
          </a:bodyPr>
          <a:lstStyle/>
          <a:p>
            <a:pPr algn="ctr">
              <a:defRPr sz="1400" b="1" i="0">
                <a:solidFill>
                  <a:srgbClr val="1A2332"/>
                </a:solidFill>
                <a:latin typeface="Calibri"/>
              </a:defRPr>
            </a:pPr>
            <a:r>
              <a:t>After polish (run 015)</a:t>
            </a:r>
          </a:p>
        </p:txBody>
      </p:sp>
      <p:sp>
        <p:nvSpPr>
          <p:cNvPr id="13" name="TextBox 12"/>
          <p:cNvSpPr txBox="1"/>
          <p:nvPr/>
        </p:nvSpPr>
        <p:spPr>
          <a:xfrm>
            <a:off x="7040880" y="4023360"/>
            <a:ext cx="4572000" cy="1280160"/>
          </a:xfrm>
          <a:prstGeom prst="rect">
            <a:avLst/>
          </a:prstGeom>
          <a:noFill/>
        </p:spPr>
        <p:txBody>
          <a:bodyPr wrap="square">
            <a:spAutoFit/>
          </a:bodyPr>
          <a:lstStyle/>
          <a:p>
            <a:pPr algn="ctr">
              <a:defRPr sz="1400" b="0" i="0">
                <a:solidFill>
                  <a:srgbClr val="2C3E50"/>
                </a:solidFill>
                <a:latin typeface="Calibri"/>
              </a:defRPr>
            </a:pPr>
            <a:r>
              <a:t>x = 250.0 mm   z = 89.75 mm</a:t>
            </a:r>
            <a:br/>
            <a:r>
              <a:t>r = 6.00 mm   J = 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01168"/>
            <a:ext cx="10972800" cy="640080"/>
          </a:xfrm>
          <a:prstGeom prst="rect">
            <a:avLst/>
          </a:prstGeom>
          <a:noFill/>
        </p:spPr>
        <p:txBody>
          <a:bodyPr wrap="square">
            <a:spAutoFit/>
          </a:bodyPr>
          <a:lstStyle/>
          <a:p>
            <a:pPr>
              <a:defRPr sz="2800" b="1">
                <a:solidFill>
                  <a:srgbClr val="1A2332"/>
                </a:solidFill>
                <a:latin typeface="Calibri"/>
              </a:defRPr>
            </a:pPr>
            <a:r>
              <a:t>Final inversion (exact synthetic)</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68680"/>
            <a:ext cx="10972800" cy="365760"/>
          </a:xfrm>
          <a:prstGeom prst="rect">
            <a:avLst/>
          </a:prstGeom>
          <a:noFill/>
        </p:spPr>
        <p:txBody>
          <a:bodyPr wrap="none">
            <a:spAutoFit/>
          </a:bodyPr>
          <a:lstStyle/>
          <a:p>
            <a:pPr>
              <a:defRPr sz="1400">
                <a:solidFill>
                  <a:srgbClr val="7F8C8D"/>
                </a:solidFill>
                <a:latin typeface="Calibri"/>
              </a:defRPr>
            </a:pPr>
            <a:r>
              <a:t>Truth = recovered on the 1 mm grid; model and data misfit both zero</a:t>
            </a:r>
          </a:p>
        </p:txBody>
      </p:sp>
      <p:sp>
        <p:nvSpPr>
          <p:cNvPr id="6" name="TextBox 5"/>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8</a:t>
            </a:r>
          </a:p>
        </p:txBody>
      </p:sp>
      <p:pic>
        <p:nvPicPr>
          <p:cNvPr id="7" name="Picture 6" descr="single_rebar_model_comparison.png"/>
          <p:cNvPicPr>
            <a:picLocks noChangeAspect="1"/>
          </p:cNvPicPr>
          <p:nvPr/>
        </p:nvPicPr>
        <p:blipFill>
          <a:blip r:embed="rId2"/>
          <a:stretch>
            <a:fillRect/>
          </a:stretch>
        </p:blipFill>
        <p:spPr>
          <a:xfrm>
            <a:off x="274320" y="1188720"/>
            <a:ext cx="11887200" cy="3457692"/>
          </a:xfrm>
          <a:prstGeom prst="rect">
            <a:avLst/>
          </a:prstGeom>
        </p:spPr>
      </p:pic>
      <p:sp>
        <p:nvSpPr>
          <p:cNvPr id="8" name="Rounded Rectangle 7"/>
          <p:cNvSpPr/>
          <p:nvPr/>
        </p:nvSpPr>
        <p:spPr>
          <a:xfrm>
            <a:off x="548640" y="4846320"/>
            <a:ext cx="2377440" cy="1097280"/>
          </a:xfrm>
          <a:prstGeom prst="roundRect">
            <a:avLst/>
          </a:prstGeom>
          <a:solidFill>
            <a:srgbClr val="EBF5FB"/>
          </a:solidFill>
          <a:ln w="15875">
            <a:solidFill>
              <a:srgbClr val="2C5F7C"/>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4937760"/>
            <a:ext cx="2377440" cy="457200"/>
          </a:xfrm>
          <a:prstGeom prst="rect">
            <a:avLst/>
          </a:prstGeom>
          <a:noFill/>
        </p:spPr>
        <p:txBody>
          <a:bodyPr wrap="square">
            <a:spAutoFit/>
          </a:bodyPr>
          <a:lstStyle/>
          <a:p>
            <a:pPr algn="ctr">
              <a:defRPr sz="2200" b="1" i="0">
                <a:solidFill>
                  <a:srgbClr val="27AE60"/>
                </a:solidFill>
                <a:latin typeface="Calibri"/>
              </a:defRPr>
            </a:pPr>
            <a:r>
              <a:t>250.0 mm</a:t>
            </a:r>
          </a:p>
        </p:txBody>
      </p:sp>
      <p:sp>
        <p:nvSpPr>
          <p:cNvPr id="10" name="TextBox 9"/>
          <p:cNvSpPr txBox="1"/>
          <p:nvPr/>
        </p:nvSpPr>
        <p:spPr>
          <a:xfrm>
            <a:off x="548640" y="5440680"/>
            <a:ext cx="2377440" cy="457200"/>
          </a:xfrm>
          <a:prstGeom prst="rect">
            <a:avLst/>
          </a:prstGeom>
          <a:noFill/>
        </p:spPr>
        <p:txBody>
          <a:bodyPr wrap="square">
            <a:spAutoFit/>
          </a:bodyPr>
          <a:lstStyle/>
          <a:p>
            <a:pPr algn="ctr">
              <a:defRPr sz="1200" b="0" i="0">
                <a:solidFill>
                  <a:srgbClr val="7F8C8D"/>
                </a:solidFill>
                <a:latin typeface="Calibri"/>
              </a:defRPr>
            </a:pPr>
            <a:r>
              <a:t>x recovery</a:t>
            </a:r>
          </a:p>
        </p:txBody>
      </p:sp>
      <p:sp>
        <p:nvSpPr>
          <p:cNvPr id="11" name="Rounded Rectangle 10"/>
          <p:cNvSpPr/>
          <p:nvPr/>
        </p:nvSpPr>
        <p:spPr>
          <a:xfrm>
            <a:off x="3108960" y="4846320"/>
            <a:ext cx="2377440" cy="1097280"/>
          </a:xfrm>
          <a:prstGeom prst="roundRect">
            <a:avLst/>
          </a:prstGeom>
          <a:solidFill>
            <a:srgbClr val="EBF5FB"/>
          </a:solidFill>
          <a:ln w="15875">
            <a:solidFill>
              <a:srgbClr val="2C5F7C"/>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108960" y="4937760"/>
            <a:ext cx="2377440" cy="457200"/>
          </a:xfrm>
          <a:prstGeom prst="rect">
            <a:avLst/>
          </a:prstGeom>
          <a:noFill/>
        </p:spPr>
        <p:txBody>
          <a:bodyPr wrap="square">
            <a:spAutoFit/>
          </a:bodyPr>
          <a:lstStyle/>
          <a:p>
            <a:pPr algn="ctr">
              <a:defRPr sz="2200" b="1" i="0">
                <a:solidFill>
                  <a:srgbClr val="27AE60"/>
                </a:solidFill>
                <a:latin typeface="Calibri"/>
              </a:defRPr>
            </a:pPr>
            <a:r>
              <a:t>89.75 mm</a:t>
            </a:r>
          </a:p>
        </p:txBody>
      </p:sp>
      <p:sp>
        <p:nvSpPr>
          <p:cNvPr id="13" name="TextBox 12"/>
          <p:cNvSpPr txBox="1"/>
          <p:nvPr/>
        </p:nvSpPr>
        <p:spPr>
          <a:xfrm>
            <a:off x="3108960" y="5440680"/>
            <a:ext cx="2377440" cy="457200"/>
          </a:xfrm>
          <a:prstGeom prst="rect">
            <a:avLst/>
          </a:prstGeom>
          <a:noFill/>
        </p:spPr>
        <p:txBody>
          <a:bodyPr wrap="square">
            <a:spAutoFit/>
          </a:bodyPr>
          <a:lstStyle/>
          <a:p>
            <a:pPr algn="ctr">
              <a:defRPr sz="1200" b="0" i="0">
                <a:solidFill>
                  <a:srgbClr val="7F8C8D"/>
                </a:solidFill>
                <a:latin typeface="Calibri"/>
              </a:defRPr>
            </a:pPr>
            <a:r>
              <a:t>z recovery</a:t>
            </a:r>
          </a:p>
        </p:txBody>
      </p:sp>
      <p:sp>
        <p:nvSpPr>
          <p:cNvPr id="14" name="Rounded Rectangle 13"/>
          <p:cNvSpPr/>
          <p:nvPr/>
        </p:nvSpPr>
        <p:spPr>
          <a:xfrm>
            <a:off x="5669280" y="4846320"/>
            <a:ext cx="2377440" cy="1097280"/>
          </a:xfrm>
          <a:prstGeom prst="roundRect">
            <a:avLst/>
          </a:prstGeom>
          <a:solidFill>
            <a:srgbClr val="EBF5FB"/>
          </a:solidFill>
          <a:ln w="15875">
            <a:solidFill>
              <a:srgbClr val="2C5F7C"/>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669280" y="4937760"/>
            <a:ext cx="2377440" cy="457200"/>
          </a:xfrm>
          <a:prstGeom prst="rect">
            <a:avLst/>
          </a:prstGeom>
          <a:noFill/>
        </p:spPr>
        <p:txBody>
          <a:bodyPr wrap="square">
            <a:spAutoFit/>
          </a:bodyPr>
          <a:lstStyle/>
          <a:p>
            <a:pPr algn="ctr">
              <a:defRPr sz="2200" b="1" i="0">
                <a:solidFill>
                  <a:srgbClr val="27AE60"/>
                </a:solidFill>
                <a:latin typeface="Calibri"/>
              </a:defRPr>
            </a:pPr>
            <a:r>
              <a:t>6.00 mm</a:t>
            </a:r>
          </a:p>
        </p:txBody>
      </p:sp>
      <p:sp>
        <p:nvSpPr>
          <p:cNvPr id="16" name="TextBox 15"/>
          <p:cNvSpPr txBox="1"/>
          <p:nvPr/>
        </p:nvSpPr>
        <p:spPr>
          <a:xfrm>
            <a:off x="5669280" y="5440680"/>
            <a:ext cx="2377440" cy="457200"/>
          </a:xfrm>
          <a:prstGeom prst="rect">
            <a:avLst/>
          </a:prstGeom>
          <a:noFill/>
        </p:spPr>
        <p:txBody>
          <a:bodyPr wrap="square">
            <a:spAutoFit/>
          </a:bodyPr>
          <a:lstStyle/>
          <a:p>
            <a:pPr algn="ctr">
              <a:defRPr sz="1200" b="0" i="0">
                <a:solidFill>
                  <a:srgbClr val="7F8C8D"/>
                </a:solidFill>
                <a:latin typeface="Calibri"/>
              </a:defRPr>
            </a:pPr>
            <a:r>
              <a:t>radius</a:t>
            </a:r>
          </a:p>
        </p:txBody>
      </p:sp>
      <p:sp>
        <p:nvSpPr>
          <p:cNvPr id="17" name="Rounded Rectangle 16"/>
          <p:cNvSpPr/>
          <p:nvPr/>
        </p:nvSpPr>
        <p:spPr>
          <a:xfrm>
            <a:off x="8229600" y="4846320"/>
            <a:ext cx="3474720" cy="1097280"/>
          </a:xfrm>
          <a:prstGeom prst="roundRect">
            <a:avLst/>
          </a:prstGeom>
          <a:solidFill>
            <a:srgbClr val="EBF5FB"/>
          </a:solidFill>
          <a:ln w="15875">
            <a:solidFill>
              <a:srgbClr val="2C5F7C"/>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29600" y="4937760"/>
            <a:ext cx="3474720" cy="457200"/>
          </a:xfrm>
          <a:prstGeom prst="rect">
            <a:avLst/>
          </a:prstGeom>
          <a:noFill/>
        </p:spPr>
        <p:txBody>
          <a:bodyPr wrap="square">
            <a:spAutoFit/>
          </a:bodyPr>
          <a:lstStyle/>
          <a:p>
            <a:pPr algn="ctr">
              <a:defRPr sz="2200" b="1" i="0">
                <a:solidFill>
                  <a:srgbClr val="27AE60"/>
                </a:solidFill>
                <a:latin typeface="Calibri"/>
              </a:defRPr>
            </a:pPr>
            <a:r>
              <a:t>0  /  0</a:t>
            </a:r>
          </a:p>
        </p:txBody>
      </p:sp>
      <p:sp>
        <p:nvSpPr>
          <p:cNvPr id="19" name="TextBox 18"/>
          <p:cNvSpPr txBox="1"/>
          <p:nvPr/>
        </p:nvSpPr>
        <p:spPr>
          <a:xfrm>
            <a:off x="8229600" y="5440680"/>
            <a:ext cx="3474720" cy="457200"/>
          </a:xfrm>
          <a:prstGeom prst="rect">
            <a:avLst/>
          </a:prstGeom>
          <a:noFill/>
        </p:spPr>
        <p:txBody>
          <a:bodyPr wrap="square">
            <a:spAutoFit/>
          </a:bodyPr>
          <a:lstStyle/>
          <a:p>
            <a:pPr algn="ctr">
              <a:defRPr sz="1200" b="0" i="0">
                <a:solidFill>
                  <a:srgbClr val="7F8C8D"/>
                </a:solidFill>
                <a:latin typeface="Calibri"/>
              </a:defRPr>
            </a:pPr>
            <a:r>
              <a:t>NRMS (model / data)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01168"/>
            <a:ext cx="10972800" cy="640080"/>
          </a:xfrm>
          <a:prstGeom prst="rect">
            <a:avLst/>
          </a:prstGeom>
          <a:noFill/>
        </p:spPr>
        <p:txBody>
          <a:bodyPr wrap="square">
            <a:spAutoFit/>
          </a:bodyPr>
          <a:lstStyle/>
          <a:p>
            <a:pPr>
              <a:defRPr sz="2800" b="1">
                <a:solidFill>
                  <a:srgbClr val="1A2332"/>
                </a:solidFill>
                <a:latin typeface="Calibri"/>
              </a:defRPr>
            </a:pPr>
            <a:r>
              <a:t>Observed vs recovered B-scans</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68680"/>
            <a:ext cx="10972800" cy="365760"/>
          </a:xfrm>
          <a:prstGeom prst="rect">
            <a:avLst/>
          </a:prstGeom>
          <a:noFill/>
        </p:spPr>
        <p:txBody>
          <a:bodyPr wrap="none">
            <a:spAutoFit/>
          </a:bodyPr>
          <a:lstStyle/>
          <a:p>
            <a:pPr>
              <a:defRPr sz="1400">
                <a:solidFill>
                  <a:srgbClr val="7F8C8D"/>
                </a:solidFill>
                <a:latin typeface="Calibri"/>
              </a:defRPr>
            </a:pPr>
            <a:r>
              <a:t>The recovered geometry reproduces the data trace-for-trace</a:t>
            </a:r>
          </a:p>
        </p:txBody>
      </p:sp>
      <p:sp>
        <p:nvSpPr>
          <p:cNvPr id="6" name="TextBox 5"/>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9</a:t>
            </a:r>
          </a:p>
        </p:txBody>
      </p:sp>
      <p:pic>
        <p:nvPicPr>
          <p:cNvPr id="7" name="Picture 6" descr="single_rebar_observed_bscan.png"/>
          <p:cNvPicPr>
            <a:picLocks noChangeAspect="1"/>
          </p:cNvPicPr>
          <p:nvPr/>
        </p:nvPicPr>
        <p:blipFill>
          <a:blip r:embed="rId2"/>
          <a:stretch>
            <a:fillRect/>
          </a:stretch>
        </p:blipFill>
        <p:spPr>
          <a:xfrm>
            <a:off x="182880" y="1280160"/>
            <a:ext cx="5943600" cy="4230759"/>
          </a:xfrm>
          <a:prstGeom prst="rect">
            <a:avLst/>
          </a:prstGeom>
        </p:spPr>
      </p:pic>
      <p:pic>
        <p:nvPicPr>
          <p:cNvPr id="8" name="Picture 7" descr="single_rebar_recovered_bscan.png"/>
          <p:cNvPicPr>
            <a:picLocks noChangeAspect="1"/>
          </p:cNvPicPr>
          <p:nvPr/>
        </p:nvPicPr>
        <p:blipFill>
          <a:blip r:embed="rId3"/>
          <a:stretch>
            <a:fillRect/>
          </a:stretch>
        </p:blipFill>
        <p:spPr>
          <a:xfrm>
            <a:off x="6217920" y="1280160"/>
            <a:ext cx="5943600" cy="4230759"/>
          </a:xfrm>
          <a:prstGeom prst="rect">
            <a:avLst/>
          </a:prstGeom>
        </p:spPr>
      </p:pic>
      <p:sp>
        <p:nvSpPr>
          <p:cNvPr id="9" name="TextBox 8"/>
          <p:cNvSpPr txBox="1"/>
          <p:nvPr/>
        </p:nvSpPr>
        <p:spPr>
          <a:xfrm>
            <a:off x="182880" y="5394960"/>
            <a:ext cx="5943600" cy="411480"/>
          </a:xfrm>
          <a:prstGeom prst="rect">
            <a:avLst/>
          </a:prstGeom>
          <a:noFill/>
        </p:spPr>
        <p:txBody>
          <a:bodyPr wrap="square">
            <a:spAutoFit/>
          </a:bodyPr>
          <a:lstStyle/>
          <a:p>
            <a:pPr algn="ctr">
              <a:defRPr sz="1200" i="1">
                <a:solidFill>
                  <a:srgbClr val="7F8C8D"/>
                </a:solidFill>
                <a:latin typeface="Calibri"/>
              </a:defRPr>
            </a:pPr>
            <a:r>
              <a:t>Observed B-scan (synthetic truth, 5 sources, 1.5 GHz Ricker).</a:t>
            </a:r>
          </a:p>
        </p:txBody>
      </p:sp>
      <p:sp>
        <p:nvSpPr>
          <p:cNvPr id="10" name="TextBox 9"/>
          <p:cNvSpPr txBox="1"/>
          <p:nvPr/>
        </p:nvSpPr>
        <p:spPr>
          <a:xfrm>
            <a:off x="6217920" y="5394960"/>
            <a:ext cx="5943600" cy="411480"/>
          </a:xfrm>
          <a:prstGeom prst="rect">
            <a:avLst/>
          </a:prstGeom>
          <a:noFill/>
        </p:spPr>
        <p:txBody>
          <a:bodyPr wrap="square">
            <a:spAutoFit/>
          </a:bodyPr>
          <a:lstStyle/>
          <a:p>
            <a:pPr algn="ctr">
              <a:defRPr sz="1200" i="1">
                <a:solidFill>
                  <a:srgbClr val="7F8C8D"/>
                </a:solidFill>
                <a:latin typeface="Calibri"/>
              </a:defRPr>
            </a:pPr>
            <a:r>
              <a:t>Recovered B-scan from inverted geometry (run 015).</a:t>
            </a:r>
          </a:p>
        </p:txBody>
      </p:sp>
      <p:sp>
        <p:nvSpPr>
          <p:cNvPr id="11" name="TextBox 10"/>
          <p:cNvSpPr txBox="1"/>
          <p:nvPr/>
        </p:nvSpPr>
        <p:spPr>
          <a:xfrm>
            <a:off x="640080" y="5852160"/>
            <a:ext cx="10972800" cy="640080"/>
          </a:xfrm>
          <a:prstGeom prst="rect">
            <a:avLst/>
          </a:prstGeom>
          <a:noFill/>
        </p:spPr>
        <p:txBody>
          <a:bodyPr wrap="square">
            <a:spAutoFit/>
          </a:bodyPr>
          <a:lstStyle/>
          <a:p>
            <a:pPr algn="l">
              <a:defRPr sz="1400" b="0" i="1">
                <a:solidFill>
                  <a:srgbClr val="2C3E50"/>
                </a:solidFill>
                <a:latin typeface="Calibri"/>
              </a:defRPr>
            </a:pPr>
            <a:r>
              <a:t>Difference is below the floating-point floor: NRMS data = 0. The recovered model is not just a close fit; on the 1 mm grid it is the same model.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01168"/>
            <a:ext cx="10972800" cy="640080"/>
          </a:xfrm>
          <a:prstGeom prst="rect">
            <a:avLst/>
          </a:prstGeom>
          <a:noFill/>
        </p:spPr>
        <p:txBody>
          <a:bodyPr wrap="square">
            <a:spAutoFit/>
          </a:bodyPr>
          <a:lstStyle/>
          <a:p>
            <a:pPr>
              <a:defRPr sz="2800" b="1">
                <a:solidFill>
                  <a:srgbClr val="1A2332"/>
                </a:solidFill>
                <a:latin typeface="Calibri"/>
              </a:defRPr>
            </a:pPr>
            <a:r>
              <a:t>Objective landscape diagnostics</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68680"/>
            <a:ext cx="10972800" cy="365760"/>
          </a:xfrm>
          <a:prstGeom prst="rect">
            <a:avLst/>
          </a:prstGeom>
          <a:noFill/>
        </p:spPr>
        <p:txBody>
          <a:bodyPr wrap="none">
            <a:spAutoFit/>
          </a:bodyPr>
          <a:lstStyle/>
          <a:p>
            <a:pPr>
              <a:defRPr sz="1400">
                <a:solidFill>
                  <a:srgbClr val="7F8C8D"/>
                </a:solidFill>
                <a:latin typeface="Calibri"/>
              </a:defRPr>
            </a:pPr>
            <a:r>
              <a:t>The optimizers are working on a well-behaved local landscape</a:t>
            </a:r>
          </a:p>
        </p:txBody>
      </p:sp>
      <p:sp>
        <p:nvSpPr>
          <p:cNvPr id="6" name="TextBox 5"/>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10</a:t>
            </a:r>
          </a:p>
        </p:txBody>
      </p:sp>
      <p:pic>
        <p:nvPicPr>
          <p:cNvPr id="7" name="Picture 6" descr="xz_landscape.png"/>
          <p:cNvPicPr>
            <a:picLocks noChangeAspect="1"/>
          </p:cNvPicPr>
          <p:nvPr/>
        </p:nvPicPr>
        <p:blipFill>
          <a:blip r:embed="rId2"/>
          <a:stretch>
            <a:fillRect/>
          </a:stretch>
        </p:blipFill>
        <p:spPr>
          <a:xfrm>
            <a:off x="274320" y="1280160"/>
            <a:ext cx="5943600" cy="4526615"/>
          </a:xfrm>
          <a:prstGeom prst="rect">
            <a:avLst/>
          </a:prstGeom>
        </p:spPr>
      </p:pic>
      <p:pic>
        <p:nvPicPr>
          <p:cNvPr id="8" name="Picture 7" descr="z_radius_landscape.png"/>
          <p:cNvPicPr>
            <a:picLocks noChangeAspect="1"/>
          </p:cNvPicPr>
          <p:nvPr/>
        </p:nvPicPr>
        <p:blipFill>
          <a:blip r:embed="rId3"/>
          <a:stretch>
            <a:fillRect/>
          </a:stretch>
        </p:blipFill>
        <p:spPr>
          <a:xfrm>
            <a:off x="6217920" y="1280160"/>
            <a:ext cx="5943600" cy="4526615"/>
          </a:xfrm>
          <a:prstGeom prst="rect">
            <a:avLst/>
          </a:prstGeom>
        </p:spPr>
      </p:pic>
      <p:sp>
        <p:nvSpPr>
          <p:cNvPr id="9" name="TextBox 8"/>
          <p:cNvSpPr txBox="1"/>
          <p:nvPr/>
        </p:nvSpPr>
        <p:spPr>
          <a:xfrm>
            <a:off x="274320" y="5120640"/>
            <a:ext cx="5943600" cy="411480"/>
          </a:xfrm>
          <a:prstGeom prst="rect">
            <a:avLst/>
          </a:prstGeom>
          <a:noFill/>
        </p:spPr>
        <p:txBody>
          <a:bodyPr wrap="square">
            <a:spAutoFit/>
          </a:bodyPr>
          <a:lstStyle/>
          <a:p>
            <a:pPr algn="ctr">
              <a:defRPr sz="1200" i="1">
                <a:solidFill>
                  <a:srgbClr val="7F8C8D"/>
                </a:solidFill>
                <a:latin typeface="Calibri"/>
              </a:defRPr>
            </a:pPr>
            <a:r>
              <a:t>x–z slice at the true radius: unimodal, true position at the dark minimum.</a:t>
            </a:r>
          </a:p>
        </p:txBody>
      </p:sp>
      <p:sp>
        <p:nvSpPr>
          <p:cNvPr id="10" name="TextBox 9"/>
          <p:cNvSpPr txBox="1"/>
          <p:nvPr/>
        </p:nvSpPr>
        <p:spPr>
          <a:xfrm>
            <a:off x="6217920" y="5120640"/>
            <a:ext cx="5943600" cy="411480"/>
          </a:xfrm>
          <a:prstGeom prst="rect">
            <a:avLst/>
          </a:prstGeom>
          <a:noFill/>
        </p:spPr>
        <p:txBody>
          <a:bodyPr wrap="square">
            <a:spAutoFit/>
          </a:bodyPr>
          <a:lstStyle/>
          <a:p>
            <a:pPr algn="ctr">
              <a:defRPr sz="1200" i="1">
                <a:solidFill>
                  <a:srgbClr val="7F8C8D"/>
                </a:solidFill>
                <a:latin typeface="Calibri"/>
              </a:defRPr>
            </a:pPr>
            <a:r>
              <a:t>z–radius slice at the true x: the coupled valley discussed in the previous slide.</a:t>
            </a:r>
          </a:p>
        </p:txBody>
      </p:sp>
      <p:sp>
        <p:nvSpPr>
          <p:cNvPr id="11" name="TextBox 10"/>
          <p:cNvSpPr txBox="1"/>
          <p:nvPr/>
        </p:nvSpPr>
        <p:spPr>
          <a:xfrm>
            <a:off x="640080" y="5669280"/>
            <a:ext cx="10972800" cy="914400"/>
          </a:xfrm>
          <a:prstGeom prst="rect">
            <a:avLst/>
          </a:prstGeom>
          <a:noFill/>
        </p:spPr>
        <p:txBody>
          <a:bodyPr wrap="square">
            <a:spAutoFit/>
          </a:bodyPr>
          <a:lstStyle/>
          <a:p>
            <a:pPr algn="l">
              <a:defRPr sz="1400" b="0" i="0">
                <a:solidFill>
                  <a:srgbClr val="2C3E50"/>
                </a:solidFill>
                <a:latin typeface="Calibri"/>
              </a:defRPr>
            </a:pPr>
            <a:r>
              <a:t>The local landscape has the expected shape: position is convex around truth, but the z–radius slice shows the elongated valley that causes continuous optimizers to stop slightly off-radius. That valley is exactly what the grid polish steps over.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01168"/>
            <a:ext cx="10972800" cy="640080"/>
          </a:xfrm>
          <a:prstGeom prst="rect">
            <a:avLst/>
          </a:prstGeom>
          <a:noFill/>
        </p:spPr>
        <p:txBody>
          <a:bodyPr wrap="square">
            <a:spAutoFit/>
          </a:bodyPr>
          <a:lstStyle/>
          <a:p>
            <a:pPr>
              <a:defRPr sz="2800" b="1">
                <a:solidFill>
                  <a:srgbClr val="1A2332"/>
                </a:solidFill>
                <a:latin typeface="Calibri"/>
              </a:defRPr>
            </a:pPr>
            <a:r>
              <a:t>Noise robustness</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68680"/>
            <a:ext cx="10972800" cy="365760"/>
          </a:xfrm>
          <a:prstGeom prst="rect">
            <a:avLst/>
          </a:prstGeom>
          <a:noFill/>
        </p:spPr>
        <p:txBody>
          <a:bodyPr wrap="none">
            <a:spAutoFit/>
          </a:bodyPr>
          <a:lstStyle/>
          <a:p>
            <a:pPr>
              <a:defRPr sz="1400">
                <a:solidFill>
                  <a:srgbClr val="7F8C8D"/>
                </a:solidFill>
                <a:latin typeface="Calibri"/>
              </a:defRPr>
            </a:pPr>
            <a:r>
              <a:t>Recovery stays correct under 1–10% additive observed-data noise</a:t>
            </a:r>
          </a:p>
        </p:txBody>
      </p:sp>
      <p:sp>
        <p:nvSpPr>
          <p:cNvPr id="6" name="TextBox 5"/>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11</a:t>
            </a:r>
          </a:p>
        </p:txBody>
      </p:sp>
      <p:pic>
        <p:nvPicPr>
          <p:cNvPr id="7" name="Picture 6" descr="noise_robustness.png"/>
          <p:cNvPicPr>
            <a:picLocks noChangeAspect="1"/>
          </p:cNvPicPr>
          <p:nvPr/>
        </p:nvPicPr>
        <p:blipFill>
          <a:blip r:embed="rId2"/>
          <a:stretch>
            <a:fillRect/>
          </a:stretch>
        </p:blipFill>
        <p:spPr>
          <a:xfrm>
            <a:off x="274320" y="1280160"/>
            <a:ext cx="11887200" cy="4270306"/>
          </a:xfrm>
          <a:prstGeom prst="rect">
            <a:avLst/>
          </a:prstGeom>
        </p:spPr>
      </p:pic>
      <p:sp>
        <p:nvSpPr>
          <p:cNvPr id="8" name="TextBox 7"/>
          <p:cNvSpPr txBox="1"/>
          <p:nvPr/>
        </p:nvSpPr>
        <p:spPr>
          <a:xfrm>
            <a:off x="640080" y="5486400"/>
            <a:ext cx="10972800" cy="914400"/>
          </a:xfrm>
          <a:prstGeom prst="rect">
            <a:avLst/>
          </a:prstGeom>
          <a:noFill/>
        </p:spPr>
        <p:txBody>
          <a:bodyPr wrap="square">
            <a:spAutoFit/>
          </a:bodyPr>
          <a:lstStyle/>
          <a:p>
            <a:pPr algn="l">
              <a:defRPr sz="1400" b="0" i="0">
                <a:solidFill>
                  <a:srgbClr val="2C3E50"/>
                </a:solidFill>
                <a:latin typeface="Calibri"/>
              </a:defRPr>
            </a:pPr>
            <a:r>
              <a:t>Across two seeds and four noise levels, the polished radius is exactly 6.0 mm and the data NRMS matches the injected noise. Model NRMS stays at zero, meaning the rasterized geometry is unchanged.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01168"/>
            <a:ext cx="10972800" cy="640080"/>
          </a:xfrm>
          <a:prstGeom prst="rect">
            <a:avLst/>
          </a:prstGeom>
          <a:noFill/>
        </p:spPr>
        <p:txBody>
          <a:bodyPr wrap="square">
            <a:spAutoFit/>
          </a:bodyPr>
          <a:lstStyle/>
          <a:p>
            <a:pPr>
              <a:defRPr sz="2800" b="1">
                <a:solidFill>
                  <a:srgbClr val="1A2332"/>
                </a:solidFill>
                <a:latin typeface="Calibri"/>
              </a:defRPr>
            </a:pPr>
            <a:r>
              <a:t>Margin at the 10% stress level</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68680"/>
            <a:ext cx="10972800" cy="365760"/>
          </a:xfrm>
          <a:prstGeom prst="rect">
            <a:avLst/>
          </a:prstGeom>
          <a:noFill/>
        </p:spPr>
        <p:txBody>
          <a:bodyPr wrap="none">
            <a:spAutoFit/>
          </a:bodyPr>
          <a:lstStyle/>
          <a:p>
            <a:pPr>
              <a:defRPr sz="1400">
                <a:solidFill>
                  <a:srgbClr val="7F8C8D"/>
                </a:solidFill>
                <a:latin typeface="Calibri"/>
              </a:defRPr>
            </a:pPr>
            <a:r>
              <a:t>Where the radius would start being ambiguous</a:t>
            </a:r>
          </a:p>
        </p:txBody>
      </p:sp>
      <p:sp>
        <p:nvSpPr>
          <p:cNvPr id="6" name="TextBox 5"/>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12</a:t>
            </a:r>
          </a:p>
        </p:txBody>
      </p:sp>
      <p:pic>
        <p:nvPicPr>
          <p:cNvPr id="7" name="Picture 6" descr="top_k_margin.png"/>
          <p:cNvPicPr>
            <a:picLocks noChangeAspect="1"/>
          </p:cNvPicPr>
          <p:nvPr/>
        </p:nvPicPr>
        <p:blipFill>
          <a:blip r:embed="rId2"/>
          <a:stretch>
            <a:fillRect/>
          </a:stretch>
        </p:blipFill>
        <p:spPr>
          <a:xfrm>
            <a:off x="274320" y="1188720"/>
            <a:ext cx="11887200" cy="4838260"/>
          </a:xfrm>
          <a:prstGeom prst="rect">
            <a:avLst/>
          </a:prstGeom>
        </p:spPr>
      </p:pic>
      <p:sp>
        <p:nvSpPr>
          <p:cNvPr id="8" name="TextBox 7"/>
          <p:cNvSpPr txBox="1"/>
          <p:nvPr/>
        </p:nvSpPr>
        <p:spPr>
          <a:xfrm>
            <a:off x="640080" y="5577840"/>
            <a:ext cx="10972800" cy="822960"/>
          </a:xfrm>
          <a:prstGeom prst="rect">
            <a:avLst/>
          </a:prstGeom>
          <a:noFill/>
        </p:spPr>
        <p:txBody>
          <a:bodyPr wrap="square">
            <a:spAutoFit/>
          </a:bodyPr>
          <a:lstStyle/>
          <a:p>
            <a:pPr algn="l">
              <a:defRPr sz="1400" b="0" i="0">
                <a:solidFill>
                  <a:srgbClr val="2C3E50"/>
                </a:solidFill>
                <a:latin typeface="Calibri"/>
              </a:defRPr>
            </a:pPr>
            <a:r>
              <a:t>At 10% noise, r = 6.0 mm still wins, but by only ≈ 5.6e-4 over r = 6.2 mm. Beyond this point we should treat radius as a distribution rather than a single value, and use the top-k candidates list directly.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01168"/>
            <a:ext cx="10972800" cy="640080"/>
          </a:xfrm>
          <a:prstGeom prst="rect">
            <a:avLst/>
          </a:prstGeom>
          <a:noFill/>
        </p:spPr>
        <p:txBody>
          <a:bodyPr wrap="square">
            <a:spAutoFit/>
          </a:bodyPr>
          <a:lstStyle/>
          <a:p>
            <a:pPr>
              <a:defRPr sz="2800" b="1">
                <a:solidFill>
                  <a:srgbClr val="1A2332"/>
                </a:solidFill>
                <a:latin typeface="Calibri"/>
              </a:defRPr>
            </a:pPr>
            <a:r>
              <a:t>What comes next</a:t>
            </a:r>
          </a:p>
        </p:txBody>
      </p:sp>
      <p:sp>
        <p:nvSpPr>
          <p:cNvPr id="4" name="Rectangle 3"/>
          <p:cNvSpPr/>
          <p:nvPr/>
        </p:nvSpPr>
        <p:spPr>
          <a:xfrm>
            <a:off x="640080" y="804672"/>
            <a:ext cx="219456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68680"/>
            <a:ext cx="10972800" cy="365760"/>
          </a:xfrm>
          <a:prstGeom prst="rect">
            <a:avLst/>
          </a:prstGeom>
          <a:noFill/>
        </p:spPr>
        <p:txBody>
          <a:bodyPr wrap="none">
            <a:spAutoFit/>
          </a:bodyPr>
          <a:lstStyle/>
          <a:p>
            <a:pPr>
              <a:defRPr sz="1400">
                <a:solidFill>
                  <a:srgbClr val="7F8C8D"/>
                </a:solidFill>
                <a:latin typeface="Calibri"/>
              </a:defRPr>
            </a:pPr>
            <a:r>
              <a:t>Lift the twin-experiment assumptions one at a time</a:t>
            </a:r>
          </a:p>
        </p:txBody>
      </p:sp>
      <p:sp>
        <p:nvSpPr>
          <p:cNvPr id="6" name="TextBox 5"/>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13</a:t>
            </a:r>
          </a:p>
        </p:txBody>
      </p:sp>
      <p:sp>
        <p:nvSpPr>
          <p:cNvPr id="7" name="Rounded Rectangle 6"/>
          <p:cNvSpPr/>
          <p:nvPr/>
        </p:nvSpPr>
        <p:spPr>
          <a:xfrm>
            <a:off x="640080" y="1280160"/>
            <a:ext cx="3657600" cy="3383280"/>
          </a:xfrm>
          <a:prstGeom prst="roundRect">
            <a:avLst/>
          </a:prstGeom>
          <a:solidFill>
            <a:srgbClr val="F4F6F8"/>
          </a:solidFill>
          <a:ln w="15875">
            <a:solidFill>
              <a:srgbClr val="2C5F7C"/>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40080" y="1463040"/>
            <a:ext cx="3657600" cy="502920"/>
          </a:xfrm>
          <a:prstGeom prst="rect">
            <a:avLst/>
          </a:prstGeom>
          <a:noFill/>
        </p:spPr>
        <p:txBody>
          <a:bodyPr wrap="square">
            <a:spAutoFit/>
          </a:bodyPr>
          <a:lstStyle/>
          <a:p>
            <a:pPr algn="ctr">
              <a:defRPr sz="1800" b="1" i="0">
                <a:solidFill>
                  <a:srgbClr val="1A2332"/>
                </a:solidFill>
                <a:latin typeface="Calibri"/>
              </a:defRPr>
            </a:pPr>
            <a:r>
              <a:t>Multi-rebar</a:t>
            </a:r>
          </a:p>
        </p:txBody>
      </p:sp>
      <p:sp>
        <p:nvSpPr>
          <p:cNvPr id="9" name="TextBox 8"/>
          <p:cNvSpPr txBox="1"/>
          <p:nvPr/>
        </p:nvSpPr>
        <p:spPr>
          <a:xfrm>
            <a:off x="640080" y="2057400"/>
            <a:ext cx="3657600" cy="2468880"/>
          </a:xfrm>
          <a:prstGeom prst="rect">
            <a:avLst/>
          </a:prstGeom>
          <a:noFill/>
        </p:spPr>
        <p:txBody>
          <a:bodyPr wrap="square">
            <a:spAutoFit/>
          </a:bodyPr>
          <a:lstStyle/>
          <a:p>
            <a:pPr algn="ctr">
              <a:defRPr sz="1300" b="0" i="0">
                <a:solidFill>
                  <a:srgbClr val="2C3E50"/>
                </a:solidFill>
                <a:latin typeface="Calibri"/>
              </a:defRPr>
            </a:pPr>
            <a:r>
              <a:t>Re-introduce 2-3 rebars with shared global x search and per-rebar polish. The polish stage and identifiability hierarchy stay; the global stage gets harder.</a:t>
            </a:r>
          </a:p>
        </p:txBody>
      </p:sp>
      <p:sp>
        <p:nvSpPr>
          <p:cNvPr id="10" name="Rounded Rectangle 9"/>
          <p:cNvSpPr/>
          <p:nvPr/>
        </p:nvSpPr>
        <p:spPr>
          <a:xfrm>
            <a:off x="4480560" y="1280160"/>
            <a:ext cx="3657600" cy="3383280"/>
          </a:xfrm>
          <a:prstGeom prst="roundRect">
            <a:avLst/>
          </a:prstGeom>
          <a:solidFill>
            <a:srgbClr val="F4F6F8"/>
          </a:solidFill>
          <a:ln w="15875">
            <a:solidFill>
              <a:srgbClr val="2C5F7C"/>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480560" y="1463040"/>
            <a:ext cx="3657600" cy="502920"/>
          </a:xfrm>
          <a:prstGeom prst="rect">
            <a:avLst/>
          </a:prstGeom>
          <a:noFill/>
        </p:spPr>
        <p:txBody>
          <a:bodyPr wrap="square">
            <a:spAutoFit/>
          </a:bodyPr>
          <a:lstStyle/>
          <a:p>
            <a:pPr algn="ctr">
              <a:defRPr sz="1800" b="1" i="0">
                <a:solidFill>
                  <a:srgbClr val="1A2332"/>
                </a:solidFill>
                <a:latin typeface="Calibri"/>
              </a:defRPr>
            </a:pPr>
            <a:r>
              <a:t>Nuisance parameters</a:t>
            </a:r>
          </a:p>
        </p:txBody>
      </p:sp>
      <p:sp>
        <p:nvSpPr>
          <p:cNvPr id="12" name="TextBox 11"/>
          <p:cNvSpPr txBox="1"/>
          <p:nvPr/>
        </p:nvSpPr>
        <p:spPr>
          <a:xfrm>
            <a:off x="4480560" y="2057400"/>
            <a:ext cx="3657600" cy="2468880"/>
          </a:xfrm>
          <a:prstGeom prst="rect">
            <a:avLst/>
          </a:prstGeom>
          <a:noFill/>
        </p:spPr>
        <p:txBody>
          <a:bodyPr wrap="square">
            <a:spAutoFit/>
          </a:bodyPr>
          <a:lstStyle/>
          <a:p>
            <a:pPr algn="ctr">
              <a:defRPr sz="1300" b="0" i="0">
                <a:solidFill>
                  <a:srgbClr val="2C3E50"/>
                </a:solidFill>
                <a:latin typeface="Calibri"/>
              </a:defRPr>
            </a:pPr>
            <a:r>
              <a:t>Let concrete εr, conductivity, time-zero, and source wavelet float. This is the Jazayeri-style realism gap — radius identifiability depends on calibrating them.</a:t>
            </a:r>
          </a:p>
        </p:txBody>
      </p:sp>
      <p:sp>
        <p:nvSpPr>
          <p:cNvPr id="13" name="Rounded Rectangle 12"/>
          <p:cNvSpPr/>
          <p:nvPr/>
        </p:nvSpPr>
        <p:spPr>
          <a:xfrm>
            <a:off x="8321040" y="1280160"/>
            <a:ext cx="3657600" cy="3383280"/>
          </a:xfrm>
          <a:prstGeom prst="roundRect">
            <a:avLst/>
          </a:prstGeom>
          <a:solidFill>
            <a:srgbClr val="F4F6F8"/>
          </a:solidFill>
          <a:ln w="15875">
            <a:solidFill>
              <a:srgbClr val="2C5F7C"/>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321040" y="1463040"/>
            <a:ext cx="3657600" cy="502920"/>
          </a:xfrm>
          <a:prstGeom prst="rect">
            <a:avLst/>
          </a:prstGeom>
          <a:noFill/>
        </p:spPr>
        <p:txBody>
          <a:bodyPr wrap="square">
            <a:spAutoFit/>
          </a:bodyPr>
          <a:lstStyle/>
          <a:p>
            <a:pPr algn="ctr">
              <a:defRPr sz="1800" b="1" i="0">
                <a:solidFill>
                  <a:srgbClr val="1A2332"/>
                </a:solidFill>
                <a:latin typeface="Calibri"/>
              </a:defRPr>
            </a:pPr>
            <a:r>
              <a:t>Field-style validation</a:t>
            </a:r>
          </a:p>
        </p:txBody>
      </p:sp>
      <p:sp>
        <p:nvSpPr>
          <p:cNvPr id="15" name="TextBox 14"/>
          <p:cNvSpPr txBox="1"/>
          <p:nvPr/>
        </p:nvSpPr>
        <p:spPr>
          <a:xfrm>
            <a:off x="8321040" y="2057400"/>
            <a:ext cx="3657600" cy="2468880"/>
          </a:xfrm>
          <a:prstGeom prst="rect">
            <a:avLst/>
          </a:prstGeom>
          <a:noFill/>
        </p:spPr>
        <p:txBody>
          <a:bodyPr wrap="square">
            <a:spAutoFit/>
          </a:bodyPr>
          <a:lstStyle/>
          <a:p>
            <a:pPr algn="ctr">
              <a:defRPr sz="1300" b="0" i="0">
                <a:solidFill>
                  <a:srgbClr val="2C3E50"/>
                </a:solidFill>
                <a:latin typeface="Calibri"/>
              </a:defRPr>
            </a:pPr>
            <a:r>
              <a:t>Add a hyperbola/migration baseline (RGPR-style) to quantify what FWI buys over geometry-only methods, and cross-check the forward against gprMax.</a:t>
            </a:r>
          </a:p>
        </p:txBody>
      </p:sp>
      <p:sp>
        <p:nvSpPr>
          <p:cNvPr id="16" name="TextBox 15"/>
          <p:cNvSpPr txBox="1"/>
          <p:nvPr/>
        </p:nvSpPr>
        <p:spPr>
          <a:xfrm>
            <a:off x="640080" y="5029200"/>
            <a:ext cx="10972800" cy="1371600"/>
          </a:xfrm>
          <a:prstGeom prst="rect">
            <a:avLst/>
          </a:prstGeom>
          <a:noFill/>
        </p:spPr>
        <p:txBody>
          <a:bodyPr wrap="square">
            <a:spAutoFit/>
          </a:bodyPr>
          <a:lstStyle/>
          <a:p>
            <a:pPr algn="l">
              <a:defRPr sz="1400" b="0" i="0">
                <a:solidFill>
                  <a:srgbClr val="2C3E50"/>
                </a:solidFill>
                <a:latin typeface="Calibri"/>
              </a:defRPr>
            </a:pPr>
            <a:r>
              <a:t>Each direction is supported by the existing pipeline: the forward model, numbered-run convention, and grid-polish stage transfer directly. The work is in the search strategy and in mapping which parameters the data actually supports.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