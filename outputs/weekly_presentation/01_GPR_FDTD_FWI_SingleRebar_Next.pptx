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78794"/>
  </p:normalViewPr>
  <p:slideViewPr>
    <p:cSldViewPr snapToGrid="0" snapToObjects="1">
      <p:cViewPr varScale="1">
        <p:scale>
          <a:sx n="105" d="100"/>
          <a:sy n="105" d="100"/>
        </p:scale>
        <p:origin x="103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7447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deck ended at exact-synthetic recovery on the 1 mm grid. This deck is the systematic stress test that follows, organised around five published FWI strategies. The deck order mirrors what we learned: rule out the OT hypothesis (cycle skipping), test bandwidth scheduling (helpful for seeding, not for radius), test frequency weighting (use 1.5 GHz-only or carry_low_25), test W2 (rejected as a radius objective), find the dominant new failure mode (source wavelet mismatch), and assemble a production source-profiled polish that recovers radius and source jointly.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intentionally a reference slide, not a slide to dwell on. Mention that the rest of the deck uses these acronyms freely, and audiences can jump back here if anything is unclear. The two columns are organised by category: general FWI / GPR / FDTD terms on the left, and paper-specific / W2 / OT-LS terms on the right. carry_low_25 in particular is a name we coined for one of our frequency-weighting schemes.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most important entries to land verbally are 'high-radius basin' and 'depth-radius coupling' — these come up on most of the later slides. 'Grid polish' is the carry-over from the first deck but is so central to the story that it gets a slot here too. The right column's entries are all features of the production source-profiled polish later in the deck — they give the audience a heads-up on what 'source profile' and 'distinct-radius margin' will mean when those appear.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framing is deliberate. We did not pick a paper and try to apply it; we collected five distinct strategies for FWI failure modes and tested each as a hypothesis. The pattern was the same every time: build the smallest reusable piece of the paper's machinery, put it through a controlled landscape gate, decide adoption based on what the landscape says before any optimizer integration. That order matters — if we had wired W2 into Powell first, we would have burned compute to learn the same lesson the landscape test delivered cheaply.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walking through this slide, the order to emphasize is: (1) the WRI relaxation is a *structural* change to the optimization (penalty instead of constraint), not just a different solver step; (2) the cumulative-frequency idea is independent of WRI and is what we actually adopted; (3) the deferral is conditional, not categorical — if a future setup creates an initial-model failure that source handling cannot fix, WRI moves back onto the 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sentence to deliver: 'the differentiator from older bandwidth methods is filtering both sides the same way'. This is what made PEBDD survive on field data in the paper. Our adoption is faithful to that detail; the schedule itself we re-derived from actual residual spectra after seeing that the guessed bands did not carry radius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two design points the slide names but does not unpack: (1) the trace fingerprint is the part that lets OT work on signed oscillatory data without a heavy normalization; this is different from the W2 / Softplus approach we will see next paper; (2) the sparse-gradient idea (master points) is a regularization choice with a side effect — it makes it cheaper to swap in new distance measures because we are not derivative-tied to any one objective.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presenting, emphasize the two-gate structure of our test — we did not just dismiss W2 from theoretical arguments. We replicated the paper's positive claim (shift convexity) and then put the same method on the actual rebar problem. The negative result on the rebar landscape is *specific to single-rebar radius*, not a general judgment on W2. Mention also that β (Softplus scale) and ε (Sinkhorn entropy) are hyperparameters that need to be set, and Sinkhorn cost grows with trace length — both are reasons to test in a controlled landscape gate, not directly inside an optimizer.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deferral here is the most subtle in the deck. The risk is not that IFWI does not work — it does. The risk is *what* it can be made to fit. A free neural residual field around the rebar could match data while leaving radius wrong; the radius error would be absorbed into the field. The future-prototype design in tracker 29 is intentionally constrained: explicit geometry stays primary, the neural residual is small, smooth, regularised, and held-out scan positions check generalisation. Mention this caveat if anyone asks why we didn't just try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roadmap. The deck order after this slide follows the rows in this table top-to-bottom: rule out OT (kept as a diagnostic), then bandwidth scheduling (kept as a seed builder), then frequency weighting (kept), then W2 (rejected, with both gates shown), then material (no parameters added), then the wavelet-mismatch finding (the new contribution), then the synthesis runner. The two-week summary tracker (doc 30) is the source of these verdicts. Mention that the OT-LS paper is actually used twice in our work — once for the cycle-skipping hypothesis (ruled out) and once indirectly via the PEBDD source-wavelet risk it shares.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inversion/trace_distances.py. Runner: run_single_rebar_trace_diagnostics.py. We added per-frequency trace_shift_by_frequency to every new single_rebar_summary. The design point of mentioning this on the slide is *not* that OT is bad — it is that the diagnostic itself ruled out the branch for the current problem before any expensive optimizer integration. Even at 10% noise the wrong-radius candidate still passes the half-period gate.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slide intentionally shows the diagnostic outcome before the decision, so the audience can see *why* we rule the OT branch out rather than just reading the verdict. Key points to deliver: (1) the OT-LS paper's whole motivation is cycle skipping at scale, with NRCCC &lt; 1.0 being the trigger to use OT; (2) our wrong-radius candidates already have NRCCC = 1.0, so they are in the LS-safe basin — the paper itself would say 'use LS here'; (3) the wrong-radius rows have very slightly higher RCCC than the polished true rows, but the absolute value (0.003 of a period) is two orders of magnitude below the gate. The radius issue is therefore an amplitude / detail issue, not a transport issue. That observation drives the next section (PEBDD bandwidth) and ultimately motivates the source-profiling work that closes the deck. We keep the NRCCC diagnostic available for field data where the basin-finding question is still open.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Bands chosen by inspection at this point: 0.2–0.8 → 0.2–1.1 → 0.2–1.5 → full. Code lives in inversion/trace_filters.py. The CLI flag is --objective-bandpass-ghz LOW,HIGH with a taper width. Important storytelling point: the first-pass result is the reason the next slide (spectrum-driven design) happens at all.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bars in order. Initial seed at r=6.76. Stage 1 (low band) brings radius to 6.57 — a real improvement. Stage 2 (expansion) drifts back to 6.86. The full-band run from stage 1 without polish (exp 032) confirms the regression is caused by the full-band Powell objective itself, not by any particular stage. The two green bars are the only ones that land at truth: both used the polish stage.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Filtered objective at the end was about 1.0e-4. Full-data NRMS is about 1.07%, which is fine — but the recovered model still has the rebar slightly off and not at the right radius. Mention here that the observed and synthetic traces are filtered the same way; this is the PEBDD detail that differentiates it from older bandwidth-expansion methods.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Full-data NRMS (normalised RMS over the unfiltered traces) actually improves to about 0.79%, but the recovered radius worsens from 6.57 mm back toward 6.86 mm. This is the single most important lesson from the PEBDD-first-pass section: data fit and radius fidelity can move in opposite directions when the objective expansion reactivates the depth-radius tradeoff. The expanded band lets the optimiser explore amplitude detail the low band could not see, but the dominant valley in that detail is the high-radius basin, not the true r = 6.0 mm minimum. This behaviour was not predictable from the paper's claims alone — it is specific to our rasterised-geometry setting and is what motivates the polish stage that follows.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polish candidates here: r = 6.0 mm (J = 0), r = 6.2 mm (J = 1.04e-3), r = 6.8 mm (J = 2.08e-3). Same ranking as the simpler single-frequency polish from the first arc. The implication is unambiguous: even with the multi-stage bandwidth schedule wrapped around it, the polish stage is what is doing the radius work. PEBDD has not added to radius accuracy; it has only added cost. This is the first hard evidence that PEBDD as written cannot solve radius on its own — and it sets up the spectrum-design section, which asks whether the band choices themselves were wrong. Important caveat to mention: this is the exact-synthetic case; under noise the conclusion is the same but the polish stage starts to need careful early-stop thresholds to avoid following noise.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diagnostic that isolates blame between two suspects: (a) the staged path itself (maybe stage 2 destabilised something), or (b) the full-band Powell objective (which has the depth-radius valley). If (a), removing polish would still leave us at a moderate radius. If (b), we should return to the original wrong basin. Result: we are back at r = 6.955 mm, identical to the original Powell result from the first arc. Verdict: (b) is the cause. This is the kind of controlled experiment that lets us reject one design hypothesis (staging is the problem) and keep another (the polish stage is doing the load-bearing work). It also justifies the 'stage 1 seed → polish only' variant on the next slide, which removes the full-band Powell step entirely.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variant we promote: low-band Powell to land in the basin, then full-band polish to select radius. Faster than the full Powell + polish path because we skip the most expensive Powell stage. Caveat: works on exact data — under noise the low-band stage does not move radius much, as we will see next.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seeds (5% and 10% RMS). The low-band Powell stage stays near r = 7.0 mm — it does not move radius under noise. The polish stage is what recovers truth. So under noise the low-band stage is essentially a seed-builder, not a radius corrector, and the headline is the same as the exact-data case.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new pieces of code: per-frequency reporting in the summary JSON (so we can see which band a candidate's misfit came from) and a --frequency-weights CLI flag for weighted averaging. The slide is setup for the frequency-weighting matrix that comes later in the deck.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recovery looks the same as the earlier polish runs because the true model has zero misfit at both frequencies. The information that *should* worry us is in the margin numbers. r=6.2 has 1.0 GHz misfit 3.56e-5 vs 1.5 GHz misfit 1.04e-3 — a roughly 30x ratio. Averaging the two equally drops the effective margin to ~5.4e-4 (roughly halfway). Take this point seriously when designing multi-frequency objectives — equal weighting is not neutral.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Implementation in inversion/spectrum_analysis.py and run_single_rebar_spectrum_design.py. The three spectra (source, observed, residual) are saved as a single CSV. The figures on the next three slides were re-rendered with x-axis cropped to 0–4 GHz; the original saved figures extend to ~250 GHz because the FDTD sampling rate is high, which made them hard to read.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runner reports the 5%–95% source-energy band as 0.750–2.500 GHz, peak at 1.500 GHz (matching the nominal centre frequency of the Ricker pulse). The implication for the next two slides: anything we ask the inversion objective to fit above about 2.5 GHz is fitting noise or numerical content, not real source content. This is the upper limit that *any* PEBDD band design must respect. It also explains why the W2 / Sinkhorn experiments need downsampling along the time axis — the source band is narrow compared to the time-sampling rate, so most of the trace samples carry no source information and are pure simulator overhead.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observed spectrum peak is at 0.75 GHz, not 1.5 GHz — this is the kind of detail that catches people off guard. Wave propagation, the air/concrete interface, rebar scattering, and the Tx–Rx geometry all reshape the energy distribution. It does not mean radius information lives at 0.75 GHz — that is what the next slide answers.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Numerical context the slide does not show: residual energy captured by candidate bands for the r=6.2 case is 2.1% (0.2–0.8 GHz), 5.5% (0.35–1.10), 22.5% (0.35–1.50), 60.4% (0.35–2.00), 89.7% (0.35–2.50). So the difference between r=6.0 and r=6.2 lives almost entirely above 1 GHz with peak near 2 GHz. This single chart is what justified the spectrum-derived schedule on the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Runner: run_single_rebar_bandwidth_schedule.py. The stage outputs are organised as nested directories per stage (stage01_0.35_1.10GHz, etc.) inside the experiment dir, with a final_fullband_coarse_polish stage. The slide is the controlled comparison: same staged shape as the first pass, but with bands chosen by the spectrum tool.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Powell stages move slightly *away* from truth as the band widens (6.864 → 6.865 → 6.896 → 6.930). The right interpretation is that radius is *already* well-determined in the lower band, but the wider band reactivates the depth/radius valley. Polish is what removes the bias. The headline of this section is the same as the first-pass section: bandwidth scheduling helps seed-building, not radius selection.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NRMS model = 0 and NRMS data = 0. The polish margin (r=6.0 over r=6.2 ≈ 1.04e-3) is identical to the simpler polish from the first arc — meaning the bandwidth schedule did not change the radius evidence in the polish stage, it only ensured the polish started inside the right window.</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Runner: run_single_rebar_frequency_weight_matrix.py. Weight schemes are specified as comma-separated lists like '0.25,1' meaning 25% weight on 1.0 GHz and full weight on 1.5 GHz. The runner reports the best-radius-vs-next-radius margin per scheme so the schemes can be ranked at a glance.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Margins at r=6.0 vs r=6.2: 3.56e-5 (low_only), 1.04e-3 (onepointfive_only), 5.36e-4 (unweighted), 8.37e-4 (carry_low_25), 7.03e-4 (carry_low_50). The pattern is intuitive in retrospect: 1.0 GHz is below the residual-energy band we saw in the spectrum design slide, so it carries little radius information; equal averaging just dilutes the useful evidence.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panels are nearly identical, which is the point: the ranking is robust to the noise level we tested. Practical recommendation that comes out of this matrix: use 1.5 GHz-only LS for the *final* radius decision; carry_low_25 is the best compromise if a low-frequency carry is needed for basin continuity (e.g. for a poorer initial seed).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inversion/trace_wasserstein.py. The Softplus scale β controls how strongly signed waveforms are transformed before normalisation; the Sinkhorn entropy regularisation ε trades accuracy for numerical stability. We test β ∈ {4, 8, 12} as a small sensitivity sweep. This is gate 1 because passing the trace shift test is necessary, but not sufficient, for W2 to be useful on the actual radius problem.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L2 panel hits zero only at shift = 0 but rises and falls again — the second 'mountain' is the cycle-skip trap. The W2 panel is U-shaped on both sides of zero for all β. β = 12 has the sharpest curvature near zero, which would matter for an optimiser; we use β = 8 in the rebar landscape on the next slide as a balance.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Runner: run_single_rebar_w2_landscape.py. The downsample parameter is needed because Sinkhorn on the full trace length is expensive; ds=16 means we take every 16th sample. The story to deliver clearly: the W2 paper's claim about *shifts* genuinely holds (gate 1), but the *radius* problem is not a shift problem, so W2's advantage does not transfer.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panels share the same y-axis behaviour at r = 6.0 (zero misfit) but the LS plot has order-1e-3 wings while the W2 plot has order-1e-7 wings. The downsample = 8 version (exp 051) is qualitatively identical. The decision is to reject W2 as the final radius objective. We keep the module available because it may still be useful as a *basin* diagnostic for poor initial models or field data — a use case we have not tested yet.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Runner: run_single_rebar_material_tradeoff.py. The top four candidates in the saved summary are: rank 1 r=6.0 εr=6.0 σ=1e7 J=0; rank 2 r=6.0 εr=6.0 σ=1e6 J=3.18e-10; rank 3 r=6.0 εr=6.0 σ=1e5 J=3.85e-8; rank 4 r=6.2 εr=6.0 any σ J=1.04e-3. The σ ladder is what shows the saturation — once σ is high enough for the rebar to behave like a perfect conductor, the exact value stops mattering. The εr saturation does not happen — the value is genuinely identified.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Runner: run_single_rebar_wavelet_mismatch.py. The modeled wavelet is held at the nominal 1.5 GHz Ricker; only the observed truth changes per case. This is the first experiment series where we let any *aspect* of the source be wrong. The fix unfolds across four slides — each adds one nuisance parameter to the objective and shows which mismatch cases recover.</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Best radius per case: nominal 6.0 (✓), fc_low10 5.4 (grid bound), fc_high10 7.8 (grid bound), delay_+50 ps 5.4, delay_-50 ps 7.8, amp_low10 6.0, amp_high10 7.0. The asymmetry is real: pegging to the *lower* bound corresponds to slowing the wavelet (later arrival, longer period), and to the *upper* bound corresponds to speeding it up. This is the kind of failure that would only show up after moving to real data — worth dwelling on as a motivation for the slides that follow.</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Closed form: for each candidate, the optimal scalar amplitude is the standard inner-product / norm-squared ratio, ⟨d_obs, d_syn⟩ / ⟨d_syn, d_syn⟩. It is essentially free relative to the forward solve cost. The amp_high10 line (observed source ×1.1) now sits on top of the nominal line; the fc_low10, fc_high10, delay_+50, delay_-50 lines are unchanged because amplitude fitting cannot absorb phase or bandwidth differences. The presenter point: this is the smallest, cheapest nuisance parameter that meaningfully reduces source-mismatch bias — if you only have budget for one, do this one.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Time-shift grid here is {−80, −50, −25, 0, +25, +50, +80} ps. The shift is *global* per scan position (one value per (scan, candidate) pair), not a free per-trace parameter — that keeps the nuisance space small enough to enumerate. delay_±50 ps cases land back on r = 6.0 mm because a global +50 ps shift in the modelled trace fully absorbs a −50 ps observed mismatch. fc_low10 partially recovers (best r moves from the lower grid bound at 5.4 mm to r = 6.2 mm) because a time shift can partially compensate for a longer-period observed pulse, but fc_high10 still fails — bandwidth mismatch is fundamentally different from a pure time shift and needs its own nuisance parameter, which the next slide adds.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Frequency-scale grid is small ({0.9, 1.0, 1.1}) on purpose: each value needs its own FDTD forward, so the grid is the expensive part. All seven cases recover r = 6.0 mm. Note that this is the diagnostic matrix — the production runner (next section) is what packages the three-piece source profile into a reusable polish stage.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inversion/source_profile.py. The runner is Stage 1 of the post-summary plan in tracker 31: it exists so Stage 2 (replication across noise and source-mismatch seeds) has a clean, validated entry point. The design call to make on the slide: confidence reporting (top-k + distinct-radius margin) is part of the runner interface, not a separate analysis step.</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Nominal smoke run: 12 geometry candidates evaluated. The source-profile parameters land at exactly the nominal values (fc_scale = 1.0, shift = 0 ps, amp = 1.000), which is the right behaviour — the runner should *not* introduce drift when there is no mismatch to fit. Distinct-radius margin (objective gap between best radius and best next-distinct radius) matches the earlier polish result (9.815 × 10⁻⁴). The implication: the production runner is conservative — it does not inflate margins or pull the source profile away from truth when no mismatch is present. That property is important because we want the runner to be safe to use as the default final stage, not just an opt-in audit.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52 geometry candidates × 3 modeled source-frequency scales each. The recovered source profile matches the injected one exactly: fc_scale = 1.1, shift = -50 ps, amp = 1.100. This is the headline result of the arc: the production runner recovers both the geometry and the injected nuisance source parameters together. Sub-ranks show a few r = 6.2 candidates also preferring a -25 ps shift, which is exactly the kind of competing explanation top-k reporting is meant to surface.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deferrals are conditional, not categorical. WRI becomes worth revisiting if a future use case creates a poor initial model where time-domain FDTD optimisation reliably fails. IFWI becomes worth revisiting when explicit nuisance parameters can no longer absorb material / background residuals — likely either with multi-rebar geometry or field data.</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five-step pipeline is the production recipe distilled from this whole arc. Steps to land verbally: (1) use the existing staged / PEBDD path only to bring x and z into the right basin — don't expect it to fix radius; (2) evaluate the final radius with 1.5 GHz only or carry_low_25 (25% × 1.0 GHz + 1.0 × 1.5 GHz) — never unweighted multi-frequency, which dilutes margin; (3) the radius decision is a local grid polish (small enumeration over (z, r)), not Powell — continuous Powell sits in the depth-radius valley; (4) per-candidate source profile (amplitude + time-shift + fc-scale) is mandatory before trusting any radius decision on data where the source may differ from nominal; (5) confidence is the distinct-radius margin and the top-k candidate list, not a single point estimate. The 'not doing' column is just as important — each item is a specific branch we tested and chose not to spend the next iteration on (with reasons documented in the relevant tracker docs).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The deliberate choice here is to stay narrow: a focused replication matrix and a scaling-out path, rather than another menu of new branches. The hyperbola baseline is intentionally non-FWI — having an independent method makes the FWI result credible at field-data validation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22960" y="1280160"/>
            <a:ext cx="2743200" cy="365760"/>
          </a:xfrm>
          <a:prstGeom prst="round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80160"/>
            <a:ext cx="2743200" cy="365760"/>
          </a:xfrm>
          <a:prstGeom prst="rect">
            <a:avLst/>
          </a:prstGeom>
          <a:noFill/>
        </p:spPr>
        <p:txBody>
          <a:bodyPr wrap="square">
            <a:spAutoFit/>
          </a:bodyPr>
          <a:lstStyle/>
          <a:p>
            <a:pPr algn="ctr">
              <a:defRPr sz="1300" b="1" i="0">
                <a:solidFill>
                  <a:srgbClr val="1A2332"/>
                </a:solidFill>
                <a:latin typeface="Calibri"/>
              </a:defRPr>
            </a:pPr>
            <a:r>
              <a:t>SECOND RESEARCH ARC</a:t>
            </a:r>
          </a:p>
        </p:txBody>
      </p:sp>
      <p:sp>
        <p:nvSpPr>
          <p:cNvPr id="5" name="TextBox 4"/>
          <p:cNvSpPr txBox="1"/>
          <p:nvPr/>
        </p:nvSpPr>
        <p:spPr>
          <a:xfrm>
            <a:off x="777240" y="1783080"/>
            <a:ext cx="10972800" cy="1188720"/>
          </a:xfrm>
          <a:prstGeom prst="rect">
            <a:avLst/>
          </a:prstGeom>
          <a:noFill/>
        </p:spPr>
        <p:txBody>
          <a:bodyPr wrap="square">
            <a:spAutoFit/>
          </a:bodyPr>
          <a:lstStyle/>
          <a:p>
            <a:pPr algn="l">
              <a:defRPr sz="4200" b="1" i="0">
                <a:solidFill>
                  <a:srgbClr val="FFFFFF"/>
                </a:solidFill>
                <a:latin typeface="Calibri"/>
              </a:defRPr>
            </a:pPr>
            <a:r>
              <a:t>Stress-testing the single-rebar pipeline</a:t>
            </a:r>
          </a:p>
        </p:txBody>
      </p:sp>
      <p:sp>
        <p:nvSpPr>
          <p:cNvPr id="6" name="TextBox 5"/>
          <p:cNvSpPr txBox="1"/>
          <p:nvPr/>
        </p:nvSpPr>
        <p:spPr>
          <a:xfrm>
            <a:off x="777240" y="2697480"/>
            <a:ext cx="10972800" cy="548640"/>
          </a:xfrm>
          <a:prstGeom prst="rect">
            <a:avLst/>
          </a:prstGeom>
          <a:noFill/>
        </p:spPr>
        <p:txBody>
          <a:bodyPr wrap="square">
            <a:spAutoFit/>
          </a:bodyPr>
          <a:lstStyle/>
          <a:p>
            <a:pPr algn="l">
              <a:defRPr sz="2200" b="0" i="1">
                <a:solidFill>
                  <a:srgbClr val="CCDDEE"/>
                </a:solidFill>
                <a:latin typeface="Calibri"/>
              </a:defRPr>
            </a:pPr>
            <a:r>
              <a:t>What assumption, if broken, actually moves radius?</a:t>
            </a:r>
          </a:p>
        </p:txBody>
      </p:sp>
      <p:sp>
        <p:nvSpPr>
          <p:cNvPr id="7" name="TextBox 6"/>
          <p:cNvSpPr txBox="1"/>
          <p:nvPr/>
        </p:nvSpPr>
        <p:spPr>
          <a:xfrm>
            <a:off x="777240" y="3200400"/>
            <a:ext cx="10972800" cy="548640"/>
          </a:xfrm>
          <a:prstGeom prst="rect">
            <a:avLst/>
          </a:prstGeom>
          <a:noFill/>
        </p:spPr>
        <p:txBody>
          <a:bodyPr wrap="square">
            <a:spAutoFit/>
          </a:bodyPr>
          <a:lstStyle/>
          <a:p>
            <a:pPr algn="l">
              <a:defRPr sz="1800" b="0" i="0">
                <a:solidFill>
                  <a:srgbClr val="AABBCC"/>
                </a:solidFill>
                <a:latin typeface="Calibri"/>
              </a:defRPr>
            </a:pPr>
            <a:r>
              <a:t>Five published FWI strategies as the menu of hypotheses</a:t>
            </a:r>
          </a:p>
        </p:txBody>
      </p:sp>
      <p:sp>
        <p:nvSpPr>
          <p:cNvPr id="8" name="Rounded Rectangle 7"/>
          <p:cNvSpPr/>
          <p:nvPr/>
        </p:nvSpPr>
        <p:spPr>
          <a:xfrm>
            <a:off x="777240" y="4297680"/>
            <a:ext cx="3383280" cy="1371600"/>
          </a:xfrm>
          <a:prstGeom prst="roundRect">
            <a:avLst/>
          </a:prstGeom>
          <a:solidFill>
            <a:srgbClr val="243B5E"/>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77240" y="4462272"/>
            <a:ext cx="3383280" cy="457200"/>
          </a:xfrm>
          <a:prstGeom prst="rect">
            <a:avLst/>
          </a:prstGeom>
          <a:noFill/>
        </p:spPr>
        <p:txBody>
          <a:bodyPr wrap="square">
            <a:spAutoFit/>
          </a:bodyPr>
          <a:lstStyle/>
          <a:p>
            <a:pPr algn="ctr">
              <a:defRPr sz="1800" b="1" i="0">
                <a:solidFill>
                  <a:srgbClr val="E8913A"/>
                </a:solidFill>
                <a:latin typeface="Calibri"/>
              </a:defRPr>
            </a:pPr>
            <a:r>
              <a:t>Source profiling</a:t>
            </a:r>
          </a:p>
        </p:txBody>
      </p:sp>
      <p:sp>
        <p:nvSpPr>
          <p:cNvPr id="10" name="TextBox 9"/>
          <p:cNvSpPr txBox="1"/>
          <p:nvPr/>
        </p:nvSpPr>
        <p:spPr>
          <a:xfrm>
            <a:off x="777240" y="4983480"/>
            <a:ext cx="3383280" cy="640080"/>
          </a:xfrm>
          <a:prstGeom prst="rect">
            <a:avLst/>
          </a:prstGeom>
          <a:noFill/>
        </p:spPr>
        <p:txBody>
          <a:bodyPr wrap="square">
            <a:spAutoFit/>
          </a:bodyPr>
          <a:lstStyle/>
          <a:p>
            <a:pPr algn="ctr">
              <a:defRPr sz="1300" b="0" i="0">
                <a:solidFill>
                  <a:srgbClr val="FFFFFF"/>
                </a:solidFill>
                <a:latin typeface="Calibri"/>
              </a:defRPr>
            </a:pPr>
            <a:r>
              <a:t>Amplitude + time-shift + center-frequency scale</a:t>
            </a:r>
          </a:p>
        </p:txBody>
      </p:sp>
      <p:sp>
        <p:nvSpPr>
          <p:cNvPr id="11" name="Rounded Rectangle 10"/>
          <p:cNvSpPr/>
          <p:nvPr/>
        </p:nvSpPr>
        <p:spPr>
          <a:xfrm>
            <a:off x="4434840" y="4297680"/>
            <a:ext cx="3383280" cy="1371600"/>
          </a:xfrm>
          <a:prstGeom prst="roundRect">
            <a:avLst/>
          </a:prstGeom>
          <a:solidFill>
            <a:srgbClr val="243B5E"/>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34840" y="4462272"/>
            <a:ext cx="3383280" cy="457200"/>
          </a:xfrm>
          <a:prstGeom prst="rect">
            <a:avLst/>
          </a:prstGeom>
          <a:noFill/>
        </p:spPr>
        <p:txBody>
          <a:bodyPr wrap="square">
            <a:spAutoFit/>
          </a:bodyPr>
          <a:lstStyle/>
          <a:p>
            <a:pPr algn="ctr">
              <a:defRPr sz="1800" b="1" i="0">
                <a:solidFill>
                  <a:srgbClr val="E8913A"/>
                </a:solidFill>
                <a:latin typeface="Calibri"/>
              </a:defRPr>
            </a:pPr>
            <a:r>
              <a:t>Frequency weighting</a:t>
            </a:r>
          </a:p>
        </p:txBody>
      </p:sp>
      <p:sp>
        <p:nvSpPr>
          <p:cNvPr id="13" name="TextBox 12"/>
          <p:cNvSpPr txBox="1"/>
          <p:nvPr/>
        </p:nvSpPr>
        <p:spPr>
          <a:xfrm>
            <a:off x="4434840" y="4983480"/>
            <a:ext cx="3383280" cy="640080"/>
          </a:xfrm>
          <a:prstGeom prst="rect">
            <a:avLst/>
          </a:prstGeom>
          <a:noFill/>
        </p:spPr>
        <p:txBody>
          <a:bodyPr wrap="square">
            <a:spAutoFit/>
          </a:bodyPr>
          <a:lstStyle/>
          <a:p>
            <a:pPr algn="ctr">
              <a:defRPr sz="1300" b="0" i="0">
                <a:solidFill>
                  <a:srgbClr val="FFFFFF"/>
                </a:solidFill>
                <a:latin typeface="Calibri"/>
              </a:defRPr>
            </a:pPr>
            <a:r>
              <a:t>Lower bands for basin, 1.5 GHz for radius</a:t>
            </a:r>
          </a:p>
        </p:txBody>
      </p:sp>
      <p:sp>
        <p:nvSpPr>
          <p:cNvPr id="14" name="Rounded Rectangle 13"/>
          <p:cNvSpPr/>
          <p:nvPr/>
        </p:nvSpPr>
        <p:spPr>
          <a:xfrm>
            <a:off x="8092440" y="4297680"/>
            <a:ext cx="3383280" cy="1371600"/>
          </a:xfrm>
          <a:prstGeom prst="roundRect">
            <a:avLst/>
          </a:prstGeom>
          <a:solidFill>
            <a:srgbClr val="243B5E"/>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092440" y="4462272"/>
            <a:ext cx="3383280" cy="457200"/>
          </a:xfrm>
          <a:prstGeom prst="rect">
            <a:avLst/>
          </a:prstGeom>
          <a:noFill/>
        </p:spPr>
        <p:txBody>
          <a:bodyPr wrap="square">
            <a:spAutoFit/>
          </a:bodyPr>
          <a:lstStyle/>
          <a:p>
            <a:pPr algn="ctr">
              <a:defRPr sz="1800" b="1" i="0">
                <a:solidFill>
                  <a:srgbClr val="E8913A"/>
                </a:solidFill>
                <a:latin typeface="Calibri"/>
              </a:defRPr>
            </a:pPr>
            <a:r>
              <a:t>Polish, not Powell</a:t>
            </a:r>
          </a:p>
        </p:txBody>
      </p:sp>
      <p:sp>
        <p:nvSpPr>
          <p:cNvPr id="16" name="TextBox 15"/>
          <p:cNvSpPr txBox="1"/>
          <p:nvPr/>
        </p:nvSpPr>
        <p:spPr>
          <a:xfrm>
            <a:off x="8092440" y="4983480"/>
            <a:ext cx="3383280" cy="640080"/>
          </a:xfrm>
          <a:prstGeom prst="rect">
            <a:avLst/>
          </a:prstGeom>
          <a:noFill/>
        </p:spPr>
        <p:txBody>
          <a:bodyPr wrap="square">
            <a:spAutoFit/>
          </a:bodyPr>
          <a:lstStyle/>
          <a:p>
            <a:pPr algn="ctr">
              <a:defRPr sz="1300" b="0" i="0">
                <a:solidFill>
                  <a:srgbClr val="FFFFFF"/>
                </a:solidFill>
                <a:latin typeface="Calibri"/>
              </a:defRPr>
            </a:pPr>
            <a:r>
              <a:t>Local grid polish remains the radius selector</a:t>
            </a:r>
          </a:p>
        </p:txBody>
      </p:sp>
      <p:sp>
        <p:nvSpPr>
          <p:cNvPr id="17" name="TextBox 16"/>
          <p:cNvSpPr txBox="1"/>
          <p:nvPr/>
        </p:nvSpPr>
        <p:spPr>
          <a:xfrm>
            <a:off x="777240" y="6309360"/>
            <a:ext cx="10972800" cy="274320"/>
          </a:xfrm>
          <a:prstGeom prst="rect">
            <a:avLst/>
          </a:prstGeom>
          <a:noFill/>
        </p:spPr>
        <p:txBody>
          <a:bodyPr wrap="square">
            <a:spAutoFit/>
          </a:bodyPr>
          <a:lstStyle/>
          <a:p>
            <a:pPr algn="l">
              <a:defRPr sz="1200" b="0" i="0">
                <a:solidFill>
                  <a:srgbClr val="7F8C8D"/>
                </a:solidFill>
                <a:latin typeface="Calibri"/>
              </a:defRPr>
            </a:pPr>
            <a:r>
              <a:t>GPR-FDTD-FWI  •  experiments 024–058</a:t>
            </a:r>
          </a:p>
        </p:txBody>
      </p:sp>
      <p:sp>
        <p:nvSpPr>
          <p:cNvPr id="18" name="TextBox 17"/>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Abbreviations and shorthand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Used throughout the deck — refer back as needed</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reference</a:t>
            </a:r>
          </a:p>
        </p:txBody>
      </p:sp>
      <p:grpSp>
        <p:nvGrpSpPr>
          <p:cNvPr id="36" name="Group 35">
            <a:extLst>
              <a:ext uri="{FF2B5EF4-FFF2-40B4-BE49-F238E27FC236}">
                <a16:creationId xmlns:a16="http://schemas.microsoft.com/office/drawing/2014/main" id="{37A4C689-A611-82D9-A9C1-7E86298DEEE5}"/>
              </a:ext>
            </a:extLst>
          </p:cNvPr>
          <p:cNvGrpSpPr/>
          <p:nvPr/>
        </p:nvGrpSpPr>
        <p:grpSpPr>
          <a:xfrm>
            <a:off x="640080" y="1289304"/>
            <a:ext cx="10911535" cy="5425669"/>
            <a:chOff x="365760" y="1280160"/>
            <a:chExt cx="11643055" cy="6654996"/>
          </a:xfrm>
        </p:grpSpPr>
        <p:sp>
          <p:nvSpPr>
            <p:cNvPr id="7" name="TextBox 6"/>
            <p:cNvSpPr txBox="1"/>
            <p:nvPr/>
          </p:nvSpPr>
          <p:spPr>
            <a:xfrm>
              <a:off x="11734798" y="6446521"/>
              <a:ext cx="274017" cy="320885"/>
            </a:xfrm>
            <a:prstGeom prst="rect">
              <a:avLst/>
            </a:prstGeom>
            <a:noFill/>
          </p:spPr>
          <p:txBody>
            <a:bodyPr wrap="none">
              <a:spAutoFit/>
            </a:bodyPr>
            <a:lstStyle/>
            <a:p>
              <a:pPr algn="r">
                <a:defRPr sz="1000">
                  <a:solidFill>
                    <a:srgbClr val="7F8C8D"/>
                  </a:solidFill>
                  <a:latin typeface="Calibri"/>
                </a:defRPr>
              </a:pPr>
              <a:r>
                <a:rPr sz="1100"/>
                <a:t>2</a:t>
              </a:r>
            </a:p>
          </p:txBody>
        </p:sp>
        <p:sp>
          <p:nvSpPr>
            <p:cNvPr id="8" name="TextBox 7"/>
            <p:cNvSpPr txBox="1"/>
            <p:nvPr/>
          </p:nvSpPr>
          <p:spPr>
            <a:xfrm>
              <a:off x="365760" y="1280160"/>
              <a:ext cx="5532120" cy="528516"/>
            </a:xfrm>
            <a:prstGeom prst="rect">
              <a:avLst/>
            </a:prstGeom>
            <a:noFill/>
          </p:spPr>
          <p:txBody>
            <a:bodyPr wrap="square">
              <a:spAutoFit/>
            </a:bodyPr>
            <a:lstStyle/>
            <a:p>
              <a:r>
                <a:rPr sz="1100" b="1">
                  <a:solidFill>
                    <a:srgbClr val="1A2332"/>
                  </a:solidFill>
                  <a:latin typeface="Calibri"/>
                </a:rPr>
                <a:t>FWI</a:t>
              </a:r>
              <a:r>
                <a:rPr sz="1100">
                  <a:solidFill>
                    <a:srgbClr val="2C3E50"/>
                  </a:solidFill>
                  <a:latin typeface="Calibri"/>
                </a:rPr>
                <a:t>  —  Full-Waveform Inversion — fit a wave-equation forward model to observed traces.</a:t>
              </a:r>
            </a:p>
          </p:txBody>
        </p:sp>
        <p:sp>
          <p:nvSpPr>
            <p:cNvPr id="9" name="TextBox 8"/>
            <p:cNvSpPr txBox="1"/>
            <p:nvPr/>
          </p:nvSpPr>
          <p:spPr>
            <a:xfrm>
              <a:off x="365760" y="1691639"/>
              <a:ext cx="5532120" cy="320885"/>
            </a:xfrm>
            <a:prstGeom prst="rect">
              <a:avLst/>
            </a:prstGeom>
            <a:noFill/>
          </p:spPr>
          <p:txBody>
            <a:bodyPr wrap="square">
              <a:spAutoFit/>
            </a:bodyPr>
            <a:lstStyle/>
            <a:p>
              <a:r>
                <a:rPr sz="1100" b="1">
                  <a:solidFill>
                    <a:srgbClr val="1A2332"/>
                  </a:solidFill>
                  <a:latin typeface="Calibri"/>
                </a:rPr>
                <a:t>GPR</a:t>
              </a:r>
              <a:r>
                <a:rPr sz="1100">
                  <a:solidFill>
                    <a:srgbClr val="2C3E50"/>
                  </a:solidFill>
                  <a:latin typeface="Calibri"/>
                </a:rPr>
                <a:t>  —  Ground-Penetrating Radar.</a:t>
              </a:r>
            </a:p>
          </p:txBody>
        </p:sp>
        <p:sp>
          <p:nvSpPr>
            <p:cNvPr id="10" name="TextBox 9"/>
            <p:cNvSpPr txBox="1"/>
            <p:nvPr/>
          </p:nvSpPr>
          <p:spPr>
            <a:xfrm>
              <a:off x="365760" y="2103120"/>
              <a:ext cx="5532120" cy="320885"/>
            </a:xfrm>
            <a:prstGeom prst="rect">
              <a:avLst/>
            </a:prstGeom>
            <a:noFill/>
          </p:spPr>
          <p:txBody>
            <a:bodyPr wrap="square">
              <a:spAutoFit/>
            </a:bodyPr>
            <a:lstStyle/>
            <a:p>
              <a:r>
                <a:rPr sz="1100" b="1">
                  <a:solidFill>
                    <a:srgbClr val="1A2332"/>
                  </a:solidFill>
                  <a:latin typeface="Calibri"/>
                </a:rPr>
                <a:t>FDTD</a:t>
              </a:r>
              <a:r>
                <a:rPr sz="1100">
                  <a:solidFill>
                    <a:srgbClr val="2C3E50"/>
                  </a:solidFill>
                  <a:latin typeface="Calibri"/>
                </a:rPr>
                <a:t>  —  Finite-Difference Time-Domain — the wave-equation solver this project uses.</a:t>
              </a:r>
            </a:p>
          </p:txBody>
        </p:sp>
        <p:sp>
          <p:nvSpPr>
            <p:cNvPr id="11" name="TextBox 10"/>
            <p:cNvSpPr txBox="1"/>
            <p:nvPr/>
          </p:nvSpPr>
          <p:spPr>
            <a:xfrm>
              <a:off x="365760" y="2514601"/>
              <a:ext cx="5532120" cy="528516"/>
            </a:xfrm>
            <a:prstGeom prst="rect">
              <a:avLst/>
            </a:prstGeom>
            <a:noFill/>
          </p:spPr>
          <p:txBody>
            <a:bodyPr wrap="square">
              <a:spAutoFit/>
            </a:bodyPr>
            <a:lstStyle/>
            <a:p>
              <a:r>
                <a:rPr sz="1100" b="1">
                  <a:solidFill>
                    <a:srgbClr val="1A2332"/>
                  </a:solidFill>
                  <a:latin typeface="Calibri"/>
                </a:rPr>
                <a:t>CPML</a:t>
              </a:r>
              <a:r>
                <a:rPr sz="1100">
                  <a:solidFill>
                    <a:srgbClr val="2C3E50"/>
                  </a:solidFill>
                  <a:latin typeface="Calibri"/>
                </a:rPr>
                <a:t>  —  Convolutional Perfectly Matched Layer — the absorbing boundary used by the FDTD solver.</a:t>
              </a:r>
            </a:p>
          </p:txBody>
        </p:sp>
        <p:sp>
          <p:nvSpPr>
            <p:cNvPr id="12" name="TextBox 11"/>
            <p:cNvSpPr txBox="1"/>
            <p:nvPr/>
          </p:nvSpPr>
          <p:spPr>
            <a:xfrm>
              <a:off x="365760" y="3081528"/>
              <a:ext cx="5532120" cy="320885"/>
            </a:xfrm>
            <a:prstGeom prst="rect">
              <a:avLst/>
            </a:prstGeom>
            <a:noFill/>
          </p:spPr>
          <p:txBody>
            <a:bodyPr wrap="square">
              <a:spAutoFit/>
            </a:bodyPr>
            <a:lstStyle/>
            <a:p>
              <a:r>
                <a:rPr sz="1100" b="1">
                  <a:solidFill>
                    <a:srgbClr val="1A2332"/>
                  </a:solidFill>
                  <a:latin typeface="Calibri"/>
                </a:rPr>
                <a:t>B-scan</a:t>
              </a:r>
              <a:r>
                <a:rPr sz="1100">
                  <a:solidFill>
                    <a:srgbClr val="2C3E50"/>
                  </a:solidFill>
                  <a:latin typeface="Calibri"/>
                </a:rPr>
                <a:t>  —  GPR data array: lateral scan position × two-way time.</a:t>
              </a:r>
            </a:p>
          </p:txBody>
        </p:sp>
        <p:sp>
          <p:nvSpPr>
            <p:cNvPr id="13" name="TextBox 12"/>
            <p:cNvSpPr txBox="1"/>
            <p:nvPr/>
          </p:nvSpPr>
          <p:spPr>
            <a:xfrm>
              <a:off x="365760" y="3493009"/>
              <a:ext cx="5532120" cy="528516"/>
            </a:xfrm>
            <a:prstGeom prst="rect">
              <a:avLst/>
            </a:prstGeom>
            <a:noFill/>
          </p:spPr>
          <p:txBody>
            <a:bodyPr wrap="square">
              <a:spAutoFit/>
            </a:bodyPr>
            <a:lstStyle/>
            <a:p>
              <a:r>
                <a:rPr sz="1100" b="1">
                  <a:solidFill>
                    <a:srgbClr val="1A2332"/>
                  </a:solidFill>
                  <a:latin typeface="Calibri"/>
                </a:rPr>
                <a:t>LS / L2</a:t>
              </a:r>
              <a:r>
                <a:rPr sz="1100">
                  <a:solidFill>
                    <a:srgbClr val="2C3E50"/>
                  </a:solidFill>
                  <a:latin typeface="Calibri"/>
                </a:rPr>
                <a:t>  —  Least squares — the standard waveform misfit (sum of squared point-wise residuals).</a:t>
              </a:r>
            </a:p>
          </p:txBody>
        </p:sp>
        <p:sp>
          <p:nvSpPr>
            <p:cNvPr id="14" name="TextBox 13"/>
            <p:cNvSpPr txBox="1"/>
            <p:nvPr/>
          </p:nvSpPr>
          <p:spPr>
            <a:xfrm>
              <a:off x="365760" y="4059934"/>
              <a:ext cx="5532120" cy="528516"/>
            </a:xfrm>
            <a:prstGeom prst="rect">
              <a:avLst/>
            </a:prstGeom>
            <a:noFill/>
          </p:spPr>
          <p:txBody>
            <a:bodyPr wrap="square">
              <a:spAutoFit/>
            </a:bodyPr>
            <a:lstStyle/>
            <a:p>
              <a:r>
                <a:rPr sz="1100" b="1">
                  <a:solidFill>
                    <a:srgbClr val="1A2332"/>
                  </a:solidFill>
                  <a:latin typeface="Calibri"/>
                </a:rPr>
                <a:t>NRMS</a:t>
              </a:r>
              <a:r>
                <a:rPr sz="1100">
                  <a:solidFill>
                    <a:srgbClr val="2C3E50"/>
                  </a:solidFill>
                  <a:latin typeface="Calibri"/>
                </a:rPr>
                <a:t>  —  Normalised Root-Mean-Square misfit between two B-scans (or between two models).</a:t>
              </a:r>
            </a:p>
          </p:txBody>
        </p:sp>
        <p:sp>
          <p:nvSpPr>
            <p:cNvPr id="15" name="TextBox 14"/>
            <p:cNvSpPr txBox="1"/>
            <p:nvPr/>
          </p:nvSpPr>
          <p:spPr>
            <a:xfrm>
              <a:off x="365760" y="4471416"/>
              <a:ext cx="5532120" cy="320885"/>
            </a:xfrm>
            <a:prstGeom prst="rect">
              <a:avLst/>
            </a:prstGeom>
            <a:noFill/>
          </p:spPr>
          <p:txBody>
            <a:bodyPr wrap="square">
              <a:spAutoFit/>
            </a:bodyPr>
            <a:lstStyle/>
            <a:p>
              <a:r>
                <a:rPr sz="1100" b="1">
                  <a:solidFill>
                    <a:srgbClr val="1A2332"/>
                  </a:solidFill>
                  <a:latin typeface="Calibri"/>
                </a:rPr>
                <a:t>εr</a:t>
              </a:r>
              <a:r>
                <a:rPr sz="1100">
                  <a:solidFill>
                    <a:srgbClr val="2C3E50"/>
                  </a:solidFill>
                  <a:latin typeface="Calibri"/>
                </a:rPr>
                <a:t>  —  Relative permittivity (dielectric constant).</a:t>
              </a:r>
            </a:p>
          </p:txBody>
        </p:sp>
        <p:sp>
          <p:nvSpPr>
            <p:cNvPr id="16" name="TextBox 15"/>
            <p:cNvSpPr txBox="1"/>
            <p:nvPr/>
          </p:nvSpPr>
          <p:spPr>
            <a:xfrm>
              <a:off x="365760" y="4882895"/>
              <a:ext cx="5532120" cy="320885"/>
            </a:xfrm>
            <a:prstGeom prst="rect">
              <a:avLst/>
            </a:prstGeom>
            <a:noFill/>
          </p:spPr>
          <p:txBody>
            <a:bodyPr wrap="square">
              <a:spAutoFit/>
            </a:bodyPr>
            <a:lstStyle/>
            <a:p>
              <a:r>
                <a:rPr sz="1100" b="1" dirty="0" err="1">
                  <a:solidFill>
                    <a:srgbClr val="1A2332"/>
                  </a:solidFill>
                  <a:latin typeface="Calibri"/>
                </a:rPr>
                <a:t>σ</a:t>
              </a:r>
              <a:r>
                <a:rPr sz="1100" dirty="0">
                  <a:solidFill>
                    <a:srgbClr val="2C3E50"/>
                  </a:solidFill>
                  <a:latin typeface="Calibri"/>
                </a:rPr>
                <a:t>  —  Electrical conductivity, in S/m.</a:t>
              </a:r>
            </a:p>
          </p:txBody>
        </p:sp>
        <p:sp>
          <p:nvSpPr>
            <p:cNvPr id="17" name="TextBox 16"/>
            <p:cNvSpPr txBox="1"/>
            <p:nvPr/>
          </p:nvSpPr>
          <p:spPr>
            <a:xfrm>
              <a:off x="365760" y="5294377"/>
              <a:ext cx="5532120" cy="320885"/>
            </a:xfrm>
            <a:prstGeom prst="rect">
              <a:avLst/>
            </a:prstGeom>
            <a:noFill/>
          </p:spPr>
          <p:txBody>
            <a:bodyPr wrap="square">
              <a:spAutoFit/>
            </a:bodyPr>
            <a:lstStyle/>
            <a:p>
              <a:r>
                <a:rPr sz="1100" b="1">
                  <a:solidFill>
                    <a:srgbClr val="1A2332"/>
                  </a:solidFill>
                  <a:latin typeface="Calibri"/>
                </a:rPr>
                <a:t>PEC</a:t>
              </a:r>
              <a:r>
                <a:rPr sz="1100">
                  <a:solidFill>
                    <a:srgbClr val="2C3E50"/>
                  </a:solidFill>
                  <a:latin typeface="Calibri"/>
                </a:rPr>
                <a:t>  —  Perfect Electric Conductor — the steel-rebar idealisation in our forward model.</a:t>
              </a:r>
            </a:p>
          </p:txBody>
        </p:sp>
        <p:sp>
          <p:nvSpPr>
            <p:cNvPr id="18" name="TextBox 17"/>
            <p:cNvSpPr txBox="1"/>
            <p:nvPr/>
          </p:nvSpPr>
          <p:spPr>
            <a:xfrm>
              <a:off x="365760" y="5705855"/>
              <a:ext cx="5532120" cy="320885"/>
            </a:xfrm>
            <a:prstGeom prst="rect">
              <a:avLst/>
            </a:prstGeom>
            <a:noFill/>
          </p:spPr>
          <p:txBody>
            <a:bodyPr wrap="square">
              <a:spAutoFit/>
            </a:bodyPr>
            <a:lstStyle/>
            <a:p>
              <a:r>
                <a:rPr sz="1100" b="1">
                  <a:solidFill>
                    <a:srgbClr val="1A2332"/>
                  </a:solidFill>
                  <a:latin typeface="Calibri"/>
                </a:rPr>
                <a:t>Tx / Rx</a:t>
              </a:r>
              <a:r>
                <a:rPr sz="1100">
                  <a:solidFill>
                    <a:srgbClr val="2C3E50"/>
                  </a:solidFill>
                  <a:latin typeface="Calibri"/>
                </a:rPr>
                <a:t>  —  Transmitter / receiver antenna positions on the scan line.</a:t>
              </a:r>
            </a:p>
          </p:txBody>
        </p:sp>
        <p:sp>
          <p:nvSpPr>
            <p:cNvPr id="19" name="TextBox 18"/>
            <p:cNvSpPr txBox="1"/>
            <p:nvPr/>
          </p:nvSpPr>
          <p:spPr>
            <a:xfrm>
              <a:off x="365760" y="6117335"/>
              <a:ext cx="5532120" cy="320885"/>
            </a:xfrm>
            <a:prstGeom prst="rect">
              <a:avLst/>
            </a:prstGeom>
            <a:noFill/>
          </p:spPr>
          <p:txBody>
            <a:bodyPr wrap="square">
              <a:spAutoFit/>
            </a:bodyPr>
            <a:lstStyle/>
            <a:p>
              <a:r>
                <a:rPr sz="1100" b="1">
                  <a:solidFill>
                    <a:srgbClr val="1A2332"/>
                  </a:solidFill>
                  <a:latin typeface="Calibri"/>
                </a:rPr>
                <a:t>fc</a:t>
              </a:r>
              <a:r>
                <a:rPr sz="1100">
                  <a:solidFill>
                    <a:srgbClr val="2C3E50"/>
                  </a:solidFill>
                  <a:latin typeface="Calibri"/>
                </a:rPr>
                <a:t>  —  Source-wavelet centre frequency.</a:t>
              </a:r>
            </a:p>
          </p:txBody>
        </p:sp>
        <p:sp>
          <p:nvSpPr>
            <p:cNvPr id="20" name="TextBox 19"/>
            <p:cNvSpPr txBox="1"/>
            <p:nvPr/>
          </p:nvSpPr>
          <p:spPr>
            <a:xfrm>
              <a:off x="365760" y="6528816"/>
              <a:ext cx="5532120" cy="528516"/>
            </a:xfrm>
            <a:prstGeom prst="rect">
              <a:avLst/>
            </a:prstGeom>
            <a:noFill/>
          </p:spPr>
          <p:txBody>
            <a:bodyPr wrap="square">
              <a:spAutoFit/>
            </a:bodyPr>
            <a:lstStyle/>
            <a:p>
              <a:r>
                <a:rPr sz="1100" b="1">
                  <a:solidFill>
                    <a:srgbClr val="1A2332"/>
                  </a:solidFill>
                  <a:latin typeface="Calibri"/>
                </a:rPr>
                <a:t>Ricker wavelet</a:t>
              </a:r>
              <a:r>
                <a:rPr sz="1100">
                  <a:solidFill>
                    <a:srgbClr val="2C3E50"/>
                  </a:solidFill>
                  <a:latin typeface="Calibri"/>
                </a:rPr>
                <a:t>  —  The time-domain pulse used as our source (the negative second derivative of a Gaussian).</a:t>
              </a:r>
            </a:p>
          </p:txBody>
        </p:sp>
        <p:sp>
          <p:nvSpPr>
            <p:cNvPr id="21" name="TextBox 20"/>
            <p:cNvSpPr txBox="1"/>
            <p:nvPr/>
          </p:nvSpPr>
          <p:spPr>
            <a:xfrm>
              <a:off x="365760" y="7095744"/>
              <a:ext cx="5532120" cy="528516"/>
            </a:xfrm>
            <a:prstGeom prst="rect">
              <a:avLst/>
            </a:prstGeom>
            <a:noFill/>
          </p:spPr>
          <p:txBody>
            <a:bodyPr wrap="square">
              <a:spAutoFit/>
            </a:bodyPr>
            <a:lstStyle/>
            <a:p>
              <a:r>
                <a:rPr sz="1100" b="1">
                  <a:solidFill>
                    <a:srgbClr val="1A2332"/>
                  </a:solidFill>
                  <a:latin typeface="Calibri"/>
                </a:rPr>
                <a:t>ps / mm</a:t>
              </a:r>
              <a:r>
                <a:rPr sz="1100">
                  <a:solidFill>
                    <a:srgbClr val="2C3E50"/>
                  </a:solidFill>
                  <a:latin typeface="Calibri"/>
                </a:rPr>
                <a:t>  —  Picoseconds (10⁻¹² s) and millimetres — units we report time-shift and geometry in.</a:t>
              </a:r>
            </a:p>
          </p:txBody>
        </p:sp>
        <p:sp>
          <p:nvSpPr>
            <p:cNvPr id="22" name="TextBox 21"/>
            <p:cNvSpPr txBox="1"/>
            <p:nvPr/>
          </p:nvSpPr>
          <p:spPr>
            <a:xfrm>
              <a:off x="6263640" y="1280160"/>
              <a:ext cx="5532120" cy="320885"/>
            </a:xfrm>
            <a:prstGeom prst="rect">
              <a:avLst/>
            </a:prstGeom>
            <a:noFill/>
          </p:spPr>
          <p:txBody>
            <a:bodyPr wrap="square">
              <a:spAutoFit/>
            </a:bodyPr>
            <a:lstStyle/>
            <a:p>
              <a:r>
                <a:rPr sz="1100" b="1">
                  <a:solidFill>
                    <a:srgbClr val="1A2332"/>
                  </a:solidFill>
                  <a:latin typeface="Calibri"/>
                </a:rPr>
                <a:t>WRI</a:t>
              </a:r>
              <a:r>
                <a:rPr sz="1100">
                  <a:solidFill>
                    <a:srgbClr val="2C3E50"/>
                  </a:solidFill>
                  <a:latin typeface="Calibri"/>
                </a:rPr>
                <a:t>  —  Wavefield Reconstruction Inversion — paper 1 (Feng et al. 2022).</a:t>
              </a:r>
            </a:p>
          </p:txBody>
        </p:sp>
        <p:sp>
          <p:nvSpPr>
            <p:cNvPr id="23" name="TextBox 22"/>
            <p:cNvSpPr txBox="1"/>
            <p:nvPr/>
          </p:nvSpPr>
          <p:spPr>
            <a:xfrm>
              <a:off x="6263640" y="1691639"/>
              <a:ext cx="5532120" cy="528516"/>
            </a:xfrm>
            <a:prstGeom prst="rect">
              <a:avLst/>
            </a:prstGeom>
            <a:noFill/>
          </p:spPr>
          <p:txBody>
            <a:bodyPr wrap="square">
              <a:spAutoFit/>
            </a:bodyPr>
            <a:lstStyle/>
            <a:p>
              <a:r>
                <a:rPr sz="1100" b="1">
                  <a:solidFill>
                    <a:srgbClr val="1A2332"/>
                  </a:solidFill>
                  <a:latin typeface="Calibri"/>
                </a:rPr>
                <a:t>PEBDD</a:t>
              </a:r>
              <a:r>
                <a:rPr sz="1100">
                  <a:solidFill>
                    <a:srgbClr val="2C3E50"/>
                  </a:solidFill>
                  <a:latin typeface="Calibri"/>
                </a:rPr>
                <a:t>  —  Progressively Expanded Bandwidths of the Data — paper 2 (Zhou et al. 2021).</a:t>
              </a:r>
            </a:p>
          </p:txBody>
        </p:sp>
        <p:sp>
          <p:nvSpPr>
            <p:cNvPr id="24" name="TextBox 23"/>
            <p:cNvSpPr txBox="1"/>
            <p:nvPr/>
          </p:nvSpPr>
          <p:spPr>
            <a:xfrm>
              <a:off x="6263640" y="2103120"/>
              <a:ext cx="5532120" cy="320885"/>
            </a:xfrm>
            <a:prstGeom prst="rect">
              <a:avLst/>
            </a:prstGeom>
            <a:noFill/>
          </p:spPr>
          <p:txBody>
            <a:bodyPr wrap="square">
              <a:spAutoFit/>
            </a:bodyPr>
            <a:lstStyle/>
            <a:p>
              <a:r>
                <a:rPr sz="1100" b="1">
                  <a:solidFill>
                    <a:srgbClr val="1A2332"/>
                  </a:solidFill>
                  <a:latin typeface="Calibri"/>
                </a:rPr>
                <a:t>OT</a:t>
              </a:r>
              <a:r>
                <a:rPr sz="1100">
                  <a:solidFill>
                    <a:srgbClr val="2C3E50"/>
                  </a:solidFill>
                  <a:latin typeface="Calibri"/>
                </a:rPr>
                <a:t>  —  Optimal Transport — a family of distances between distributions.</a:t>
              </a:r>
            </a:p>
          </p:txBody>
        </p:sp>
        <p:sp>
          <p:nvSpPr>
            <p:cNvPr id="25" name="TextBox 24"/>
            <p:cNvSpPr txBox="1"/>
            <p:nvPr/>
          </p:nvSpPr>
          <p:spPr>
            <a:xfrm>
              <a:off x="6263640" y="2514601"/>
              <a:ext cx="5532120" cy="320885"/>
            </a:xfrm>
            <a:prstGeom prst="rect">
              <a:avLst/>
            </a:prstGeom>
            <a:noFill/>
          </p:spPr>
          <p:txBody>
            <a:bodyPr wrap="square">
              <a:spAutoFit/>
            </a:bodyPr>
            <a:lstStyle/>
            <a:p>
              <a:r>
                <a:rPr sz="1100" b="1">
                  <a:solidFill>
                    <a:srgbClr val="1A2332"/>
                  </a:solidFill>
                  <a:latin typeface="Calibri"/>
                </a:rPr>
                <a:t>OT-LS</a:t>
              </a:r>
              <a:r>
                <a:rPr sz="1100">
                  <a:solidFill>
                    <a:srgbClr val="2C3E50"/>
                  </a:solidFill>
                  <a:latin typeface="Calibri"/>
                </a:rPr>
                <a:t>  —  OT-then-LS hybrid objective — paper 3 (Hunziker et al. 2025).</a:t>
              </a:r>
            </a:p>
          </p:txBody>
        </p:sp>
        <p:sp>
          <p:nvSpPr>
            <p:cNvPr id="26" name="TextBox 25"/>
            <p:cNvSpPr txBox="1"/>
            <p:nvPr/>
          </p:nvSpPr>
          <p:spPr>
            <a:xfrm>
              <a:off x="6263640" y="2926080"/>
              <a:ext cx="5532120" cy="528516"/>
            </a:xfrm>
            <a:prstGeom prst="rect">
              <a:avLst/>
            </a:prstGeom>
            <a:noFill/>
          </p:spPr>
          <p:txBody>
            <a:bodyPr wrap="square">
              <a:spAutoFit/>
            </a:bodyPr>
            <a:lstStyle/>
            <a:p>
              <a:r>
                <a:rPr sz="1100" b="1">
                  <a:solidFill>
                    <a:srgbClr val="1A2332"/>
                  </a:solidFill>
                  <a:latin typeface="Calibri"/>
                </a:rPr>
                <a:t>W2</a:t>
              </a:r>
              <a:r>
                <a:rPr sz="1100">
                  <a:solidFill>
                    <a:srgbClr val="2C3E50"/>
                  </a:solidFill>
                  <a:latin typeface="Calibri"/>
                </a:rPr>
                <a:t>  —  Quadratic Wasserstein distance — a specific OT-based objective (paper 4, Lu et al. 2024).</a:t>
              </a:r>
            </a:p>
          </p:txBody>
        </p:sp>
        <p:sp>
          <p:nvSpPr>
            <p:cNvPr id="27" name="TextBox 26"/>
            <p:cNvSpPr txBox="1"/>
            <p:nvPr/>
          </p:nvSpPr>
          <p:spPr>
            <a:xfrm>
              <a:off x="6263640" y="3493009"/>
              <a:ext cx="5532120" cy="320885"/>
            </a:xfrm>
            <a:prstGeom prst="rect">
              <a:avLst/>
            </a:prstGeom>
            <a:noFill/>
          </p:spPr>
          <p:txBody>
            <a:bodyPr wrap="square">
              <a:spAutoFit/>
            </a:bodyPr>
            <a:lstStyle/>
            <a:p>
              <a:r>
                <a:rPr sz="1100" b="1">
                  <a:solidFill>
                    <a:srgbClr val="1A2332"/>
                  </a:solidFill>
                  <a:latin typeface="Calibri"/>
                </a:rPr>
                <a:t>IFWI</a:t>
              </a:r>
              <a:r>
                <a:rPr sz="1100">
                  <a:solidFill>
                    <a:srgbClr val="2C3E50"/>
                  </a:solidFill>
                  <a:latin typeface="Calibri"/>
                </a:rPr>
                <a:t>  —  Implicit FWI — paper 5 (Sun et al. 2025).</a:t>
              </a:r>
            </a:p>
          </p:txBody>
        </p:sp>
        <p:sp>
          <p:nvSpPr>
            <p:cNvPr id="28" name="TextBox 27"/>
            <p:cNvSpPr txBox="1"/>
            <p:nvPr/>
          </p:nvSpPr>
          <p:spPr>
            <a:xfrm>
              <a:off x="6263640" y="3904488"/>
              <a:ext cx="5532120" cy="320885"/>
            </a:xfrm>
            <a:prstGeom prst="rect">
              <a:avLst/>
            </a:prstGeom>
            <a:noFill/>
          </p:spPr>
          <p:txBody>
            <a:bodyPr wrap="square">
              <a:spAutoFit/>
            </a:bodyPr>
            <a:lstStyle/>
            <a:p>
              <a:r>
                <a:rPr sz="1100" b="1">
                  <a:solidFill>
                    <a:srgbClr val="1A2332"/>
                  </a:solidFill>
                  <a:latin typeface="Calibri"/>
                </a:rPr>
                <a:t>Sinkhorn</a:t>
              </a:r>
              <a:r>
                <a:rPr sz="1100">
                  <a:solidFill>
                    <a:srgbClr val="2C3E50"/>
                  </a:solidFill>
                  <a:latin typeface="Calibri"/>
                </a:rPr>
                <a:t>  —  Entropy-regularised algorithm for cheap W2 computation.</a:t>
              </a:r>
            </a:p>
          </p:txBody>
        </p:sp>
        <p:sp>
          <p:nvSpPr>
            <p:cNvPr id="29" name="TextBox 28"/>
            <p:cNvSpPr txBox="1"/>
            <p:nvPr/>
          </p:nvSpPr>
          <p:spPr>
            <a:xfrm>
              <a:off x="6263640" y="4315968"/>
              <a:ext cx="5532120" cy="528516"/>
            </a:xfrm>
            <a:prstGeom prst="rect">
              <a:avLst/>
            </a:prstGeom>
            <a:noFill/>
          </p:spPr>
          <p:txBody>
            <a:bodyPr wrap="square">
              <a:spAutoFit/>
            </a:bodyPr>
            <a:lstStyle/>
            <a:p>
              <a:r>
                <a:rPr sz="1100" b="1">
                  <a:solidFill>
                    <a:srgbClr val="1A2332"/>
                  </a:solidFill>
                  <a:latin typeface="Calibri"/>
                </a:rPr>
                <a:t>Softplus</a:t>
              </a:r>
              <a:r>
                <a:rPr sz="1100">
                  <a:solidFill>
                    <a:srgbClr val="2C3E50"/>
                  </a:solidFill>
                  <a:latin typeface="Calibri"/>
                </a:rPr>
                <a:t>  —  log(1+e^(βx)) — turns a signed oscillating trace into a non-negative mass distribution.</a:t>
              </a:r>
            </a:p>
          </p:txBody>
        </p:sp>
        <p:sp>
          <p:nvSpPr>
            <p:cNvPr id="30" name="TextBox 29"/>
            <p:cNvSpPr txBox="1"/>
            <p:nvPr/>
          </p:nvSpPr>
          <p:spPr>
            <a:xfrm>
              <a:off x="6263640" y="4882895"/>
              <a:ext cx="5532120" cy="320885"/>
            </a:xfrm>
            <a:prstGeom prst="rect">
              <a:avLst/>
            </a:prstGeom>
            <a:noFill/>
          </p:spPr>
          <p:txBody>
            <a:bodyPr wrap="square">
              <a:spAutoFit/>
            </a:bodyPr>
            <a:lstStyle/>
            <a:p>
              <a:r>
                <a:rPr sz="1100" b="1">
                  <a:solidFill>
                    <a:srgbClr val="1A2332"/>
                  </a:solidFill>
                  <a:latin typeface="Calibri"/>
                </a:rPr>
                <a:t>β (W2)</a:t>
              </a:r>
              <a:r>
                <a:rPr sz="1100">
                  <a:solidFill>
                    <a:srgbClr val="2C3E50"/>
                  </a:solidFill>
                  <a:latin typeface="Calibri"/>
                </a:rPr>
                <a:t>  —  Softplus scale — larger β preserves more signed-shape information.</a:t>
              </a:r>
            </a:p>
          </p:txBody>
        </p:sp>
        <p:sp>
          <p:nvSpPr>
            <p:cNvPr id="31" name="TextBox 30"/>
            <p:cNvSpPr txBox="1"/>
            <p:nvPr/>
          </p:nvSpPr>
          <p:spPr>
            <a:xfrm>
              <a:off x="6263640" y="5294377"/>
              <a:ext cx="5532120" cy="528516"/>
            </a:xfrm>
            <a:prstGeom prst="rect">
              <a:avLst/>
            </a:prstGeom>
            <a:noFill/>
          </p:spPr>
          <p:txBody>
            <a:bodyPr wrap="square">
              <a:spAutoFit/>
            </a:bodyPr>
            <a:lstStyle/>
            <a:p>
              <a:r>
                <a:rPr sz="1100" b="1">
                  <a:solidFill>
                    <a:srgbClr val="1A2332"/>
                  </a:solidFill>
                  <a:latin typeface="Calibri"/>
                </a:rPr>
                <a:t>ε (W2)</a:t>
              </a:r>
              <a:r>
                <a:rPr sz="1100">
                  <a:solidFill>
                    <a:srgbClr val="2C3E50"/>
                  </a:solidFill>
                  <a:latin typeface="Calibri"/>
                </a:rPr>
                <a:t>  —  Sinkhorn entropy regularisation — smaller is more accurate, less numerically stable.</a:t>
              </a:r>
            </a:p>
          </p:txBody>
        </p:sp>
        <p:sp>
          <p:nvSpPr>
            <p:cNvPr id="32" name="TextBox 31"/>
            <p:cNvSpPr txBox="1"/>
            <p:nvPr/>
          </p:nvSpPr>
          <p:spPr>
            <a:xfrm>
              <a:off x="6263640" y="5861304"/>
              <a:ext cx="5532120" cy="320885"/>
            </a:xfrm>
            <a:prstGeom prst="rect">
              <a:avLst/>
            </a:prstGeom>
            <a:noFill/>
          </p:spPr>
          <p:txBody>
            <a:bodyPr wrap="square">
              <a:spAutoFit/>
            </a:bodyPr>
            <a:lstStyle/>
            <a:p>
              <a:r>
                <a:rPr sz="1100" b="1">
                  <a:solidFill>
                    <a:srgbClr val="1A2332"/>
                  </a:solidFill>
                  <a:latin typeface="Calibri"/>
                </a:rPr>
                <a:t>ds (W2)</a:t>
              </a:r>
              <a:r>
                <a:rPr sz="1100">
                  <a:solidFill>
                    <a:srgbClr val="2C3E50"/>
                  </a:solidFill>
                  <a:latin typeface="Calibri"/>
                </a:rPr>
                <a:t>  —  Sinkhorn downsample factor for trace length (cost control).</a:t>
              </a:r>
            </a:p>
          </p:txBody>
        </p:sp>
        <p:sp>
          <p:nvSpPr>
            <p:cNvPr id="33" name="TextBox 32"/>
            <p:cNvSpPr txBox="1"/>
            <p:nvPr/>
          </p:nvSpPr>
          <p:spPr>
            <a:xfrm>
              <a:off x="6263640" y="6272784"/>
              <a:ext cx="5532120" cy="528516"/>
            </a:xfrm>
            <a:prstGeom prst="rect">
              <a:avLst/>
            </a:prstGeom>
            <a:noFill/>
          </p:spPr>
          <p:txBody>
            <a:bodyPr wrap="square">
              <a:spAutoFit/>
            </a:bodyPr>
            <a:lstStyle/>
            <a:p>
              <a:r>
                <a:rPr sz="1100" b="1">
                  <a:solidFill>
                    <a:srgbClr val="1A2332"/>
                  </a:solidFill>
                  <a:latin typeface="Calibri"/>
                </a:rPr>
                <a:t>RCCC</a:t>
              </a:r>
              <a:r>
                <a:rPr sz="1100">
                  <a:solidFill>
                    <a:srgbClr val="2C3E50"/>
                  </a:solidFill>
                  <a:latin typeface="Calibri"/>
                </a:rPr>
                <a:t>  —  Relative Cross-Correlation Criterion = |trace shift| / dominant period (per trace pair).</a:t>
              </a:r>
            </a:p>
          </p:txBody>
        </p:sp>
        <p:sp>
          <p:nvSpPr>
            <p:cNvPr id="34" name="TextBox 33"/>
            <p:cNvSpPr txBox="1"/>
            <p:nvPr/>
          </p:nvSpPr>
          <p:spPr>
            <a:xfrm>
              <a:off x="6263640" y="6839711"/>
              <a:ext cx="5532120" cy="528516"/>
            </a:xfrm>
            <a:prstGeom prst="rect">
              <a:avLst/>
            </a:prstGeom>
            <a:noFill/>
          </p:spPr>
          <p:txBody>
            <a:bodyPr wrap="square">
              <a:spAutoFit/>
            </a:bodyPr>
            <a:lstStyle/>
            <a:p>
              <a:r>
                <a:rPr sz="1100" b="1">
                  <a:solidFill>
                    <a:srgbClr val="1A2332"/>
                  </a:solidFill>
                  <a:latin typeface="Calibri"/>
                </a:rPr>
                <a:t>NRCCC</a:t>
              </a:r>
              <a:r>
                <a:rPr sz="1100">
                  <a:solidFill>
                    <a:srgbClr val="2C3E50"/>
                  </a:solidFill>
                  <a:latin typeface="Calibri"/>
                </a:rPr>
                <a:t>  —  Normalised RCCC = fraction of traces with RCCC &lt; 0.5 (half-period gate from the OT-LS paper).</a:t>
              </a:r>
            </a:p>
          </p:txBody>
        </p:sp>
        <p:sp>
          <p:nvSpPr>
            <p:cNvPr id="35" name="TextBox 34"/>
            <p:cNvSpPr txBox="1"/>
            <p:nvPr/>
          </p:nvSpPr>
          <p:spPr>
            <a:xfrm>
              <a:off x="6263640" y="7406640"/>
              <a:ext cx="5532120" cy="528516"/>
            </a:xfrm>
            <a:prstGeom prst="rect">
              <a:avLst/>
            </a:prstGeom>
            <a:noFill/>
          </p:spPr>
          <p:txBody>
            <a:bodyPr wrap="square">
              <a:spAutoFit/>
            </a:bodyPr>
            <a:lstStyle/>
            <a:p>
              <a:r>
                <a:rPr sz="1100" b="1">
                  <a:solidFill>
                    <a:srgbClr val="1A2332"/>
                  </a:solidFill>
                  <a:latin typeface="Calibri"/>
                </a:rPr>
                <a:t>carry_low_25</a:t>
              </a:r>
              <a:r>
                <a:rPr sz="1100">
                  <a:solidFill>
                    <a:srgbClr val="2C3E50"/>
                  </a:solidFill>
                  <a:latin typeface="Calibri"/>
                </a:rPr>
                <a:t>  —  Weighting scheme: 0.25 × 1.0 GHz + 1.0 × 1.5 GHz (radius-friendly multi-frequency).</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Key terms and jargon</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Plain-language gloss for the rest of the deck</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reference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a:t>
            </a:r>
          </a:p>
        </p:txBody>
      </p:sp>
      <p:grpSp>
        <p:nvGrpSpPr>
          <p:cNvPr id="22" name="Group 21">
            <a:extLst>
              <a:ext uri="{FF2B5EF4-FFF2-40B4-BE49-F238E27FC236}">
                <a16:creationId xmlns:a16="http://schemas.microsoft.com/office/drawing/2014/main" id="{9746F377-D63C-4450-AA25-F54623814382}"/>
              </a:ext>
            </a:extLst>
          </p:cNvPr>
          <p:cNvGrpSpPr/>
          <p:nvPr/>
        </p:nvGrpSpPr>
        <p:grpSpPr>
          <a:xfrm>
            <a:off x="735724" y="1280160"/>
            <a:ext cx="10972800" cy="4792027"/>
            <a:chOff x="365760" y="1280160"/>
            <a:chExt cx="11430000" cy="3764213"/>
          </a:xfrm>
        </p:grpSpPr>
        <p:sp>
          <p:nvSpPr>
            <p:cNvPr id="8" name="TextBox 7"/>
            <p:cNvSpPr txBox="1"/>
            <p:nvPr/>
          </p:nvSpPr>
          <p:spPr>
            <a:xfrm>
              <a:off x="365760" y="1280160"/>
              <a:ext cx="5532120" cy="362645"/>
            </a:xfrm>
            <a:prstGeom prst="rect">
              <a:avLst/>
            </a:prstGeom>
            <a:noFill/>
          </p:spPr>
          <p:txBody>
            <a:bodyPr wrap="square">
              <a:spAutoFit/>
            </a:bodyPr>
            <a:lstStyle/>
            <a:p>
              <a:r>
                <a:rPr sz="1200" b="1">
                  <a:solidFill>
                    <a:srgbClr val="1A2332"/>
                  </a:solidFill>
                  <a:latin typeface="Calibri"/>
                </a:rPr>
                <a:t>Powell</a:t>
              </a:r>
              <a:r>
                <a:rPr sz="1200">
                  <a:solidFill>
                    <a:srgbClr val="2C3E50"/>
                  </a:solidFill>
                  <a:latin typeface="Calibri"/>
                </a:rPr>
                <a:t>  —  Derivative-free local optimiser available in SciPy; explores along directions, not gradients. Our default for the continuous local refinement stage.</a:t>
              </a:r>
            </a:p>
          </p:txBody>
        </p:sp>
        <p:sp>
          <p:nvSpPr>
            <p:cNvPr id="9" name="TextBox 8"/>
            <p:cNvSpPr txBox="1"/>
            <p:nvPr/>
          </p:nvSpPr>
          <p:spPr>
            <a:xfrm>
              <a:off x="365760" y="1847088"/>
              <a:ext cx="5532120" cy="217587"/>
            </a:xfrm>
            <a:prstGeom prst="rect">
              <a:avLst/>
            </a:prstGeom>
            <a:noFill/>
          </p:spPr>
          <p:txBody>
            <a:bodyPr wrap="square">
              <a:spAutoFit/>
            </a:bodyPr>
            <a:lstStyle/>
            <a:p>
              <a:r>
                <a:rPr sz="1200" b="1">
                  <a:solidFill>
                    <a:srgbClr val="1A2332"/>
                  </a:solidFill>
                  <a:latin typeface="Calibri"/>
                </a:rPr>
                <a:t>Basin</a:t>
              </a:r>
              <a:r>
                <a:rPr sz="1200">
                  <a:solidFill>
                    <a:srgbClr val="2C3E50"/>
                  </a:solidFill>
                  <a:latin typeface="Calibri"/>
                </a:rPr>
                <a:t>  —  The local valley in the objective landscape where an optimiser settles.</a:t>
              </a:r>
            </a:p>
          </p:txBody>
        </p:sp>
        <p:sp>
          <p:nvSpPr>
            <p:cNvPr id="10" name="TextBox 9"/>
            <p:cNvSpPr txBox="1"/>
            <p:nvPr/>
          </p:nvSpPr>
          <p:spPr>
            <a:xfrm>
              <a:off x="365760" y="2258568"/>
              <a:ext cx="5532120" cy="362645"/>
            </a:xfrm>
            <a:prstGeom prst="rect">
              <a:avLst/>
            </a:prstGeom>
            <a:noFill/>
          </p:spPr>
          <p:txBody>
            <a:bodyPr wrap="square">
              <a:spAutoFit/>
            </a:bodyPr>
            <a:lstStyle/>
            <a:p>
              <a:r>
                <a:rPr sz="1200" b="1">
                  <a:solidFill>
                    <a:srgbClr val="1A2332"/>
                  </a:solidFill>
                  <a:latin typeface="Calibri"/>
                </a:rPr>
                <a:t>High-radius basin</a:t>
              </a:r>
              <a:r>
                <a:rPr sz="1200">
                  <a:solidFill>
                    <a:srgbClr val="2C3E50"/>
                  </a:solidFill>
                  <a:latin typeface="Calibri"/>
                </a:rPr>
                <a:t>  —  The specific wrong local minimum at r ≈ 6.95 mm that continuous Powell consistently finds in our setup.</a:t>
              </a:r>
            </a:p>
          </p:txBody>
        </p:sp>
        <p:sp>
          <p:nvSpPr>
            <p:cNvPr id="11" name="TextBox 10"/>
            <p:cNvSpPr txBox="1"/>
            <p:nvPr/>
          </p:nvSpPr>
          <p:spPr>
            <a:xfrm>
              <a:off x="365760" y="2825496"/>
              <a:ext cx="5532120" cy="507703"/>
            </a:xfrm>
            <a:prstGeom prst="rect">
              <a:avLst/>
            </a:prstGeom>
            <a:noFill/>
          </p:spPr>
          <p:txBody>
            <a:bodyPr wrap="square">
              <a:spAutoFit/>
            </a:bodyPr>
            <a:lstStyle/>
            <a:p>
              <a:r>
                <a:rPr sz="1200" b="1">
                  <a:solidFill>
                    <a:srgbClr val="1A2332"/>
                  </a:solidFill>
                  <a:latin typeface="Calibri"/>
                </a:rPr>
                <a:t>Depth-radius coupling</a:t>
              </a:r>
              <a:r>
                <a:rPr sz="1200">
                  <a:solidFill>
                    <a:srgbClr val="2C3E50"/>
                  </a:solidFill>
                  <a:latin typeface="Calibri"/>
                </a:rPr>
                <a:t>  —  Near the true minimum, a slightly deeper rebar (z+) trades against a slightly larger radius (r+) and produces an almost identical waveform — this is what causes the high-radius basin.</a:t>
              </a:r>
            </a:p>
          </p:txBody>
        </p:sp>
        <p:sp>
          <p:nvSpPr>
            <p:cNvPr id="12" name="TextBox 11"/>
            <p:cNvSpPr txBox="1"/>
            <p:nvPr/>
          </p:nvSpPr>
          <p:spPr>
            <a:xfrm>
              <a:off x="365760" y="3392424"/>
              <a:ext cx="5532120" cy="507703"/>
            </a:xfrm>
            <a:prstGeom prst="rect">
              <a:avLst/>
            </a:prstGeom>
            <a:noFill/>
          </p:spPr>
          <p:txBody>
            <a:bodyPr wrap="square">
              <a:spAutoFit/>
            </a:bodyPr>
            <a:lstStyle/>
            <a:p>
              <a:r>
                <a:rPr sz="1200" b="1">
                  <a:solidFill>
                    <a:srgbClr val="1A2332"/>
                  </a:solidFill>
                  <a:latin typeface="Calibri"/>
                </a:rPr>
                <a:t>Grid polish</a:t>
              </a:r>
              <a:r>
                <a:rPr sz="1200">
                  <a:solidFill>
                    <a:srgbClr val="2C3E50"/>
                  </a:solidFill>
                  <a:latin typeface="Calibri"/>
                </a:rPr>
                <a:t>  —  A deterministic small local (z, r) grid search after Powell. Corrects radius bias because rasterised geometry is piecewise-constant in physical coordinates, so smooth-tolerance optimisers cannot find the exact rasterised cell.</a:t>
              </a:r>
            </a:p>
          </p:txBody>
        </p:sp>
        <p:sp>
          <p:nvSpPr>
            <p:cNvPr id="13" name="TextBox 12"/>
            <p:cNvSpPr txBox="1"/>
            <p:nvPr/>
          </p:nvSpPr>
          <p:spPr>
            <a:xfrm>
              <a:off x="365760" y="3959352"/>
              <a:ext cx="5532120" cy="362645"/>
            </a:xfrm>
            <a:prstGeom prst="rect">
              <a:avLst/>
            </a:prstGeom>
            <a:noFill/>
          </p:spPr>
          <p:txBody>
            <a:bodyPr wrap="square">
              <a:spAutoFit/>
            </a:bodyPr>
            <a:lstStyle/>
            <a:p>
              <a:r>
                <a:rPr sz="1200" b="1">
                  <a:solidFill>
                    <a:srgbClr val="1A2332"/>
                  </a:solidFill>
                  <a:latin typeface="Calibri"/>
                </a:rPr>
                <a:t>Top-k candidates</a:t>
              </a:r>
              <a:r>
                <a:rPr sz="1200">
                  <a:solidFill>
                    <a:srgbClr val="2C3E50"/>
                  </a:solidFill>
                  <a:latin typeface="Calibri"/>
                </a:rPr>
                <a:t>  —  Instead of one best (x, z, r), the polish reports the K best candidates and their misfits — the next-best alternative is auditable.</a:t>
              </a:r>
            </a:p>
          </p:txBody>
        </p:sp>
        <p:sp>
          <p:nvSpPr>
            <p:cNvPr id="14" name="TextBox 13"/>
            <p:cNvSpPr txBox="1"/>
            <p:nvPr/>
          </p:nvSpPr>
          <p:spPr>
            <a:xfrm>
              <a:off x="365760" y="4526280"/>
              <a:ext cx="5532120" cy="362645"/>
            </a:xfrm>
            <a:prstGeom prst="rect">
              <a:avLst/>
            </a:prstGeom>
            <a:noFill/>
          </p:spPr>
          <p:txBody>
            <a:bodyPr wrap="square">
              <a:spAutoFit/>
            </a:bodyPr>
            <a:lstStyle/>
            <a:p>
              <a:r>
                <a:rPr sz="1200" b="1">
                  <a:solidFill>
                    <a:srgbClr val="1A2332"/>
                  </a:solidFill>
                  <a:latin typeface="Calibri"/>
                </a:rPr>
                <a:t>Twin experiment</a:t>
              </a:r>
              <a:r>
                <a:rPr sz="1200">
                  <a:solidFill>
                    <a:srgbClr val="2C3E50"/>
                  </a:solidFill>
                  <a:latin typeface="Calibri"/>
                </a:rPr>
                <a:t>  —  Both the 'observed' and the candidate B-scans come from the same FDTD solver, so any failure is in the inverse pipeline, not in the physics model.</a:t>
              </a:r>
            </a:p>
          </p:txBody>
        </p:sp>
        <p:sp>
          <p:nvSpPr>
            <p:cNvPr id="15" name="TextBox 14"/>
            <p:cNvSpPr txBox="1"/>
            <p:nvPr/>
          </p:nvSpPr>
          <p:spPr>
            <a:xfrm>
              <a:off x="6263640" y="1280160"/>
              <a:ext cx="5532120" cy="507703"/>
            </a:xfrm>
            <a:prstGeom prst="rect">
              <a:avLst/>
            </a:prstGeom>
            <a:noFill/>
          </p:spPr>
          <p:txBody>
            <a:bodyPr wrap="square">
              <a:spAutoFit/>
            </a:bodyPr>
            <a:lstStyle/>
            <a:p>
              <a:r>
                <a:rPr sz="1200" b="1">
                  <a:solidFill>
                    <a:srgbClr val="1A2332"/>
                  </a:solidFill>
                  <a:latin typeface="Calibri"/>
                </a:rPr>
                <a:t>Cycle skipping</a:t>
              </a:r>
              <a:r>
                <a:rPr sz="1200">
                  <a:solidFill>
                    <a:srgbClr val="2C3E50"/>
                  </a:solidFill>
                  <a:latin typeface="Calibri"/>
                </a:rPr>
                <a:t>  —  When a modelled trace is more than half a period out of phase with the observed one, least-squares can settle into the wrong cycle. This is the classical failure mode the OT family of methods targets.</a:t>
              </a:r>
            </a:p>
          </p:txBody>
        </p:sp>
        <p:sp>
          <p:nvSpPr>
            <p:cNvPr id="16" name="TextBox 15"/>
            <p:cNvSpPr txBox="1"/>
            <p:nvPr/>
          </p:nvSpPr>
          <p:spPr>
            <a:xfrm>
              <a:off x="6263640" y="1847088"/>
              <a:ext cx="5532120" cy="362645"/>
            </a:xfrm>
            <a:prstGeom prst="rect">
              <a:avLst/>
            </a:prstGeom>
            <a:noFill/>
          </p:spPr>
          <p:txBody>
            <a:bodyPr wrap="square">
              <a:spAutoFit/>
            </a:bodyPr>
            <a:lstStyle/>
            <a:p>
              <a:r>
                <a:rPr sz="1200" b="1">
                  <a:solidFill>
                    <a:srgbClr val="1A2332"/>
                  </a:solidFill>
                  <a:latin typeface="Calibri"/>
                </a:rPr>
                <a:t>Variable projection (WRI)</a:t>
              </a:r>
              <a:r>
                <a:rPr sz="1200">
                  <a:solidFill>
                    <a:srgbClr val="2C3E50"/>
                  </a:solidFill>
                  <a:latin typeface="Calibri"/>
                </a:rPr>
                <a:t>  —  Solve a fast subproblem for the wavefield first (with the model fixed), then reduce the optimisation to just the material model.</a:t>
              </a:r>
            </a:p>
          </p:txBody>
        </p:sp>
        <p:sp>
          <p:nvSpPr>
            <p:cNvPr id="17" name="TextBox 16"/>
            <p:cNvSpPr txBox="1"/>
            <p:nvPr/>
          </p:nvSpPr>
          <p:spPr>
            <a:xfrm>
              <a:off x="6263640" y="2414016"/>
              <a:ext cx="5532120" cy="507703"/>
            </a:xfrm>
            <a:prstGeom prst="rect">
              <a:avLst/>
            </a:prstGeom>
            <a:noFill/>
          </p:spPr>
          <p:txBody>
            <a:bodyPr wrap="square">
              <a:spAutoFit/>
            </a:bodyPr>
            <a:lstStyle/>
            <a:p>
              <a:r>
                <a:rPr sz="1200" b="1">
                  <a:solidFill>
                    <a:srgbClr val="1A2332"/>
                  </a:solidFill>
                  <a:latin typeface="Calibri"/>
                </a:rPr>
                <a:t>Matched filter (PEBDD)</a:t>
              </a:r>
              <a:r>
                <a:rPr sz="1200">
                  <a:solidFill>
                    <a:srgbClr val="2C3E50"/>
                  </a:solidFill>
                  <a:latin typeface="Calibri"/>
                </a:rPr>
                <a:t>  —  Apply the same band-pass to both observed and modelled traces inside the objective — the distinguishing detail vs older bandwidth methods.</a:t>
              </a:r>
            </a:p>
          </p:txBody>
        </p:sp>
        <p:sp>
          <p:nvSpPr>
            <p:cNvPr id="18" name="TextBox 17"/>
            <p:cNvSpPr txBox="1"/>
            <p:nvPr/>
          </p:nvSpPr>
          <p:spPr>
            <a:xfrm>
              <a:off x="6263640" y="2980944"/>
              <a:ext cx="5532120" cy="362645"/>
            </a:xfrm>
            <a:prstGeom prst="rect">
              <a:avLst/>
            </a:prstGeom>
            <a:noFill/>
          </p:spPr>
          <p:txBody>
            <a:bodyPr wrap="square">
              <a:spAutoFit/>
            </a:bodyPr>
            <a:lstStyle/>
            <a:p>
              <a:r>
                <a:rPr sz="1200" b="1">
                  <a:solidFill>
                    <a:srgbClr val="1A2332"/>
                  </a:solidFill>
                  <a:latin typeface="Calibri"/>
                </a:rPr>
                <a:t>Source-wavelet mismatch</a:t>
              </a:r>
              <a:r>
                <a:rPr sz="1200">
                  <a:solidFill>
                    <a:srgbClr val="2C3E50"/>
                  </a:solidFill>
                  <a:latin typeface="Calibri"/>
                </a:rPr>
                <a:t>  —  The observed source wavelet differs from the modelled one (amplitude / time-zero / centre-frequency).</a:t>
              </a:r>
            </a:p>
          </p:txBody>
        </p:sp>
        <p:sp>
          <p:nvSpPr>
            <p:cNvPr id="19" name="TextBox 18"/>
            <p:cNvSpPr txBox="1"/>
            <p:nvPr/>
          </p:nvSpPr>
          <p:spPr>
            <a:xfrm>
              <a:off x="6263640" y="3547872"/>
              <a:ext cx="5532120" cy="362645"/>
            </a:xfrm>
            <a:prstGeom prst="rect">
              <a:avLst/>
            </a:prstGeom>
            <a:noFill/>
          </p:spPr>
          <p:txBody>
            <a:bodyPr wrap="square">
              <a:spAutoFit/>
            </a:bodyPr>
            <a:lstStyle/>
            <a:p>
              <a:r>
                <a:rPr sz="1200" b="1">
                  <a:solidFill>
                    <a:srgbClr val="1A2332"/>
                  </a:solidFill>
                  <a:latin typeface="Calibri"/>
                </a:rPr>
                <a:t>Source profile</a:t>
              </a:r>
              <a:r>
                <a:rPr sz="1200">
                  <a:solidFill>
                    <a:srgbClr val="2C3E50"/>
                  </a:solidFill>
                  <a:latin typeface="Calibri"/>
                </a:rPr>
                <a:t>  —  A small set of nuisance parameters (amplitude scalar + time-shift grid + fc-scale grid) fit per candidate to absorb wavelet mismatch.</a:t>
              </a:r>
            </a:p>
          </p:txBody>
        </p:sp>
        <p:sp>
          <p:nvSpPr>
            <p:cNvPr id="20" name="TextBox 19"/>
            <p:cNvSpPr txBox="1"/>
            <p:nvPr/>
          </p:nvSpPr>
          <p:spPr>
            <a:xfrm>
              <a:off x="6263640" y="4114800"/>
              <a:ext cx="5532120" cy="362645"/>
            </a:xfrm>
            <a:prstGeom prst="rect">
              <a:avLst/>
            </a:prstGeom>
            <a:noFill/>
          </p:spPr>
          <p:txBody>
            <a:bodyPr wrap="square">
              <a:spAutoFit/>
            </a:bodyPr>
            <a:lstStyle/>
            <a:p>
              <a:r>
                <a:rPr sz="1200" b="1">
                  <a:solidFill>
                    <a:srgbClr val="1A2332"/>
                  </a:solidFill>
                  <a:latin typeface="Calibri"/>
                </a:rPr>
                <a:t>Distinct-radius margin</a:t>
              </a:r>
              <a:r>
                <a:rPr sz="1200">
                  <a:solidFill>
                    <a:srgbClr val="2C3E50"/>
                  </a:solidFill>
                  <a:latin typeface="Calibri"/>
                </a:rPr>
                <a:t>  —  Objective gap between the best radius and the best next-distinct-radius candidate — our standard confidence measure.</a:t>
              </a:r>
            </a:p>
          </p:txBody>
        </p:sp>
        <p:sp>
          <p:nvSpPr>
            <p:cNvPr id="21" name="TextBox 20"/>
            <p:cNvSpPr txBox="1"/>
            <p:nvPr/>
          </p:nvSpPr>
          <p:spPr>
            <a:xfrm>
              <a:off x="6263640" y="4681728"/>
              <a:ext cx="5532120" cy="362645"/>
            </a:xfrm>
            <a:prstGeom prst="rect">
              <a:avLst/>
            </a:prstGeom>
            <a:noFill/>
          </p:spPr>
          <p:txBody>
            <a:bodyPr wrap="square">
              <a:spAutoFit/>
            </a:bodyPr>
            <a:lstStyle/>
            <a:p>
              <a:r>
                <a:rPr sz="1200" b="1">
                  <a:solidFill>
                    <a:srgbClr val="1A2332"/>
                  </a:solidFill>
                  <a:latin typeface="Calibri"/>
                </a:rPr>
                <a:t>Residual spectrum</a:t>
              </a:r>
              <a:r>
                <a:rPr sz="1200">
                  <a:solidFill>
                    <a:srgbClr val="2C3E50"/>
                  </a:solidFill>
                  <a:latin typeface="Calibri"/>
                </a:rPr>
                <a:t>  —  FFT amplitude of (synthetic − observed) for a specific candidate; shows which frequencies that candidate fails to fit.</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Five papers as the menu of hypotheses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What this section is and how it lands in the deck</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setup</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a:t>
            </a:r>
          </a:p>
        </p:txBody>
      </p:sp>
      <p:sp>
        <p:nvSpPr>
          <p:cNvPr id="8" name="TextBox 7"/>
          <p:cNvSpPr txBox="1"/>
          <p:nvPr/>
        </p:nvSpPr>
        <p:spPr>
          <a:xfrm>
            <a:off x="640080" y="1371600"/>
            <a:ext cx="5486400" cy="4791055"/>
          </a:xfrm>
          <a:prstGeom prst="rect">
            <a:avLst/>
          </a:prstGeom>
          <a:noFill/>
        </p:spPr>
        <p:txBody>
          <a:bodyPr wrap="square">
            <a:spAutoFit/>
          </a:bodyPr>
          <a:lstStyle/>
          <a:p>
            <a:pPr>
              <a:spcAft>
                <a:spcPts val="400"/>
              </a:spcAft>
              <a:defRPr sz="1400">
                <a:solidFill>
                  <a:srgbClr val="2C3E50"/>
                </a:solidFill>
                <a:latin typeface="Calibri"/>
              </a:defRPr>
            </a:pPr>
            <a:r>
              <a:rPr sz="1600" dirty="0"/>
              <a:t>The first deck ended at exact-synthetic recovery on the 1 mm grid. That left a sharper question:</a:t>
            </a:r>
          </a:p>
          <a:p>
            <a:pPr lvl="1">
              <a:spcAft>
                <a:spcPts val="400"/>
              </a:spcAft>
              <a:defRPr sz="1400">
                <a:solidFill>
                  <a:srgbClr val="2C3E50"/>
                </a:solidFill>
                <a:latin typeface="Calibri"/>
              </a:defRPr>
            </a:pPr>
            <a:r>
              <a:rPr sz="1600" dirty="0"/>
              <a:t>what assumption, if broken, actually moves radius?</a:t>
            </a:r>
          </a:p>
          <a:p>
            <a:pPr>
              <a:spcAft>
                <a:spcPts val="400"/>
              </a:spcAft>
              <a:defRPr sz="1400">
                <a:solidFill>
                  <a:srgbClr val="2C3E50"/>
                </a:solidFill>
                <a:latin typeface="Calibri"/>
              </a:defRPr>
            </a:pPr>
            <a:endParaRPr sz="1600" dirty="0"/>
          </a:p>
          <a:p>
            <a:pPr>
              <a:spcAft>
                <a:spcPts val="400"/>
              </a:spcAft>
              <a:defRPr sz="1400">
                <a:solidFill>
                  <a:srgbClr val="2C3E50"/>
                </a:solidFill>
                <a:latin typeface="Calibri"/>
              </a:defRPr>
            </a:pPr>
            <a:r>
              <a:rPr sz="1600" dirty="0"/>
              <a:t>We did not invent a new objective. Instead, the recent FWI literature already proposes five distinct strategies for the failure modes we might run into. Each paper is a hypothesis about which assumption matters:</a:t>
            </a:r>
          </a:p>
          <a:p>
            <a:pPr lvl="1">
              <a:spcAft>
                <a:spcPts val="400"/>
              </a:spcAft>
              <a:defRPr sz="1400">
                <a:solidFill>
                  <a:srgbClr val="2C3E50"/>
                </a:solidFill>
                <a:latin typeface="Calibri"/>
              </a:defRPr>
            </a:pPr>
            <a:r>
              <a:rPr sz="1600" dirty="0"/>
              <a:t>Paper 1 (WRI): the wave equation is too tight a constraint</a:t>
            </a:r>
          </a:p>
          <a:p>
            <a:pPr lvl="1">
              <a:spcAft>
                <a:spcPts val="400"/>
              </a:spcAft>
              <a:defRPr sz="1400">
                <a:solidFill>
                  <a:srgbClr val="2C3E50"/>
                </a:solidFill>
                <a:latin typeface="Calibri"/>
              </a:defRPr>
            </a:pPr>
            <a:r>
              <a:rPr sz="1600" dirty="0"/>
              <a:t>Paper 2 (PEBDD): the data bandwidth is too wide too soon</a:t>
            </a:r>
          </a:p>
          <a:p>
            <a:pPr lvl="1">
              <a:spcAft>
                <a:spcPts val="400"/>
              </a:spcAft>
              <a:defRPr sz="1400">
                <a:solidFill>
                  <a:srgbClr val="2C3E50"/>
                </a:solidFill>
                <a:latin typeface="Calibri"/>
              </a:defRPr>
            </a:pPr>
            <a:r>
              <a:rPr sz="1600" dirty="0"/>
              <a:t>Paper 3 (OT-LS): the objective traps on cycle skips</a:t>
            </a:r>
          </a:p>
          <a:p>
            <a:pPr lvl="1">
              <a:spcAft>
                <a:spcPts val="400"/>
              </a:spcAft>
              <a:defRPr sz="1400">
                <a:solidFill>
                  <a:srgbClr val="2C3E50"/>
                </a:solidFill>
                <a:latin typeface="Calibri"/>
              </a:defRPr>
            </a:pPr>
            <a:r>
              <a:rPr sz="1600" dirty="0"/>
              <a:t>Paper 4 (W2): least squares is the wrong distance</a:t>
            </a:r>
          </a:p>
          <a:p>
            <a:pPr lvl="1">
              <a:spcAft>
                <a:spcPts val="400"/>
              </a:spcAft>
              <a:defRPr sz="1400">
                <a:solidFill>
                  <a:srgbClr val="2C3E50"/>
                </a:solidFill>
                <a:latin typeface="Calibri"/>
              </a:defRPr>
            </a:pPr>
            <a:r>
              <a:rPr sz="1600" dirty="0"/>
              <a:t>Paper 5 (IFWI): the model representation is too rigid</a:t>
            </a:r>
          </a:p>
          <a:p>
            <a:pPr>
              <a:spcAft>
                <a:spcPts val="400"/>
              </a:spcAft>
              <a:defRPr sz="1400">
                <a:solidFill>
                  <a:srgbClr val="2C3E50"/>
                </a:solidFill>
                <a:latin typeface="Calibri"/>
              </a:defRPr>
            </a:pPr>
            <a:endParaRPr sz="1600" dirty="0"/>
          </a:p>
          <a:p>
            <a:pPr>
              <a:spcAft>
                <a:spcPts val="400"/>
              </a:spcAft>
              <a:defRPr sz="1400">
                <a:solidFill>
                  <a:srgbClr val="2C3E50"/>
                </a:solidFill>
                <a:latin typeface="Calibri"/>
              </a:defRPr>
            </a:pPr>
            <a:r>
              <a:rPr sz="1600" dirty="0"/>
              <a:t>Each paper was tested through a controlled landscape gate before any optimizer integration. Some were kept, some were rejected, some were deferred — with reasons.</a:t>
            </a:r>
          </a:p>
        </p:txBody>
      </p:sp>
      <p:sp>
        <p:nvSpPr>
          <p:cNvPr id="9" name="Rounded Rectangle 8"/>
          <p:cNvSpPr/>
          <p:nvPr/>
        </p:nvSpPr>
        <p:spPr>
          <a:xfrm>
            <a:off x="6400800" y="1371600"/>
            <a:ext cx="5394960" cy="9144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65392" y="1463040"/>
            <a:ext cx="5120640" cy="365760"/>
          </a:xfrm>
          <a:prstGeom prst="rect">
            <a:avLst/>
          </a:prstGeom>
          <a:noFill/>
        </p:spPr>
        <p:txBody>
          <a:bodyPr wrap="square">
            <a:spAutoFit/>
          </a:bodyPr>
          <a:lstStyle/>
          <a:p>
            <a:pPr algn="l">
              <a:defRPr sz="1300" b="1" i="0">
                <a:solidFill>
                  <a:srgbClr val="1A2332"/>
                </a:solidFill>
                <a:latin typeface="Calibri"/>
              </a:defRPr>
            </a:pPr>
            <a:r>
              <a:t>Paper 1 · WRI 2022 (Feng et al.)</a:t>
            </a:r>
          </a:p>
        </p:txBody>
      </p:sp>
      <p:sp>
        <p:nvSpPr>
          <p:cNvPr id="11" name="TextBox 10"/>
          <p:cNvSpPr txBox="1"/>
          <p:nvPr/>
        </p:nvSpPr>
        <p:spPr>
          <a:xfrm>
            <a:off x="6565392" y="1828800"/>
            <a:ext cx="5120640" cy="411480"/>
          </a:xfrm>
          <a:prstGeom prst="rect">
            <a:avLst/>
          </a:prstGeom>
          <a:noFill/>
        </p:spPr>
        <p:txBody>
          <a:bodyPr wrap="square">
            <a:spAutoFit/>
          </a:bodyPr>
          <a:lstStyle/>
          <a:p>
            <a:pPr algn="l">
              <a:defRPr sz="1100" b="0" i="0">
                <a:solidFill>
                  <a:srgbClr val="2C3E50"/>
                </a:solidFill>
                <a:latin typeface="Calibri"/>
              </a:defRPr>
            </a:pPr>
            <a:r>
              <a:t>Frequency-domain wavefield reconstruction + cumulative frequency strategy.</a:t>
            </a:r>
          </a:p>
        </p:txBody>
      </p:sp>
      <p:sp>
        <p:nvSpPr>
          <p:cNvPr id="12" name="Rounded Rectangle 11"/>
          <p:cNvSpPr/>
          <p:nvPr/>
        </p:nvSpPr>
        <p:spPr>
          <a:xfrm>
            <a:off x="6400800" y="2359152"/>
            <a:ext cx="5394960" cy="9144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565392" y="2450592"/>
            <a:ext cx="5120640" cy="365760"/>
          </a:xfrm>
          <a:prstGeom prst="rect">
            <a:avLst/>
          </a:prstGeom>
          <a:noFill/>
        </p:spPr>
        <p:txBody>
          <a:bodyPr wrap="square">
            <a:spAutoFit/>
          </a:bodyPr>
          <a:lstStyle/>
          <a:p>
            <a:pPr algn="l">
              <a:defRPr sz="1300" b="1" i="0">
                <a:solidFill>
                  <a:srgbClr val="1A2332"/>
                </a:solidFill>
                <a:latin typeface="Calibri"/>
              </a:defRPr>
            </a:pPr>
            <a:r>
              <a:t>Paper 2 · PEBDD 2021 (Zhou et al.)</a:t>
            </a:r>
          </a:p>
        </p:txBody>
      </p:sp>
      <p:sp>
        <p:nvSpPr>
          <p:cNvPr id="14" name="TextBox 13"/>
          <p:cNvSpPr txBox="1"/>
          <p:nvPr/>
        </p:nvSpPr>
        <p:spPr>
          <a:xfrm>
            <a:off x="6565392" y="2816352"/>
            <a:ext cx="5120640" cy="411480"/>
          </a:xfrm>
          <a:prstGeom prst="rect">
            <a:avLst/>
          </a:prstGeom>
          <a:noFill/>
        </p:spPr>
        <p:txBody>
          <a:bodyPr wrap="square">
            <a:spAutoFit/>
          </a:bodyPr>
          <a:lstStyle/>
          <a:p>
            <a:pPr algn="l">
              <a:defRPr sz="1100" b="0" i="0">
                <a:solidFill>
                  <a:srgbClr val="2C3E50"/>
                </a:solidFill>
                <a:latin typeface="Calibri"/>
              </a:defRPr>
            </a:pPr>
            <a:r>
              <a:t>Progressively expanded bandwidth, matched filter on both d_obs and d_syn.</a:t>
            </a:r>
          </a:p>
        </p:txBody>
      </p:sp>
      <p:sp>
        <p:nvSpPr>
          <p:cNvPr id="15" name="Rounded Rectangle 14"/>
          <p:cNvSpPr/>
          <p:nvPr/>
        </p:nvSpPr>
        <p:spPr>
          <a:xfrm>
            <a:off x="6400800" y="3346704"/>
            <a:ext cx="5394960" cy="91440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65392" y="3438144"/>
            <a:ext cx="5120640" cy="365760"/>
          </a:xfrm>
          <a:prstGeom prst="rect">
            <a:avLst/>
          </a:prstGeom>
          <a:noFill/>
        </p:spPr>
        <p:txBody>
          <a:bodyPr wrap="square">
            <a:spAutoFit/>
          </a:bodyPr>
          <a:lstStyle/>
          <a:p>
            <a:pPr algn="l">
              <a:defRPr sz="1300" b="1" i="0">
                <a:solidFill>
                  <a:srgbClr val="1A2332"/>
                </a:solidFill>
                <a:latin typeface="Calibri"/>
              </a:defRPr>
            </a:pPr>
            <a:r>
              <a:t>Paper 3 · OT-LS 2025 (Hunziker et al.)</a:t>
            </a:r>
          </a:p>
        </p:txBody>
      </p:sp>
      <p:sp>
        <p:nvSpPr>
          <p:cNvPr id="17" name="TextBox 16"/>
          <p:cNvSpPr txBox="1"/>
          <p:nvPr/>
        </p:nvSpPr>
        <p:spPr>
          <a:xfrm>
            <a:off x="6565392" y="3803904"/>
            <a:ext cx="5120640" cy="411480"/>
          </a:xfrm>
          <a:prstGeom prst="rect">
            <a:avLst/>
          </a:prstGeom>
          <a:noFill/>
        </p:spPr>
        <p:txBody>
          <a:bodyPr wrap="square">
            <a:spAutoFit/>
          </a:bodyPr>
          <a:lstStyle/>
          <a:p>
            <a:pPr algn="l">
              <a:defRPr sz="1100" b="0" i="0">
                <a:solidFill>
                  <a:srgbClr val="2C3E50"/>
                </a:solidFill>
                <a:latin typeface="Calibri"/>
              </a:defRPr>
            </a:pPr>
            <a:r>
              <a:t>Hybrid OT-then-LS with an NRCCC switching criterion.</a:t>
            </a:r>
          </a:p>
        </p:txBody>
      </p:sp>
      <p:sp>
        <p:nvSpPr>
          <p:cNvPr id="18" name="Rounded Rectangle 17"/>
          <p:cNvSpPr/>
          <p:nvPr/>
        </p:nvSpPr>
        <p:spPr>
          <a:xfrm>
            <a:off x="6400800" y="4334256"/>
            <a:ext cx="5394960" cy="914400"/>
          </a:xfrm>
          <a:prstGeom prst="roundRect">
            <a:avLst/>
          </a:prstGeom>
          <a:solidFill>
            <a:srgbClr val="FAE5E2"/>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65392" y="4425696"/>
            <a:ext cx="5120640" cy="365760"/>
          </a:xfrm>
          <a:prstGeom prst="rect">
            <a:avLst/>
          </a:prstGeom>
          <a:noFill/>
        </p:spPr>
        <p:txBody>
          <a:bodyPr wrap="square">
            <a:spAutoFit/>
          </a:bodyPr>
          <a:lstStyle/>
          <a:p>
            <a:pPr algn="l">
              <a:defRPr sz="1300" b="1" i="0">
                <a:solidFill>
                  <a:srgbClr val="1A2332"/>
                </a:solidFill>
                <a:latin typeface="Calibri"/>
              </a:defRPr>
            </a:pPr>
            <a:r>
              <a:t>Paper 4 · W2 GPR 2024 (Lu et al.)</a:t>
            </a:r>
          </a:p>
        </p:txBody>
      </p:sp>
      <p:sp>
        <p:nvSpPr>
          <p:cNvPr id="20" name="TextBox 19"/>
          <p:cNvSpPr txBox="1"/>
          <p:nvPr/>
        </p:nvSpPr>
        <p:spPr>
          <a:xfrm>
            <a:off x="6565392" y="4791456"/>
            <a:ext cx="5120640" cy="411480"/>
          </a:xfrm>
          <a:prstGeom prst="rect">
            <a:avLst/>
          </a:prstGeom>
          <a:noFill/>
        </p:spPr>
        <p:txBody>
          <a:bodyPr wrap="square">
            <a:spAutoFit/>
          </a:bodyPr>
          <a:lstStyle/>
          <a:p>
            <a:pPr algn="l">
              <a:defRPr sz="1100" b="0" i="0">
                <a:solidFill>
                  <a:srgbClr val="2C3E50"/>
                </a:solidFill>
                <a:latin typeface="Calibri"/>
              </a:defRPr>
            </a:pPr>
            <a:r>
              <a:t>Quadratic Wasserstein objective via Softplus normalisation + Sinkhorn.</a:t>
            </a:r>
          </a:p>
        </p:txBody>
      </p:sp>
      <p:sp>
        <p:nvSpPr>
          <p:cNvPr id="21" name="Rounded Rectangle 20"/>
          <p:cNvSpPr/>
          <p:nvPr/>
        </p:nvSpPr>
        <p:spPr>
          <a:xfrm>
            <a:off x="6400800" y="5321808"/>
            <a:ext cx="5394960" cy="91440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565392" y="5413248"/>
            <a:ext cx="5120640" cy="365760"/>
          </a:xfrm>
          <a:prstGeom prst="rect">
            <a:avLst/>
          </a:prstGeom>
          <a:noFill/>
        </p:spPr>
        <p:txBody>
          <a:bodyPr wrap="square">
            <a:spAutoFit/>
          </a:bodyPr>
          <a:lstStyle/>
          <a:p>
            <a:pPr algn="l">
              <a:defRPr sz="1300" b="1" i="0">
                <a:solidFill>
                  <a:srgbClr val="1A2332"/>
                </a:solidFill>
                <a:latin typeface="Calibri"/>
              </a:defRPr>
            </a:pPr>
            <a:r>
              <a:t>Paper 5 · IFWI 2025 (Sun et al.)</a:t>
            </a:r>
          </a:p>
        </p:txBody>
      </p:sp>
      <p:sp>
        <p:nvSpPr>
          <p:cNvPr id="23" name="TextBox 22"/>
          <p:cNvSpPr txBox="1"/>
          <p:nvPr/>
        </p:nvSpPr>
        <p:spPr>
          <a:xfrm>
            <a:off x="6565392" y="5779008"/>
            <a:ext cx="5120640" cy="411480"/>
          </a:xfrm>
          <a:prstGeom prst="rect">
            <a:avLst/>
          </a:prstGeom>
          <a:noFill/>
        </p:spPr>
        <p:txBody>
          <a:bodyPr wrap="square">
            <a:spAutoFit/>
          </a:bodyPr>
          <a:lstStyle/>
          <a:p>
            <a:pPr algn="l">
              <a:defRPr sz="1100" b="0" i="0">
                <a:solidFill>
                  <a:srgbClr val="2C3E50"/>
                </a:solidFill>
                <a:latin typeface="Calibri"/>
              </a:defRPr>
            </a:pPr>
            <a:r>
              <a:t>Implicit neural representation (x, z) → (εr, σ) with frequency-principle prior.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Wavefield Reconstruction Inversion (WRI)</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Feng et al., Remote Sensing 2022 — frequency-domain GPR-FWI for underground pipeline imaging</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1 / WRI</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a:t>
            </a:r>
          </a:p>
        </p:txBody>
      </p:sp>
      <p:grpSp>
        <p:nvGrpSpPr>
          <p:cNvPr id="25" name="Group 24">
            <a:extLst>
              <a:ext uri="{FF2B5EF4-FFF2-40B4-BE49-F238E27FC236}">
                <a16:creationId xmlns:a16="http://schemas.microsoft.com/office/drawing/2014/main" id="{8E57D01A-9BB7-C45D-62AD-01762656FA41}"/>
              </a:ext>
            </a:extLst>
          </p:cNvPr>
          <p:cNvGrpSpPr/>
          <p:nvPr/>
        </p:nvGrpSpPr>
        <p:grpSpPr>
          <a:xfrm>
            <a:off x="274320" y="1280160"/>
            <a:ext cx="11640312" cy="5112433"/>
            <a:chOff x="274320" y="1280160"/>
            <a:chExt cx="11640312" cy="5112433"/>
          </a:xfrm>
        </p:grpSpPr>
        <p:grpSp>
          <p:nvGrpSpPr>
            <p:cNvPr id="20" name="Group 19">
              <a:extLst>
                <a:ext uri="{FF2B5EF4-FFF2-40B4-BE49-F238E27FC236}">
                  <a16:creationId xmlns:a16="http://schemas.microsoft.com/office/drawing/2014/main" id="{CD5C396B-8AE0-DDFA-9227-DA95E2BFB142}"/>
                </a:ext>
              </a:extLst>
            </p:cNvPr>
            <p:cNvGrpSpPr/>
            <p:nvPr/>
          </p:nvGrpSpPr>
          <p:grpSpPr>
            <a:xfrm>
              <a:off x="274320" y="1280160"/>
              <a:ext cx="5669280" cy="2423160"/>
              <a:chOff x="274320" y="1280160"/>
              <a:chExt cx="5669280" cy="2423160"/>
            </a:xfrm>
          </p:grpSpPr>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411480" y="1325880"/>
                <a:ext cx="5394960" cy="307777"/>
              </a:xfrm>
              <a:prstGeom prst="rect">
                <a:avLst/>
              </a:prstGeom>
              <a:noFill/>
            </p:spPr>
            <p:txBody>
              <a:bodyPr wrap="square">
                <a:spAutoFit/>
              </a:bodyPr>
              <a:lstStyle/>
              <a:p>
                <a:pPr algn="l">
                  <a:defRPr sz="1100" b="1" i="0">
                    <a:solidFill>
                      <a:srgbClr val="1A2332"/>
                    </a:solidFill>
                    <a:latin typeface="Calibri"/>
                  </a:defRPr>
                </a:pPr>
                <a:r>
                  <a:rPr sz="1400"/>
                  <a:t>PROBLEM IT ATTACKS</a:t>
                </a:r>
              </a:p>
            </p:txBody>
          </p:sp>
          <p:sp>
            <p:nvSpPr>
              <p:cNvPr id="10" name="TextBox 9"/>
              <p:cNvSpPr txBox="1"/>
              <p:nvPr/>
            </p:nvSpPr>
            <p:spPr>
              <a:xfrm>
                <a:off x="411480" y="1664208"/>
                <a:ext cx="5394960" cy="1169551"/>
              </a:xfrm>
              <a:prstGeom prst="rect">
                <a:avLst/>
              </a:prstGeom>
              <a:noFill/>
            </p:spPr>
            <p:txBody>
              <a:bodyPr wrap="square">
                <a:spAutoFit/>
              </a:bodyPr>
              <a:lstStyle/>
              <a:p>
                <a:pPr>
                  <a:spcAft>
                    <a:spcPts val="0"/>
                  </a:spcAft>
                  <a:defRPr sz="1100">
                    <a:solidFill>
                      <a:srgbClr val="2C3E50"/>
                    </a:solidFill>
                    <a:latin typeface="Calibri"/>
                  </a:defRPr>
                </a:pPr>
                <a:r>
                  <a:rPr sz="1400"/>
                  <a:t>Standard FWI for GPR pipeline imaging is brittle: enforcing the wave equation exactly each iteration makes the objective highly nonlinear, so an inaccurate starting model creates cycle skipping and trapped local minima. Multiparameter inversion (permittivity and conductivity together) amplifies this; high-frequency content amplifies it further.</a:t>
                </a:r>
              </a:p>
            </p:txBody>
          </p:sp>
        </p:grpSp>
        <p:grpSp>
          <p:nvGrpSpPr>
            <p:cNvPr id="22" name="Group 21">
              <a:extLst>
                <a:ext uri="{FF2B5EF4-FFF2-40B4-BE49-F238E27FC236}">
                  <a16:creationId xmlns:a16="http://schemas.microsoft.com/office/drawing/2014/main" id="{0114C14B-A49E-EA17-79BF-1DEB0F76F28C}"/>
                </a:ext>
              </a:extLst>
            </p:cNvPr>
            <p:cNvGrpSpPr/>
            <p:nvPr/>
          </p:nvGrpSpPr>
          <p:grpSpPr>
            <a:xfrm>
              <a:off x="6245352" y="1280160"/>
              <a:ext cx="5669280" cy="2423160"/>
              <a:chOff x="6245352" y="1280160"/>
              <a:chExt cx="5669280" cy="2423160"/>
            </a:xfrm>
          </p:grpSpPr>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2" name="TextBox 11"/>
              <p:cNvSpPr txBox="1"/>
              <p:nvPr/>
            </p:nvSpPr>
            <p:spPr>
              <a:xfrm>
                <a:off x="6382512" y="1325880"/>
                <a:ext cx="5394960" cy="307777"/>
              </a:xfrm>
              <a:prstGeom prst="rect">
                <a:avLst/>
              </a:prstGeom>
              <a:noFill/>
            </p:spPr>
            <p:txBody>
              <a:bodyPr wrap="square">
                <a:spAutoFit/>
              </a:bodyPr>
              <a:lstStyle/>
              <a:p>
                <a:pPr algn="l">
                  <a:defRPr sz="1100" b="1" i="0">
                    <a:solidFill>
                      <a:srgbClr val="1A2332"/>
                    </a:solidFill>
                    <a:latin typeface="Calibri"/>
                  </a:defRPr>
                </a:pPr>
                <a:r>
                  <a:rPr sz="1400"/>
                  <a:t>METHOD / ARCHITECTURE</a:t>
                </a:r>
              </a:p>
            </p:txBody>
          </p:sp>
          <p:sp>
            <p:nvSpPr>
              <p:cNvPr id="13" name="TextBox 12"/>
              <p:cNvSpPr txBox="1"/>
              <p:nvPr/>
            </p:nvSpPr>
            <p:spPr>
              <a:xfrm>
                <a:off x="6382512" y="1664208"/>
                <a:ext cx="5532120" cy="2031325"/>
              </a:xfrm>
              <a:prstGeom prst="rect">
                <a:avLst/>
              </a:prstGeom>
              <a:noFill/>
            </p:spPr>
            <p:txBody>
              <a:bodyPr wrap="square">
                <a:spAutoFit/>
              </a:bodyPr>
              <a:lstStyle/>
              <a:p>
                <a:pPr>
                  <a:spcAft>
                    <a:spcPts val="0"/>
                  </a:spcAft>
                  <a:defRPr sz="1100">
                    <a:solidFill>
                      <a:srgbClr val="2C3E50"/>
                    </a:solidFill>
                    <a:latin typeface="Calibri"/>
                  </a:defRPr>
                </a:pPr>
                <a:r>
                  <a:rPr sz="1400" dirty="0"/>
                  <a:t>Frequency-domain wavefield reconstruction inversion (WRI). The wave equation is no longer enforced exactly — it becomes a penalty term, so wavefield and model are co-updated. Variable projection: solve a least-squares problem for the reconstructed wavefield given the model, substitute back into a reduced objective over the model, optimize with L-BFGS over relative permittivity and conductivity. Pair this with a multi-scale cumulative frequency strategy: stages B1..B5 add 1, 2, 3, 4, or 6 new frequencies per step while keeping previous ones; inverse-frequency-squared weighting prevents the high band from dominating the objective.</a:t>
                </a:r>
              </a:p>
            </p:txBody>
          </p:sp>
        </p:grpSp>
        <p:grpSp>
          <p:nvGrpSpPr>
            <p:cNvPr id="21" name="Group 20">
              <a:extLst>
                <a:ext uri="{FF2B5EF4-FFF2-40B4-BE49-F238E27FC236}">
                  <a16:creationId xmlns:a16="http://schemas.microsoft.com/office/drawing/2014/main" id="{83B2EA33-FE32-04F7-D3AC-F796830B6BF3}"/>
                </a:ext>
              </a:extLst>
            </p:cNvPr>
            <p:cNvGrpSpPr/>
            <p:nvPr/>
          </p:nvGrpSpPr>
          <p:grpSpPr>
            <a:xfrm>
              <a:off x="274320" y="3969433"/>
              <a:ext cx="5669280" cy="2423160"/>
              <a:chOff x="274320" y="3969433"/>
              <a:chExt cx="5669280" cy="2423160"/>
            </a:xfrm>
          </p:grpSpPr>
          <p:sp>
            <p:nvSpPr>
              <p:cNvPr id="14" name="Rounded Rectangle 13"/>
              <p:cNvSpPr/>
              <p:nvPr/>
            </p:nvSpPr>
            <p:spPr>
              <a:xfrm>
                <a:off x="274320" y="3969433"/>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5" name="TextBox 14"/>
              <p:cNvSpPr txBox="1"/>
              <p:nvPr/>
            </p:nvSpPr>
            <p:spPr>
              <a:xfrm>
                <a:off x="411480" y="4015153"/>
                <a:ext cx="5394960" cy="307777"/>
              </a:xfrm>
              <a:prstGeom prst="rect">
                <a:avLst/>
              </a:prstGeom>
              <a:noFill/>
            </p:spPr>
            <p:txBody>
              <a:bodyPr wrap="square">
                <a:spAutoFit/>
              </a:bodyPr>
              <a:lstStyle/>
              <a:p>
                <a:pPr algn="l">
                  <a:defRPr sz="1100" b="1" i="0">
                    <a:solidFill>
                      <a:srgbClr val="1A2332"/>
                    </a:solidFill>
                    <a:latin typeface="Calibri"/>
                  </a:defRPr>
                </a:pPr>
                <a:r>
                  <a:rPr sz="1400"/>
                  <a:t>KEY FINDINGS REPORTED</a:t>
                </a:r>
              </a:p>
            </p:txBody>
          </p:sp>
          <p:sp>
            <p:nvSpPr>
              <p:cNvPr id="16" name="TextBox 15"/>
              <p:cNvSpPr txBox="1"/>
              <p:nvPr/>
            </p:nvSpPr>
            <p:spPr>
              <a:xfrm>
                <a:off x="411480" y="4353481"/>
                <a:ext cx="5394960" cy="1600438"/>
              </a:xfrm>
              <a:prstGeom prst="rect">
                <a:avLst/>
              </a:prstGeom>
              <a:noFill/>
            </p:spPr>
            <p:txBody>
              <a:bodyPr wrap="square">
                <a:spAutoFit/>
              </a:bodyPr>
              <a:lstStyle/>
              <a:p>
                <a:pPr>
                  <a:spcAft>
                    <a:spcPts val="0"/>
                  </a:spcAft>
                  <a:defRPr sz="1100">
                    <a:solidFill>
                      <a:srgbClr val="2C3E50"/>
                    </a:solidFill>
                    <a:latin typeface="Calibri"/>
                  </a:defRPr>
                </a:pPr>
                <a:r>
                  <a:rPr sz="1400"/>
                  <a:t>Two synthetic pipeline cases and one field-style case. Cumulative schedules beat the simultaneous baseline in every test. Reported error reductions: 7–11% (permittivity) and 7–15% (conductivity) on case 1; 20–40% and 17–24% on case 2. Smaller cumulative batches were more accurate but cost more PDE solves. Permittivity reconstructed better than conductivity. Field case recovered plausible pipeline locations even with imperfect starts.</a:t>
                </a:r>
              </a:p>
            </p:txBody>
          </p:sp>
        </p:grpSp>
        <p:grpSp>
          <p:nvGrpSpPr>
            <p:cNvPr id="24" name="Group 23">
              <a:extLst>
                <a:ext uri="{FF2B5EF4-FFF2-40B4-BE49-F238E27FC236}">
                  <a16:creationId xmlns:a16="http://schemas.microsoft.com/office/drawing/2014/main" id="{0577CE2B-82D8-820A-AF6F-586F137EE9AF}"/>
                </a:ext>
              </a:extLst>
            </p:cNvPr>
            <p:cNvGrpSpPr/>
            <p:nvPr/>
          </p:nvGrpSpPr>
          <p:grpSpPr>
            <a:xfrm>
              <a:off x="6245352" y="3969433"/>
              <a:ext cx="5669280" cy="2423160"/>
              <a:chOff x="6245352" y="3969433"/>
              <a:chExt cx="5669280" cy="2423160"/>
            </a:xfrm>
          </p:grpSpPr>
          <p:sp>
            <p:nvSpPr>
              <p:cNvPr id="17" name="Rounded Rectangle 16"/>
              <p:cNvSpPr/>
              <p:nvPr/>
            </p:nvSpPr>
            <p:spPr>
              <a:xfrm>
                <a:off x="6245352" y="3969433"/>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8" name="TextBox 17"/>
              <p:cNvSpPr txBox="1"/>
              <p:nvPr/>
            </p:nvSpPr>
            <p:spPr>
              <a:xfrm>
                <a:off x="6382512" y="4015153"/>
                <a:ext cx="5394960" cy="307777"/>
              </a:xfrm>
              <a:prstGeom prst="rect">
                <a:avLst/>
              </a:prstGeom>
              <a:noFill/>
            </p:spPr>
            <p:txBody>
              <a:bodyPr wrap="square">
                <a:spAutoFit/>
              </a:bodyPr>
              <a:lstStyle/>
              <a:p>
                <a:pPr algn="l">
                  <a:defRPr sz="1100" b="1" i="0">
                    <a:solidFill>
                      <a:srgbClr val="1A2332"/>
                    </a:solidFill>
                    <a:latin typeface="Calibri"/>
                  </a:defRPr>
                </a:pPr>
                <a:r>
                  <a:rPr sz="1400"/>
                  <a:t>OUR ADAPTATION</a:t>
                </a:r>
              </a:p>
            </p:txBody>
          </p:sp>
          <p:sp>
            <p:nvSpPr>
              <p:cNvPr id="19" name="TextBox 18"/>
              <p:cNvSpPr txBox="1"/>
              <p:nvPr/>
            </p:nvSpPr>
            <p:spPr>
              <a:xfrm>
                <a:off x="6382512" y="4353481"/>
                <a:ext cx="5394960" cy="2031325"/>
              </a:xfrm>
              <a:prstGeom prst="rect">
                <a:avLst/>
              </a:prstGeom>
              <a:noFill/>
            </p:spPr>
            <p:txBody>
              <a:bodyPr wrap="square">
                <a:spAutoFit/>
              </a:bodyPr>
              <a:lstStyle/>
              <a:p>
                <a:pPr>
                  <a:spcAft>
                    <a:spcPts val="0"/>
                  </a:spcAft>
                  <a:defRPr sz="1100">
                    <a:solidFill>
                      <a:srgbClr val="2C3E50"/>
                    </a:solidFill>
                    <a:latin typeface="Calibri"/>
                  </a:defRPr>
                </a:pPr>
                <a:r>
                  <a:rPr sz="1400"/>
                  <a:t>Kept: the cumulative-frequency philosophy, adapted as time-domain per-frequency objective contributions and a --frequency-weights CLI. This is what enables the carry_low_25 scheme we use for radius.</a:t>
                </a:r>
                <a:br>
                  <a:rPr sz="1400"/>
                </a:br>
                <a:r>
                  <a:rPr sz="1400"/>
                  <a:t>Deferred: full WRI itself. Faithful implementation needs a new frequency-domain Helmholtz/Maxwell operator, complex sparse solves, frequency-domain adjoint, and penalty continuation — its own project. The current radius bias is already well explained by source handling and weighted LS, so the cost is not justified. Documented in docs/experiments/28_wri_feasibility.md.</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Progressively Expanded Bandwidth FWI (PEBDD)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Zhou, Klotzsche, Vereecken, NSG 2021 — crosshole GPR FWI with bandwidth scheduling + source-wavelet update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2 / PEBDD</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6</a:t>
            </a:r>
          </a:p>
        </p:txBody>
      </p:sp>
      <p:grpSp>
        <p:nvGrpSpPr>
          <p:cNvPr id="24" name="Group 23">
            <a:extLst>
              <a:ext uri="{FF2B5EF4-FFF2-40B4-BE49-F238E27FC236}">
                <a16:creationId xmlns:a16="http://schemas.microsoft.com/office/drawing/2014/main" id="{24286CE6-C9E0-E6AB-9796-DBAA135F21FE}"/>
              </a:ext>
            </a:extLst>
          </p:cNvPr>
          <p:cNvGrpSpPr/>
          <p:nvPr/>
        </p:nvGrpSpPr>
        <p:grpSpPr>
          <a:xfrm>
            <a:off x="274320" y="1280160"/>
            <a:ext cx="11640312" cy="5124156"/>
            <a:chOff x="274320" y="1280160"/>
            <a:chExt cx="11640312" cy="5124156"/>
          </a:xfrm>
        </p:grpSpPr>
        <p:grpSp>
          <p:nvGrpSpPr>
            <p:cNvPr id="23" name="Group 22">
              <a:extLst>
                <a:ext uri="{FF2B5EF4-FFF2-40B4-BE49-F238E27FC236}">
                  <a16:creationId xmlns:a16="http://schemas.microsoft.com/office/drawing/2014/main" id="{BAE42381-5360-0C25-3013-5A32836F0FAC}"/>
                </a:ext>
              </a:extLst>
            </p:cNvPr>
            <p:cNvGrpSpPr/>
            <p:nvPr/>
          </p:nvGrpSpPr>
          <p:grpSpPr>
            <a:xfrm>
              <a:off x="274320" y="1280160"/>
              <a:ext cx="5669280" cy="2423160"/>
              <a:chOff x="274320" y="1280160"/>
              <a:chExt cx="5669280" cy="2423160"/>
            </a:xfrm>
          </p:grpSpPr>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411480" y="1325880"/>
                <a:ext cx="5394960" cy="307777"/>
              </a:xfrm>
              <a:prstGeom prst="rect">
                <a:avLst/>
              </a:prstGeom>
              <a:noFill/>
            </p:spPr>
            <p:txBody>
              <a:bodyPr wrap="square">
                <a:spAutoFit/>
              </a:bodyPr>
              <a:lstStyle/>
              <a:p>
                <a:pPr algn="l">
                  <a:defRPr sz="1100" b="1" i="0">
                    <a:solidFill>
                      <a:srgbClr val="1A2332"/>
                    </a:solidFill>
                    <a:latin typeface="Calibri"/>
                  </a:defRPr>
                </a:pPr>
                <a:r>
                  <a:rPr sz="1400"/>
                  <a:t>PROBLEM IT ATTACKS</a:t>
                </a:r>
              </a:p>
            </p:txBody>
          </p:sp>
          <p:sp>
            <p:nvSpPr>
              <p:cNvPr id="10" name="TextBox 9"/>
              <p:cNvSpPr txBox="1"/>
              <p:nvPr/>
            </p:nvSpPr>
            <p:spPr>
              <a:xfrm>
                <a:off x="411480" y="1664208"/>
                <a:ext cx="5394960" cy="1384995"/>
              </a:xfrm>
              <a:prstGeom prst="rect">
                <a:avLst/>
              </a:prstGeom>
              <a:noFill/>
            </p:spPr>
            <p:txBody>
              <a:bodyPr wrap="square">
                <a:spAutoFit/>
              </a:bodyPr>
              <a:lstStyle/>
              <a:p>
                <a:pPr>
                  <a:spcAft>
                    <a:spcPts val="0"/>
                  </a:spcAft>
                  <a:defRPr sz="1100">
                    <a:solidFill>
                      <a:srgbClr val="2C3E50"/>
                    </a:solidFill>
                    <a:latin typeface="Calibri"/>
                  </a:defRPr>
                </a:pPr>
                <a:r>
                  <a:rPr sz="1400"/>
                  <a:t>Crosshole GPR FWI requires the modeled and observed traces to be within roughly half a wavelength or half a period at every position for least-squares to be safe. Ray-based starting models often violate this in high-contrast media. The visible failure mode is the optimizer settling into a depth/contrast tradeoff that fits the B-scan well but is physically wrong.</a:t>
                </a:r>
              </a:p>
            </p:txBody>
          </p:sp>
        </p:grpSp>
        <p:grpSp>
          <p:nvGrpSpPr>
            <p:cNvPr id="21" name="Group 20">
              <a:extLst>
                <a:ext uri="{FF2B5EF4-FFF2-40B4-BE49-F238E27FC236}">
                  <a16:creationId xmlns:a16="http://schemas.microsoft.com/office/drawing/2014/main" id="{611E85FF-B8B0-5F4C-3828-09EB53D8EB92}"/>
                </a:ext>
              </a:extLst>
            </p:cNvPr>
            <p:cNvGrpSpPr/>
            <p:nvPr/>
          </p:nvGrpSpPr>
          <p:grpSpPr>
            <a:xfrm>
              <a:off x="6245352" y="1280160"/>
              <a:ext cx="5669280" cy="2423160"/>
              <a:chOff x="6245352" y="1280160"/>
              <a:chExt cx="5669280" cy="2423160"/>
            </a:xfrm>
          </p:grpSpPr>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2" name="TextBox 11"/>
              <p:cNvSpPr txBox="1"/>
              <p:nvPr/>
            </p:nvSpPr>
            <p:spPr>
              <a:xfrm>
                <a:off x="6382512" y="1325880"/>
                <a:ext cx="5394960" cy="307777"/>
              </a:xfrm>
              <a:prstGeom prst="rect">
                <a:avLst/>
              </a:prstGeom>
              <a:noFill/>
            </p:spPr>
            <p:txBody>
              <a:bodyPr wrap="square">
                <a:spAutoFit/>
              </a:bodyPr>
              <a:lstStyle/>
              <a:p>
                <a:pPr algn="l">
                  <a:defRPr sz="1100" b="1" i="0">
                    <a:solidFill>
                      <a:srgbClr val="1A2332"/>
                    </a:solidFill>
                    <a:latin typeface="Calibri"/>
                  </a:defRPr>
                </a:pPr>
                <a:r>
                  <a:rPr sz="1400"/>
                  <a:t>METHOD / ARCHITECTURE</a:t>
                </a:r>
              </a:p>
            </p:txBody>
          </p:sp>
          <p:sp>
            <p:nvSpPr>
              <p:cNvPr id="13" name="TextBox 12"/>
              <p:cNvSpPr txBox="1"/>
              <p:nvPr/>
            </p:nvSpPr>
            <p:spPr>
              <a:xfrm>
                <a:off x="6382512" y="1664208"/>
                <a:ext cx="5532120" cy="2031325"/>
              </a:xfrm>
              <a:prstGeom prst="rect">
                <a:avLst/>
              </a:prstGeom>
              <a:noFill/>
            </p:spPr>
            <p:txBody>
              <a:bodyPr wrap="square">
                <a:spAutoFit/>
              </a:bodyPr>
              <a:lstStyle/>
              <a:p>
                <a:pPr>
                  <a:spcAft>
                    <a:spcPts val="0"/>
                  </a:spcAft>
                  <a:defRPr sz="1100">
                    <a:solidFill>
                      <a:srgbClr val="2C3E50"/>
                    </a:solidFill>
                    <a:latin typeface="Calibri"/>
                  </a:defRPr>
                </a:pPr>
                <a:r>
                  <a:rPr sz="1400" dirty="0"/>
                  <a:t>PEBDD = Progressively Expanded Bandwidths of the Data. Apply the SAME tapered bandpass to both observed and modeled traces — that is the differentiator from older bandwidth-expansion methods, which filtered only the modeled side through the source wavelet. Algorithm: estimate an effective source wavelet; build a tapered filter; fix a low cut; start with a low high cut; run a small number of FWI iterations; expand the high cut by a fixed increment; repeat. After the staged build-up, use the recovered model as the starting model for full-band FWI, then update the source wavelet by deconvolution and run full-band FWI again.</a:t>
                </a:r>
              </a:p>
            </p:txBody>
          </p:sp>
        </p:grpSp>
        <p:grpSp>
          <p:nvGrpSpPr>
            <p:cNvPr id="22" name="Group 21">
              <a:extLst>
                <a:ext uri="{FF2B5EF4-FFF2-40B4-BE49-F238E27FC236}">
                  <a16:creationId xmlns:a16="http://schemas.microsoft.com/office/drawing/2014/main" id="{8700BC7F-8CD1-CE48-A4E5-324BE149338F}"/>
                </a:ext>
              </a:extLst>
            </p:cNvPr>
            <p:cNvGrpSpPr/>
            <p:nvPr/>
          </p:nvGrpSpPr>
          <p:grpSpPr>
            <a:xfrm>
              <a:off x="274320" y="3981156"/>
              <a:ext cx="5669280" cy="2423160"/>
              <a:chOff x="274320" y="3981156"/>
              <a:chExt cx="5669280" cy="2423160"/>
            </a:xfrm>
          </p:grpSpPr>
          <p:sp>
            <p:nvSpPr>
              <p:cNvPr id="14" name="Rounded Rectangle 13"/>
              <p:cNvSpPr/>
              <p:nvPr/>
            </p:nvSpPr>
            <p:spPr>
              <a:xfrm>
                <a:off x="274320" y="3981156"/>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5" name="TextBox 14"/>
              <p:cNvSpPr txBox="1"/>
              <p:nvPr/>
            </p:nvSpPr>
            <p:spPr>
              <a:xfrm>
                <a:off x="411480" y="4026876"/>
                <a:ext cx="5394960" cy="307777"/>
              </a:xfrm>
              <a:prstGeom prst="rect">
                <a:avLst/>
              </a:prstGeom>
              <a:noFill/>
            </p:spPr>
            <p:txBody>
              <a:bodyPr wrap="square">
                <a:spAutoFit/>
              </a:bodyPr>
              <a:lstStyle/>
              <a:p>
                <a:pPr algn="l">
                  <a:defRPr sz="1100" b="1" i="0">
                    <a:solidFill>
                      <a:srgbClr val="1A2332"/>
                    </a:solidFill>
                    <a:latin typeface="Calibri"/>
                  </a:defRPr>
                </a:pPr>
                <a:r>
                  <a:rPr sz="1400" dirty="0"/>
                  <a:t>KEY FINDINGS REPORTED</a:t>
                </a:r>
              </a:p>
            </p:txBody>
          </p:sp>
          <p:sp>
            <p:nvSpPr>
              <p:cNvPr id="16" name="TextBox 15"/>
              <p:cNvSpPr txBox="1"/>
              <p:nvPr/>
            </p:nvSpPr>
            <p:spPr>
              <a:xfrm>
                <a:off x="411480" y="4365204"/>
                <a:ext cx="5394960" cy="1384995"/>
              </a:xfrm>
              <a:prstGeom prst="rect">
                <a:avLst/>
              </a:prstGeom>
              <a:noFill/>
            </p:spPr>
            <p:txBody>
              <a:bodyPr wrap="square">
                <a:spAutoFit/>
              </a:bodyPr>
              <a:lstStyle/>
              <a:p>
                <a:pPr>
                  <a:spcAft>
                    <a:spcPts val="0"/>
                  </a:spcAft>
                  <a:defRPr sz="1100">
                    <a:solidFill>
                      <a:srgbClr val="2C3E50"/>
                    </a:solidFill>
                    <a:latin typeface="Calibri"/>
                  </a:defRPr>
                </a:pPr>
                <a:r>
                  <a:rPr sz="1400" dirty="0"/>
                  <a:t>Synthetic case I with a good ray-based start: permittivity MAE 2.0 → 1.7 with PEBDD; data RMS roughly halved. Synthetic case II with a deliberately bad start outside the half-wavelength criterion: standard FWI MAE 3.6 → PEBDD MAE 2.1; standard FWI was trapped, PEBDD was not. Field-data RMS improved in all four </a:t>
                </a:r>
                <a:r>
                  <a:rPr sz="1400" dirty="0" err="1"/>
                  <a:t>crosshole</a:t>
                </a:r>
                <a:r>
                  <a:rPr sz="1400" dirty="0"/>
                  <a:t> sections tested; CPT comparisons mostly better, not uniformly.</a:t>
                </a:r>
              </a:p>
            </p:txBody>
          </p:sp>
        </p:grpSp>
        <p:grpSp>
          <p:nvGrpSpPr>
            <p:cNvPr id="20" name="Group 19">
              <a:extLst>
                <a:ext uri="{FF2B5EF4-FFF2-40B4-BE49-F238E27FC236}">
                  <a16:creationId xmlns:a16="http://schemas.microsoft.com/office/drawing/2014/main" id="{17B36A85-FEFA-4843-5640-AC1BB458964C}"/>
                </a:ext>
              </a:extLst>
            </p:cNvPr>
            <p:cNvGrpSpPr/>
            <p:nvPr/>
          </p:nvGrpSpPr>
          <p:grpSpPr>
            <a:xfrm>
              <a:off x="6245352" y="3981156"/>
              <a:ext cx="5669280" cy="2423160"/>
              <a:chOff x="6245352" y="3981156"/>
              <a:chExt cx="5669280" cy="2423160"/>
            </a:xfrm>
          </p:grpSpPr>
          <p:sp>
            <p:nvSpPr>
              <p:cNvPr id="17" name="Rounded Rectangle 16"/>
              <p:cNvSpPr/>
              <p:nvPr/>
            </p:nvSpPr>
            <p:spPr>
              <a:xfrm>
                <a:off x="6245352" y="3981156"/>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8" name="TextBox 17"/>
              <p:cNvSpPr txBox="1"/>
              <p:nvPr/>
            </p:nvSpPr>
            <p:spPr>
              <a:xfrm>
                <a:off x="6382512" y="4026876"/>
                <a:ext cx="5394960" cy="307777"/>
              </a:xfrm>
              <a:prstGeom prst="rect">
                <a:avLst/>
              </a:prstGeom>
              <a:noFill/>
            </p:spPr>
            <p:txBody>
              <a:bodyPr wrap="square">
                <a:spAutoFit/>
              </a:bodyPr>
              <a:lstStyle/>
              <a:p>
                <a:pPr algn="l">
                  <a:defRPr sz="1100" b="1" i="0">
                    <a:solidFill>
                      <a:srgbClr val="1A2332"/>
                    </a:solidFill>
                    <a:latin typeface="Calibri"/>
                  </a:defRPr>
                </a:pPr>
                <a:r>
                  <a:rPr sz="1400"/>
                  <a:t>OUR ADAPTATION</a:t>
                </a:r>
              </a:p>
            </p:txBody>
          </p:sp>
          <p:sp>
            <p:nvSpPr>
              <p:cNvPr id="19" name="TextBox 18"/>
              <p:cNvSpPr txBox="1"/>
              <p:nvPr/>
            </p:nvSpPr>
            <p:spPr>
              <a:xfrm>
                <a:off x="6382512" y="4365204"/>
                <a:ext cx="5394960" cy="1600438"/>
              </a:xfrm>
              <a:prstGeom prst="rect">
                <a:avLst/>
              </a:prstGeom>
              <a:noFill/>
            </p:spPr>
            <p:txBody>
              <a:bodyPr wrap="square">
                <a:spAutoFit/>
              </a:bodyPr>
              <a:lstStyle/>
              <a:p>
                <a:pPr>
                  <a:spcAft>
                    <a:spcPts val="0"/>
                  </a:spcAft>
                  <a:defRPr sz="1100">
                    <a:solidFill>
                      <a:srgbClr val="2C3E50"/>
                    </a:solidFill>
                    <a:latin typeface="Calibri"/>
                  </a:defRPr>
                </a:pPr>
                <a:r>
                  <a:rPr sz="1400"/>
                  <a:t>Kept: the matched-filter design (FFT bandpass applied to both d_obs and d_syn) as inversion/trace_filters.py, plus a new spectrum-design tool so the band edges come from real residual spectra instead of guesses. Used as the seed-building stage of the staged inversion.</a:t>
                </a:r>
                <a:br>
                  <a:rPr sz="1400"/>
                </a:br>
                <a:r>
                  <a:rPr sz="1400"/>
                  <a:t>Adapted: the source-wavelet update is replaced in our pipeline by the explicit source profiling described later in the deck (amplitude / time-shift / center-frequency-scale).</a:t>
                </a: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Optimal-Transport / Least-Squares Hybrid (OT-LS)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Hunziker, Meles, Linde, JAG 2025 — get into the basin with OT, refine with LS, switch via NRCCC</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3 / OT-LS</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7</a:t>
            </a:r>
          </a:p>
        </p:txBody>
      </p:sp>
      <p:grpSp>
        <p:nvGrpSpPr>
          <p:cNvPr id="24" name="Group 23">
            <a:extLst>
              <a:ext uri="{FF2B5EF4-FFF2-40B4-BE49-F238E27FC236}">
                <a16:creationId xmlns:a16="http://schemas.microsoft.com/office/drawing/2014/main" id="{7D0C41EA-8B24-EDD5-CA2F-1614A485684D}"/>
              </a:ext>
            </a:extLst>
          </p:cNvPr>
          <p:cNvGrpSpPr/>
          <p:nvPr/>
        </p:nvGrpSpPr>
        <p:grpSpPr>
          <a:xfrm>
            <a:off x="274320" y="1280160"/>
            <a:ext cx="11734495" cy="5100710"/>
            <a:chOff x="274320" y="1280160"/>
            <a:chExt cx="11734495" cy="5100710"/>
          </a:xfrm>
        </p:grpSpPr>
        <p:grpSp>
          <p:nvGrpSpPr>
            <p:cNvPr id="22" name="Group 21">
              <a:extLst>
                <a:ext uri="{FF2B5EF4-FFF2-40B4-BE49-F238E27FC236}">
                  <a16:creationId xmlns:a16="http://schemas.microsoft.com/office/drawing/2014/main" id="{F7989AFF-C700-43E4-E1FD-98F4721178DE}"/>
                </a:ext>
              </a:extLst>
            </p:cNvPr>
            <p:cNvGrpSpPr/>
            <p:nvPr/>
          </p:nvGrpSpPr>
          <p:grpSpPr>
            <a:xfrm>
              <a:off x="274320" y="1280160"/>
              <a:ext cx="5669280" cy="2423160"/>
              <a:chOff x="274320" y="1280160"/>
              <a:chExt cx="5669280" cy="2423160"/>
            </a:xfrm>
          </p:grpSpPr>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411480" y="1325880"/>
                <a:ext cx="5394960" cy="307777"/>
              </a:xfrm>
              <a:prstGeom prst="rect">
                <a:avLst/>
              </a:prstGeom>
              <a:noFill/>
            </p:spPr>
            <p:txBody>
              <a:bodyPr wrap="square">
                <a:spAutoFit/>
              </a:bodyPr>
              <a:lstStyle/>
              <a:p>
                <a:pPr algn="l">
                  <a:defRPr sz="1100" b="1" i="0">
                    <a:solidFill>
                      <a:srgbClr val="1A2332"/>
                    </a:solidFill>
                    <a:latin typeface="Calibri"/>
                  </a:defRPr>
                </a:pPr>
                <a:r>
                  <a:rPr sz="1400"/>
                  <a:t>PROBLEM IT ATTACKS</a:t>
                </a:r>
              </a:p>
            </p:txBody>
          </p:sp>
          <p:sp>
            <p:nvSpPr>
              <p:cNvPr id="10" name="TextBox 9"/>
              <p:cNvSpPr txBox="1"/>
              <p:nvPr/>
            </p:nvSpPr>
            <p:spPr>
              <a:xfrm>
                <a:off x="411480" y="1664208"/>
                <a:ext cx="5394960" cy="1384995"/>
              </a:xfrm>
              <a:prstGeom prst="rect">
                <a:avLst/>
              </a:prstGeom>
              <a:noFill/>
            </p:spPr>
            <p:txBody>
              <a:bodyPr wrap="square">
                <a:spAutoFit/>
              </a:bodyPr>
              <a:lstStyle/>
              <a:p>
                <a:pPr>
                  <a:spcAft>
                    <a:spcPts val="0"/>
                  </a:spcAft>
                  <a:defRPr sz="1100">
                    <a:solidFill>
                      <a:srgbClr val="2C3E50"/>
                    </a:solidFill>
                    <a:latin typeface="Calibri"/>
                  </a:defRPr>
                </a:pPr>
                <a:r>
                  <a:rPr sz="1400"/>
                  <a:t>Crosshole GPR FWI is cycle-skipping-prone with L2 because the objective has multiple local minima along trace shifts. When the wavelet's main lobe moves past truth, pointwise amplitude cancellation creates a misleading local decrease and the optimizer slides into the wrong basin. The proposed fix is a hybrid objective, not just a different optimizer.</a:t>
                </a:r>
              </a:p>
            </p:txBody>
          </p:sp>
        </p:grpSp>
        <p:grpSp>
          <p:nvGrpSpPr>
            <p:cNvPr id="21" name="Group 20">
              <a:extLst>
                <a:ext uri="{FF2B5EF4-FFF2-40B4-BE49-F238E27FC236}">
                  <a16:creationId xmlns:a16="http://schemas.microsoft.com/office/drawing/2014/main" id="{40040ADE-E616-476C-E911-1E23185C0D52}"/>
                </a:ext>
              </a:extLst>
            </p:cNvPr>
            <p:cNvGrpSpPr/>
            <p:nvPr/>
          </p:nvGrpSpPr>
          <p:grpSpPr>
            <a:xfrm>
              <a:off x="6245352" y="1280160"/>
              <a:ext cx="5763463" cy="2423160"/>
              <a:chOff x="6245352" y="1280160"/>
              <a:chExt cx="5763463" cy="2423160"/>
            </a:xfrm>
          </p:grpSpPr>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2" name="TextBox 11"/>
              <p:cNvSpPr txBox="1"/>
              <p:nvPr/>
            </p:nvSpPr>
            <p:spPr>
              <a:xfrm>
                <a:off x="6382512" y="1325880"/>
                <a:ext cx="5394960" cy="307777"/>
              </a:xfrm>
              <a:prstGeom prst="rect">
                <a:avLst/>
              </a:prstGeom>
              <a:noFill/>
            </p:spPr>
            <p:txBody>
              <a:bodyPr wrap="square">
                <a:spAutoFit/>
              </a:bodyPr>
              <a:lstStyle/>
              <a:p>
                <a:pPr algn="l">
                  <a:defRPr sz="1100" b="1" i="0">
                    <a:solidFill>
                      <a:srgbClr val="1A2332"/>
                    </a:solidFill>
                    <a:latin typeface="Calibri"/>
                  </a:defRPr>
                </a:pPr>
                <a:r>
                  <a:rPr sz="1400"/>
                  <a:t>METHOD / ARCHITECTURE</a:t>
                </a:r>
              </a:p>
            </p:txBody>
          </p:sp>
          <p:sp>
            <p:nvSpPr>
              <p:cNvPr id="13" name="TextBox 12"/>
              <p:cNvSpPr txBox="1"/>
              <p:nvPr/>
            </p:nvSpPr>
            <p:spPr>
              <a:xfrm>
                <a:off x="6339535" y="1664208"/>
                <a:ext cx="5669280" cy="2031325"/>
              </a:xfrm>
              <a:prstGeom prst="rect">
                <a:avLst/>
              </a:prstGeom>
              <a:noFill/>
            </p:spPr>
            <p:txBody>
              <a:bodyPr wrap="square">
                <a:spAutoFit/>
              </a:bodyPr>
              <a:lstStyle/>
              <a:p>
                <a:pPr>
                  <a:spcAft>
                    <a:spcPts val="0"/>
                  </a:spcAft>
                  <a:defRPr sz="1100">
                    <a:solidFill>
                      <a:srgbClr val="2C3E50"/>
                    </a:solidFill>
                    <a:latin typeface="Calibri"/>
                  </a:defRPr>
                </a:pPr>
                <a:r>
                  <a:rPr sz="1400" dirty="0"/>
                  <a:t>Two-stage objective. OT first: convert each trace into a 'fingerprint' — a 2D pseudo probability density over (time, amplitude), take its two 1D marginals, compute Wasserstein distances on those marginals. The fingerprint OT objective has a broad global basin that is shift-monotonic. Then switch to LS for sharpness once trace pairs are aligned. Switching is governed by the cross-correlation criterion RCCC = |trace shift| / dominant period; NRCCC is the fraction of traces with RCCC &lt; 0.5; switch when NRCCC &gt; Cs ≈ 0.7. Gradients computed sparsely at random master points away from antennas, then interpolated — implicit regularization plus runtime.</a:t>
                </a:r>
              </a:p>
            </p:txBody>
          </p:sp>
        </p:grpSp>
        <p:grpSp>
          <p:nvGrpSpPr>
            <p:cNvPr id="23" name="Group 22">
              <a:extLst>
                <a:ext uri="{FF2B5EF4-FFF2-40B4-BE49-F238E27FC236}">
                  <a16:creationId xmlns:a16="http://schemas.microsoft.com/office/drawing/2014/main" id="{6666FA0D-A886-88C3-409E-F747EDBDF2C9}"/>
                </a:ext>
              </a:extLst>
            </p:cNvPr>
            <p:cNvGrpSpPr/>
            <p:nvPr/>
          </p:nvGrpSpPr>
          <p:grpSpPr>
            <a:xfrm>
              <a:off x="274320" y="3957710"/>
              <a:ext cx="5669280" cy="2423160"/>
              <a:chOff x="274320" y="3957710"/>
              <a:chExt cx="5669280" cy="2423160"/>
            </a:xfrm>
          </p:grpSpPr>
          <p:sp>
            <p:nvSpPr>
              <p:cNvPr id="14" name="Rounded Rectangle 13"/>
              <p:cNvSpPr/>
              <p:nvPr/>
            </p:nvSpPr>
            <p:spPr>
              <a:xfrm>
                <a:off x="274320" y="395771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5" name="TextBox 14"/>
              <p:cNvSpPr txBox="1"/>
              <p:nvPr/>
            </p:nvSpPr>
            <p:spPr>
              <a:xfrm>
                <a:off x="411480" y="4003430"/>
                <a:ext cx="5394960" cy="307777"/>
              </a:xfrm>
              <a:prstGeom prst="rect">
                <a:avLst/>
              </a:prstGeom>
              <a:noFill/>
            </p:spPr>
            <p:txBody>
              <a:bodyPr wrap="square">
                <a:spAutoFit/>
              </a:bodyPr>
              <a:lstStyle/>
              <a:p>
                <a:pPr algn="l">
                  <a:defRPr sz="1100" b="1" i="0">
                    <a:solidFill>
                      <a:srgbClr val="1A2332"/>
                    </a:solidFill>
                    <a:latin typeface="Calibri"/>
                  </a:defRPr>
                </a:pPr>
                <a:r>
                  <a:rPr sz="1400"/>
                  <a:t>KEY FINDINGS REPORTED</a:t>
                </a:r>
              </a:p>
            </p:txBody>
          </p:sp>
          <p:sp>
            <p:nvSpPr>
              <p:cNvPr id="16" name="TextBox 15"/>
              <p:cNvSpPr txBox="1"/>
              <p:nvPr/>
            </p:nvSpPr>
            <p:spPr>
              <a:xfrm>
                <a:off x="411480" y="4341758"/>
                <a:ext cx="5394960" cy="1384995"/>
              </a:xfrm>
              <a:prstGeom prst="rect">
                <a:avLst/>
              </a:prstGeom>
              <a:noFill/>
            </p:spPr>
            <p:txBody>
              <a:bodyPr wrap="square">
                <a:spAutoFit/>
              </a:bodyPr>
              <a:lstStyle/>
              <a:p>
                <a:pPr>
                  <a:spcAft>
                    <a:spcPts val="0"/>
                  </a:spcAft>
                  <a:defRPr sz="1100">
                    <a:solidFill>
                      <a:srgbClr val="2C3E50"/>
                    </a:solidFill>
                    <a:latin typeface="Calibri"/>
                  </a:defRPr>
                </a:pPr>
                <a:r>
                  <a:rPr sz="1400"/>
                  <a:t>Synthetic crosshole with a large circular anomaly and a deliberately poor homogeneous starting model. Pure LS converged to bad local minima. Pure OT moved toward the right structure but did not resolve details. Hybrid OT → LS recovered good models for switching thresholds Cs ≈ 0.7–0.75. Runs that ended with NRCCC = 1 and weighted RMS close to 1 were reliable; runs that did not were not.</a:t>
                </a:r>
              </a:p>
            </p:txBody>
          </p:sp>
        </p:grpSp>
        <p:grpSp>
          <p:nvGrpSpPr>
            <p:cNvPr id="20" name="Group 19">
              <a:extLst>
                <a:ext uri="{FF2B5EF4-FFF2-40B4-BE49-F238E27FC236}">
                  <a16:creationId xmlns:a16="http://schemas.microsoft.com/office/drawing/2014/main" id="{9C713F8A-CBB7-C8A9-9040-10C6D7296727}"/>
                </a:ext>
              </a:extLst>
            </p:cNvPr>
            <p:cNvGrpSpPr/>
            <p:nvPr/>
          </p:nvGrpSpPr>
          <p:grpSpPr>
            <a:xfrm>
              <a:off x="6245352" y="3957710"/>
              <a:ext cx="5669280" cy="2423160"/>
              <a:chOff x="6245352" y="3957710"/>
              <a:chExt cx="5669280" cy="2423160"/>
            </a:xfrm>
          </p:grpSpPr>
          <p:sp>
            <p:nvSpPr>
              <p:cNvPr id="17" name="Rounded Rectangle 16"/>
              <p:cNvSpPr/>
              <p:nvPr/>
            </p:nvSpPr>
            <p:spPr>
              <a:xfrm>
                <a:off x="6245352" y="395771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8" name="TextBox 17"/>
              <p:cNvSpPr txBox="1"/>
              <p:nvPr/>
            </p:nvSpPr>
            <p:spPr>
              <a:xfrm>
                <a:off x="6382512" y="4003430"/>
                <a:ext cx="5394960" cy="307777"/>
              </a:xfrm>
              <a:prstGeom prst="rect">
                <a:avLst/>
              </a:prstGeom>
              <a:noFill/>
            </p:spPr>
            <p:txBody>
              <a:bodyPr wrap="square">
                <a:spAutoFit/>
              </a:bodyPr>
              <a:lstStyle/>
              <a:p>
                <a:pPr algn="l">
                  <a:defRPr sz="1100" b="1" i="0">
                    <a:solidFill>
                      <a:srgbClr val="1A2332"/>
                    </a:solidFill>
                    <a:latin typeface="Calibri"/>
                  </a:defRPr>
                </a:pPr>
                <a:r>
                  <a:rPr sz="1400"/>
                  <a:t>OUR ADAPTATION</a:t>
                </a:r>
              </a:p>
            </p:txBody>
          </p:sp>
          <p:sp>
            <p:nvSpPr>
              <p:cNvPr id="19" name="TextBox 18"/>
              <p:cNvSpPr txBox="1"/>
              <p:nvPr/>
            </p:nvSpPr>
            <p:spPr>
              <a:xfrm>
                <a:off x="6382512" y="4341758"/>
                <a:ext cx="5394960" cy="1384995"/>
              </a:xfrm>
              <a:prstGeom prst="rect">
                <a:avLst/>
              </a:prstGeom>
              <a:noFill/>
            </p:spPr>
            <p:txBody>
              <a:bodyPr wrap="square">
                <a:spAutoFit/>
              </a:bodyPr>
              <a:lstStyle/>
              <a:p>
                <a:pPr>
                  <a:spcAft>
                    <a:spcPts val="0"/>
                  </a:spcAft>
                  <a:defRPr sz="1100">
                    <a:solidFill>
                      <a:srgbClr val="2C3E50"/>
                    </a:solidFill>
                    <a:latin typeface="Calibri"/>
                  </a:defRPr>
                </a:pPr>
                <a:r>
                  <a:rPr sz="1400"/>
                  <a:t>Kept: the NRCCC trace-shift diagnostic, implemented in inversion/trace_distances.py and saved in every run summary. We use it as a safety report — does the model live in a least-squares-safe basin?</a:t>
                </a:r>
                <a:br>
                  <a:rPr sz="1400"/>
                </a:br>
                <a:r>
                  <a:rPr sz="1400"/>
                  <a:t>Deferred: the OT objective itself. Across exact / 5% / 10% noise, NRCCC = 1.0 for our wrong-radius candidates — they are already in the LS-safe basin. The OT machinery would be solving a problem we do not have.</a:t>
                </a: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Quadratic Wasserstein GPR-FWI (W2)</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Lu et al., Remote Sensing 2024 — two-parameter GPR-FWI with W2 as a direct L2 replacement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4 / W2</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8</a:t>
            </a:r>
          </a:p>
        </p:txBody>
      </p:sp>
      <p:grpSp>
        <p:nvGrpSpPr>
          <p:cNvPr id="24" name="Group 23">
            <a:extLst>
              <a:ext uri="{FF2B5EF4-FFF2-40B4-BE49-F238E27FC236}">
                <a16:creationId xmlns:a16="http://schemas.microsoft.com/office/drawing/2014/main" id="{1457A3DE-26F5-CCAA-9BBE-B5D78F7B8EC9}"/>
              </a:ext>
            </a:extLst>
          </p:cNvPr>
          <p:cNvGrpSpPr/>
          <p:nvPr/>
        </p:nvGrpSpPr>
        <p:grpSpPr>
          <a:xfrm>
            <a:off x="274320" y="1280160"/>
            <a:ext cx="11640312" cy="4983480"/>
            <a:chOff x="274320" y="1280160"/>
            <a:chExt cx="11640312" cy="4983480"/>
          </a:xfrm>
        </p:grpSpPr>
        <p:grpSp>
          <p:nvGrpSpPr>
            <p:cNvPr id="22" name="Group 21">
              <a:extLst>
                <a:ext uri="{FF2B5EF4-FFF2-40B4-BE49-F238E27FC236}">
                  <a16:creationId xmlns:a16="http://schemas.microsoft.com/office/drawing/2014/main" id="{7221F4CC-E745-E574-8C6F-123240196238}"/>
                </a:ext>
              </a:extLst>
            </p:cNvPr>
            <p:cNvGrpSpPr/>
            <p:nvPr/>
          </p:nvGrpSpPr>
          <p:grpSpPr>
            <a:xfrm>
              <a:off x="274320" y="1280160"/>
              <a:ext cx="5669280" cy="2423160"/>
              <a:chOff x="274320" y="1280160"/>
              <a:chExt cx="5669280" cy="2423160"/>
            </a:xfrm>
          </p:grpSpPr>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1300"/>
              </a:p>
            </p:txBody>
          </p:sp>
          <p:sp>
            <p:nvSpPr>
              <p:cNvPr id="9" name="TextBox 8"/>
              <p:cNvSpPr txBox="1"/>
              <p:nvPr/>
            </p:nvSpPr>
            <p:spPr>
              <a:xfrm>
                <a:off x="411480" y="1325880"/>
                <a:ext cx="5394960" cy="292388"/>
              </a:xfrm>
              <a:prstGeom prst="rect">
                <a:avLst/>
              </a:prstGeom>
              <a:noFill/>
            </p:spPr>
            <p:txBody>
              <a:bodyPr wrap="square">
                <a:spAutoFit/>
              </a:bodyPr>
              <a:lstStyle/>
              <a:p>
                <a:pPr algn="l">
                  <a:defRPr sz="1100" b="1" i="0">
                    <a:solidFill>
                      <a:srgbClr val="1A2332"/>
                    </a:solidFill>
                    <a:latin typeface="Calibri"/>
                  </a:defRPr>
                </a:pPr>
                <a:r>
                  <a:rPr sz="1300"/>
                  <a:t>PROBLEM IT ATTACKS</a:t>
                </a:r>
              </a:p>
            </p:txBody>
          </p:sp>
          <p:sp>
            <p:nvSpPr>
              <p:cNvPr id="10" name="TextBox 9"/>
              <p:cNvSpPr txBox="1"/>
              <p:nvPr/>
            </p:nvSpPr>
            <p:spPr>
              <a:xfrm>
                <a:off x="411480" y="1664208"/>
                <a:ext cx="5394960" cy="1092607"/>
              </a:xfrm>
              <a:prstGeom prst="rect">
                <a:avLst/>
              </a:prstGeom>
              <a:noFill/>
            </p:spPr>
            <p:txBody>
              <a:bodyPr wrap="square">
                <a:spAutoFit/>
              </a:bodyPr>
              <a:lstStyle/>
              <a:p>
                <a:pPr>
                  <a:spcAft>
                    <a:spcPts val="0"/>
                  </a:spcAft>
                  <a:defRPr sz="1100">
                    <a:solidFill>
                      <a:srgbClr val="2C3E50"/>
                    </a:solidFill>
                    <a:latin typeface="Calibri"/>
                  </a:defRPr>
                </a:pPr>
                <a:r>
                  <a:rPr sz="1300"/>
                  <a:t>Two-parameter GPR FWI (relative permittivity and conductivity) is unstable under standard L2: high parameter sensitivity, weak conductivity recovery, noise vulnerability, strong initial-model dependence. The paper proposes a single objective change rather than a new optimization framework, so the rest of the FWI stack stays the same.</a:t>
                </a:r>
              </a:p>
            </p:txBody>
          </p:sp>
        </p:grpSp>
        <p:grpSp>
          <p:nvGrpSpPr>
            <p:cNvPr id="21" name="Group 20">
              <a:extLst>
                <a:ext uri="{FF2B5EF4-FFF2-40B4-BE49-F238E27FC236}">
                  <a16:creationId xmlns:a16="http://schemas.microsoft.com/office/drawing/2014/main" id="{38899953-7E6A-8138-7672-49FCE4F658BB}"/>
                </a:ext>
              </a:extLst>
            </p:cNvPr>
            <p:cNvGrpSpPr/>
            <p:nvPr/>
          </p:nvGrpSpPr>
          <p:grpSpPr>
            <a:xfrm>
              <a:off x="6245352" y="1280160"/>
              <a:ext cx="5669280" cy="2423160"/>
              <a:chOff x="6245352" y="1280160"/>
              <a:chExt cx="5669280" cy="2423160"/>
            </a:xfrm>
          </p:grpSpPr>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1300"/>
              </a:p>
            </p:txBody>
          </p:sp>
          <p:sp>
            <p:nvSpPr>
              <p:cNvPr id="12" name="TextBox 11"/>
              <p:cNvSpPr txBox="1"/>
              <p:nvPr/>
            </p:nvSpPr>
            <p:spPr>
              <a:xfrm>
                <a:off x="6382512" y="1325880"/>
                <a:ext cx="5394960" cy="292388"/>
              </a:xfrm>
              <a:prstGeom prst="rect">
                <a:avLst/>
              </a:prstGeom>
              <a:noFill/>
            </p:spPr>
            <p:txBody>
              <a:bodyPr wrap="square">
                <a:spAutoFit/>
              </a:bodyPr>
              <a:lstStyle/>
              <a:p>
                <a:pPr algn="l">
                  <a:defRPr sz="1100" b="1" i="0">
                    <a:solidFill>
                      <a:srgbClr val="1A2332"/>
                    </a:solidFill>
                    <a:latin typeface="Calibri"/>
                  </a:defRPr>
                </a:pPr>
                <a:r>
                  <a:rPr sz="1300"/>
                  <a:t>METHOD / ARCHITECTURE</a:t>
                </a:r>
              </a:p>
            </p:txBody>
          </p:sp>
          <p:sp>
            <p:nvSpPr>
              <p:cNvPr id="13" name="TextBox 12"/>
              <p:cNvSpPr txBox="1"/>
              <p:nvPr/>
            </p:nvSpPr>
            <p:spPr>
              <a:xfrm>
                <a:off x="6382512" y="1664208"/>
                <a:ext cx="5394960" cy="1892826"/>
              </a:xfrm>
              <a:prstGeom prst="rect">
                <a:avLst/>
              </a:prstGeom>
              <a:noFill/>
            </p:spPr>
            <p:txBody>
              <a:bodyPr wrap="square">
                <a:spAutoFit/>
              </a:bodyPr>
              <a:lstStyle/>
              <a:p>
                <a:pPr>
                  <a:spcAft>
                    <a:spcPts val="0"/>
                  </a:spcAft>
                  <a:defRPr sz="1100">
                    <a:solidFill>
                      <a:srgbClr val="2C3E50"/>
                    </a:solidFill>
                    <a:latin typeface="Calibri"/>
                  </a:defRPr>
                </a:pPr>
                <a:r>
                  <a:rPr sz="1300"/>
                  <a:t>Replace L2 with the quadratic Wasserstein distance W2. Three implementation pieces matter. (1) Softplus normalisation: raw signed GPR traces oscillate around zero, but optimal transport needs non-negative distributions with equal mass; softplus(b·x) / Σsoftplus turns the trace into a usable distribution. The scale b controls how aggressive the transform is. (2) Sinkhorn entropy regularisation: exact OT is too expensive for repeated FWI evaluations; ε trades transport accuracy for numerical stability. (3) Wrap in multi-scale frequency-domain FWI with L-BFGS over εr and σ, frequencies added in batches (e.g. 15 batches of 4 frequencies, 10 iterations each).</a:t>
                </a:r>
              </a:p>
            </p:txBody>
          </p:sp>
        </p:grpSp>
        <p:grpSp>
          <p:nvGrpSpPr>
            <p:cNvPr id="23" name="Group 22">
              <a:extLst>
                <a:ext uri="{FF2B5EF4-FFF2-40B4-BE49-F238E27FC236}">
                  <a16:creationId xmlns:a16="http://schemas.microsoft.com/office/drawing/2014/main" id="{6879E1BB-CB2A-6441-DF4E-A12B6AED8794}"/>
                </a:ext>
              </a:extLst>
            </p:cNvPr>
            <p:cNvGrpSpPr/>
            <p:nvPr/>
          </p:nvGrpSpPr>
          <p:grpSpPr>
            <a:xfrm>
              <a:off x="274320" y="3840480"/>
              <a:ext cx="5669280" cy="2423160"/>
              <a:chOff x="274320" y="3840480"/>
              <a:chExt cx="5669280" cy="2423160"/>
            </a:xfrm>
          </p:grpSpPr>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a:endParaRPr sz="1300"/>
              </a:p>
            </p:txBody>
          </p:sp>
          <p:sp>
            <p:nvSpPr>
              <p:cNvPr id="15" name="TextBox 14"/>
              <p:cNvSpPr txBox="1"/>
              <p:nvPr/>
            </p:nvSpPr>
            <p:spPr>
              <a:xfrm>
                <a:off x="411480" y="3886200"/>
                <a:ext cx="5394960" cy="292388"/>
              </a:xfrm>
              <a:prstGeom prst="rect">
                <a:avLst/>
              </a:prstGeom>
              <a:noFill/>
            </p:spPr>
            <p:txBody>
              <a:bodyPr wrap="square">
                <a:spAutoFit/>
              </a:bodyPr>
              <a:lstStyle/>
              <a:p>
                <a:pPr algn="l">
                  <a:defRPr sz="1100" b="1" i="0">
                    <a:solidFill>
                      <a:srgbClr val="1A2332"/>
                    </a:solidFill>
                    <a:latin typeface="Calibri"/>
                  </a:defRPr>
                </a:pPr>
                <a:r>
                  <a:rPr sz="1300"/>
                  <a:t>KEY FINDINGS REPORTED</a:t>
                </a:r>
              </a:p>
            </p:txBody>
          </p:sp>
          <p:sp>
            <p:nvSpPr>
              <p:cNvPr id="16" name="TextBox 15"/>
              <p:cNvSpPr txBox="1"/>
              <p:nvPr/>
            </p:nvSpPr>
            <p:spPr>
              <a:xfrm>
                <a:off x="411480" y="4224528"/>
                <a:ext cx="5394960" cy="1292662"/>
              </a:xfrm>
              <a:prstGeom prst="rect">
                <a:avLst/>
              </a:prstGeom>
              <a:noFill/>
            </p:spPr>
            <p:txBody>
              <a:bodyPr wrap="square">
                <a:spAutoFit/>
              </a:bodyPr>
              <a:lstStyle/>
              <a:p>
                <a:pPr>
                  <a:spcAft>
                    <a:spcPts val="0"/>
                  </a:spcAft>
                  <a:defRPr sz="1100">
                    <a:solidFill>
                      <a:srgbClr val="2C3E50"/>
                    </a:solidFill>
                    <a:latin typeface="Calibri"/>
                  </a:defRPr>
                </a:pPr>
                <a:r>
                  <a:rPr sz="1300"/>
                  <a:t>Three numerical examples. W2-FWI depends less on the initial model than L2-FWI. W2-FWI is more robust to additive noise. W2-FWI improves conductivity recovery more strongly than permittivity recovery (the opposite ordering from L2-based work). L2-FWI can generate high-frequency artifacts and obscure targets when the starting model is poor. Adding higher frequencies did not always improve W2 results.</a:t>
                </a:r>
              </a:p>
            </p:txBody>
          </p:sp>
        </p:grpSp>
        <p:grpSp>
          <p:nvGrpSpPr>
            <p:cNvPr id="20" name="Group 19">
              <a:extLst>
                <a:ext uri="{FF2B5EF4-FFF2-40B4-BE49-F238E27FC236}">
                  <a16:creationId xmlns:a16="http://schemas.microsoft.com/office/drawing/2014/main" id="{354E063B-D1AD-CE8D-45E5-6E977D0C646D}"/>
                </a:ext>
              </a:extLst>
            </p:cNvPr>
            <p:cNvGrpSpPr/>
            <p:nvPr/>
          </p:nvGrpSpPr>
          <p:grpSpPr>
            <a:xfrm>
              <a:off x="6245352" y="3840480"/>
              <a:ext cx="5669280" cy="2423160"/>
              <a:chOff x="6245352" y="3840480"/>
              <a:chExt cx="5669280" cy="2423160"/>
            </a:xfrm>
          </p:grpSpPr>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endParaRPr sz="1300"/>
              </a:p>
            </p:txBody>
          </p:sp>
          <p:sp>
            <p:nvSpPr>
              <p:cNvPr id="18" name="TextBox 17"/>
              <p:cNvSpPr txBox="1"/>
              <p:nvPr/>
            </p:nvSpPr>
            <p:spPr>
              <a:xfrm>
                <a:off x="6382512" y="3886200"/>
                <a:ext cx="5394960" cy="292388"/>
              </a:xfrm>
              <a:prstGeom prst="rect">
                <a:avLst/>
              </a:prstGeom>
              <a:noFill/>
            </p:spPr>
            <p:txBody>
              <a:bodyPr wrap="square">
                <a:spAutoFit/>
              </a:bodyPr>
              <a:lstStyle/>
              <a:p>
                <a:pPr algn="l">
                  <a:defRPr sz="1100" b="1" i="0">
                    <a:solidFill>
                      <a:srgbClr val="1A2332"/>
                    </a:solidFill>
                    <a:latin typeface="Calibri"/>
                  </a:defRPr>
                </a:pPr>
                <a:r>
                  <a:rPr sz="1300"/>
                  <a:t>OUR ADAPTATION</a:t>
                </a:r>
              </a:p>
            </p:txBody>
          </p:sp>
          <p:sp>
            <p:nvSpPr>
              <p:cNvPr id="19" name="TextBox 18"/>
              <p:cNvSpPr txBox="1"/>
              <p:nvPr/>
            </p:nvSpPr>
            <p:spPr>
              <a:xfrm>
                <a:off x="6382512" y="4224528"/>
                <a:ext cx="5532120" cy="1892826"/>
              </a:xfrm>
              <a:prstGeom prst="rect">
                <a:avLst/>
              </a:prstGeom>
              <a:noFill/>
            </p:spPr>
            <p:txBody>
              <a:bodyPr wrap="square">
                <a:spAutoFit/>
              </a:bodyPr>
              <a:lstStyle/>
              <a:p>
                <a:pPr>
                  <a:spcAft>
                    <a:spcPts val="0"/>
                  </a:spcAft>
                  <a:defRPr sz="1100">
                    <a:solidFill>
                      <a:srgbClr val="2C3E50"/>
                    </a:solidFill>
                    <a:latin typeface="Calibri"/>
                  </a:defRPr>
                </a:pPr>
                <a:r>
                  <a:rPr sz="1300" dirty="0"/>
                  <a:t>Built: a standalone </a:t>
                </a:r>
                <a:r>
                  <a:rPr sz="1300" dirty="0" err="1"/>
                  <a:t>Softplus</a:t>
                </a:r>
                <a:r>
                  <a:rPr sz="1300" dirty="0"/>
                  <a:t> / Sinkhorn W2 module with unit tests (inversion/</a:t>
                </a:r>
                <a:r>
                  <a:rPr sz="1300" dirty="0" err="1"/>
                  <a:t>trace_wasserstein.py</a:t>
                </a:r>
                <a:r>
                  <a:rPr sz="1300" dirty="0"/>
                  <a:t>). Ran it through two gates before any optimizer integration.</a:t>
                </a:r>
                <a:br>
                  <a:rPr sz="1300" dirty="0"/>
                </a:br>
                <a:r>
                  <a:rPr sz="1300" dirty="0"/>
                  <a:t>Gate 1 (shifted Ricker, paper claim): passed.</a:t>
                </a:r>
                <a:br>
                  <a:rPr sz="1300" dirty="0"/>
                </a:br>
                <a:r>
                  <a:rPr sz="1300" dirty="0"/>
                  <a:t>Gate 2 (rebar landscape): failed. </a:t>
                </a:r>
                <a:r>
                  <a:rPr sz="1300" dirty="0" err="1"/>
                  <a:t>Softplus</a:t>
                </a:r>
                <a:r>
                  <a:rPr sz="1300" dirty="0"/>
                  <a:t> </a:t>
                </a:r>
                <a:r>
                  <a:rPr sz="1300" dirty="0" err="1"/>
                  <a:t>normalisation</a:t>
                </a:r>
                <a:r>
                  <a:rPr sz="1300" dirty="0"/>
                  <a:t> removes the amplitude content radius depends on; W2 margin collapses by four orders of magnitude vs LS.</a:t>
                </a:r>
                <a:br>
                  <a:rPr sz="1300" dirty="0"/>
                </a:br>
                <a:r>
                  <a:rPr sz="1300" dirty="0"/>
                  <a:t>Decision: reject W2 as the final radius objective for this problem. Kept available as a basin diagnostic for future poor-initial-model / field-data scenarios.</a:t>
                </a: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Implicit Multiparameter GPR-FWI (IFWI)</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Sun et al., GJI 2025 — neural implicit representation of the subsurface material model</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paper 5 / IFWI</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9</a:t>
            </a:r>
          </a:p>
        </p:txBody>
      </p:sp>
      <p:grpSp>
        <p:nvGrpSpPr>
          <p:cNvPr id="25" name="Group 24">
            <a:extLst>
              <a:ext uri="{FF2B5EF4-FFF2-40B4-BE49-F238E27FC236}">
                <a16:creationId xmlns:a16="http://schemas.microsoft.com/office/drawing/2014/main" id="{99C57E6B-D356-C62C-4220-C709BC8CEE76}"/>
              </a:ext>
            </a:extLst>
          </p:cNvPr>
          <p:cNvGrpSpPr/>
          <p:nvPr/>
        </p:nvGrpSpPr>
        <p:grpSpPr>
          <a:xfrm>
            <a:off x="274320" y="1280160"/>
            <a:ext cx="11640312" cy="4983480"/>
            <a:chOff x="274320" y="1280160"/>
            <a:chExt cx="11640312" cy="4983480"/>
          </a:xfrm>
        </p:grpSpPr>
        <p:grpSp>
          <p:nvGrpSpPr>
            <p:cNvPr id="23" name="Group 22">
              <a:extLst>
                <a:ext uri="{FF2B5EF4-FFF2-40B4-BE49-F238E27FC236}">
                  <a16:creationId xmlns:a16="http://schemas.microsoft.com/office/drawing/2014/main" id="{8E177A1A-B91F-D028-C69B-751709437FE3}"/>
                </a:ext>
              </a:extLst>
            </p:cNvPr>
            <p:cNvGrpSpPr/>
            <p:nvPr/>
          </p:nvGrpSpPr>
          <p:grpSpPr>
            <a:xfrm>
              <a:off x="274320" y="1280160"/>
              <a:ext cx="5669280" cy="2423160"/>
              <a:chOff x="274320" y="1280160"/>
              <a:chExt cx="5669280" cy="2423160"/>
            </a:xfrm>
          </p:grpSpPr>
          <p:grpSp>
            <p:nvGrpSpPr>
              <p:cNvPr id="22" name="Group 21">
                <a:extLst>
                  <a:ext uri="{FF2B5EF4-FFF2-40B4-BE49-F238E27FC236}">
                    <a16:creationId xmlns:a16="http://schemas.microsoft.com/office/drawing/2014/main" id="{2752B2B6-C1D8-590C-397F-F336B38E7D27}"/>
                  </a:ext>
                </a:extLst>
              </p:cNvPr>
              <p:cNvGrpSpPr/>
              <p:nvPr/>
            </p:nvGrpSpPr>
            <p:grpSpPr>
              <a:xfrm>
                <a:off x="274320" y="1280160"/>
                <a:ext cx="5669280" cy="2423160"/>
                <a:chOff x="274320" y="1280160"/>
                <a:chExt cx="5669280" cy="2423160"/>
              </a:xfrm>
            </p:grpSpPr>
            <p:sp>
              <p:nvSpPr>
                <p:cNvPr id="8" name="Rounded Rectangle 7"/>
                <p:cNvSpPr/>
                <p:nvPr/>
              </p:nvSpPr>
              <p:spPr>
                <a:xfrm>
                  <a:off x="274320" y="1280160"/>
                  <a:ext cx="5669280" cy="24231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411480" y="1325880"/>
                  <a:ext cx="5394960" cy="307777"/>
                </a:xfrm>
                <a:prstGeom prst="rect">
                  <a:avLst/>
                </a:prstGeom>
                <a:noFill/>
              </p:spPr>
              <p:txBody>
                <a:bodyPr wrap="square">
                  <a:spAutoFit/>
                </a:bodyPr>
                <a:lstStyle/>
                <a:p>
                  <a:pPr algn="l">
                    <a:defRPr sz="1100" b="1" i="0">
                      <a:solidFill>
                        <a:srgbClr val="1A2332"/>
                      </a:solidFill>
                      <a:latin typeface="Calibri"/>
                    </a:defRPr>
                  </a:pPr>
                  <a:r>
                    <a:rPr sz="1400"/>
                    <a:t>PROBLEM IT ATTACKS</a:t>
                  </a:r>
                </a:p>
              </p:txBody>
            </p:sp>
          </p:grpSp>
          <p:sp>
            <p:nvSpPr>
              <p:cNvPr id="10" name="TextBox 9"/>
              <p:cNvSpPr txBox="1"/>
              <p:nvPr/>
            </p:nvSpPr>
            <p:spPr>
              <a:xfrm>
                <a:off x="411480" y="1664208"/>
                <a:ext cx="5394960" cy="1384995"/>
              </a:xfrm>
              <a:prstGeom prst="rect">
                <a:avLst/>
              </a:prstGeom>
              <a:noFill/>
            </p:spPr>
            <p:txBody>
              <a:bodyPr wrap="square">
                <a:spAutoFit/>
              </a:bodyPr>
              <a:lstStyle/>
              <a:p>
                <a:pPr>
                  <a:spcAft>
                    <a:spcPts val="0"/>
                  </a:spcAft>
                  <a:defRPr sz="1100">
                    <a:solidFill>
                      <a:srgbClr val="2C3E50"/>
                    </a:solidFill>
                    <a:latin typeface="Calibri"/>
                  </a:defRPr>
                </a:pPr>
                <a:r>
                  <a:rPr sz="1400"/>
                  <a:t>Standard FWI stores material parameters on a dense grid. That makes multiparameter inversion brittle: huge model dimensionality, manual parameter weighting between permittivity and conductivity, strong initial-model dependence, ad-hoc multi-scale schedules. The paper proposes a fundamentally different model representation rather than a new objective.</a:t>
                </a:r>
              </a:p>
            </p:txBody>
          </p:sp>
        </p:grpSp>
        <p:grpSp>
          <p:nvGrpSpPr>
            <p:cNvPr id="21" name="Group 20">
              <a:extLst>
                <a:ext uri="{FF2B5EF4-FFF2-40B4-BE49-F238E27FC236}">
                  <a16:creationId xmlns:a16="http://schemas.microsoft.com/office/drawing/2014/main" id="{6270DC36-A510-9355-803D-88B023978554}"/>
                </a:ext>
              </a:extLst>
            </p:cNvPr>
            <p:cNvGrpSpPr/>
            <p:nvPr/>
          </p:nvGrpSpPr>
          <p:grpSpPr>
            <a:xfrm>
              <a:off x="6245352" y="1280160"/>
              <a:ext cx="5669280" cy="2423160"/>
              <a:chOff x="6245352" y="1280160"/>
              <a:chExt cx="5669280" cy="2423160"/>
            </a:xfrm>
          </p:grpSpPr>
          <p:sp>
            <p:nvSpPr>
              <p:cNvPr id="11" name="Rounded Rectangle 10"/>
              <p:cNvSpPr/>
              <p:nvPr/>
            </p:nvSpPr>
            <p:spPr>
              <a:xfrm>
                <a:off x="6245352" y="1280160"/>
                <a:ext cx="5669280" cy="242316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2" name="TextBox 11"/>
              <p:cNvSpPr txBox="1"/>
              <p:nvPr/>
            </p:nvSpPr>
            <p:spPr>
              <a:xfrm>
                <a:off x="6382512" y="1325880"/>
                <a:ext cx="5394960" cy="307777"/>
              </a:xfrm>
              <a:prstGeom prst="rect">
                <a:avLst/>
              </a:prstGeom>
              <a:noFill/>
            </p:spPr>
            <p:txBody>
              <a:bodyPr wrap="square">
                <a:spAutoFit/>
              </a:bodyPr>
              <a:lstStyle/>
              <a:p>
                <a:pPr algn="l">
                  <a:defRPr sz="1100" b="1" i="0">
                    <a:solidFill>
                      <a:srgbClr val="1A2332"/>
                    </a:solidFill>
                    <a:latin typeface="Calibri"/>
                  </a:defRPr>
                </a:pPr>
                <a:r>
                  <a:rPr sz="1400"/>
                  <a:t>METHOD / ARCHITECTURE</a:t>
                </a:r>
              </a:p>
            </p:txBody>
          </p:sp>
          <p:sp>
            <p:nvSpPr>
              <p:cNvPr id="13" name="TextBox 12"/>
              <p:cNvSpPr txBox="1"/>
              <p:nvPr/>
            </p:nvSpPr>
            <p:spPr>
              <a:xfrm>
                <a:off x="6382512" y="1664208"/>
                <a:ext cx="5532120" cy="2031325"/>
              </a:xfrm>
              <a:prstGeom prst="rect">
                <a:avLst/>
              </a:prstGeom>
              <a:noFill/>
            </p:spPr>
            <p:txBody>
              <a:bodyPr wrap="square">
                <a:spAutoFit/>
              </a:bodyPr>
              <a:lstStyle/>
              <a:p>
                <a:pPr>
                  <a:spcAft>
                    <a:spcPts val="0"/>
                  </a:spcAft>
                  <a:defRPr sz="1100">
                    <a:solidFill>
                      <a:srgbClr val="2C3E50"/>
                    </a:solidFill>
                    <a:latin typeface="Calibri"/>
                  </a:defRPr>
                </a:pPr>
                <a:r>
                  <a:rPr sz="1400" dirty="0"/>
                  <a:t>Implicit FWI. Replace the grid with a small neural network: coordinates (x, z) → </a:t>
                </a:r>
                <a:r>
                  <a:rPr sz="1400" dirty="0" err="1"/>
                  <a:t>N_θ</a:t>
                </a:r>
                <a:r>
                  <a:rPr sz="1400" dirty="0"/>
                  <a:t>(x, z) → (</a:t>
                </a:r>
                <a:r>
                  <a:rPr sz="1400" dirty="0" err="1"/>
                  <a:t>εr</a:t>
                </a:r>
                <a:r>
                  <a:rPr sz="1400" dirty="0"/>
                  <a:t>, </a:t>
                </a:r>
                <a:r>
                  <a:rPr sz="1400" dirty="0" err="1"/>
                  <a:t>σ</a:t>
                </a:r>
                <a:r>
                  <a:rPr sz="1400" dirty="0"/>
                  <a:t>). The forward solver is still Maxwell / FDTD, the loss is still waveform mismatch — only the model parameterization changes. Optimize the network weights with Adam. Architecture details matter: SIREN / sinusoidal activations with a frequency scale </a:t>
                </a:r>
                <a:r>
                  <a:rPr sz="1400" dirty="0" err="1"/>
                  <a:t>ω</a:t>
                </a:r>
                <a:r>
                  <a:rPr sz="1400" dirty="0"/>
                  <a:t>₀ that controls detail sensitivity; too small </a:t>
                </a:r>
                <a:r>
                  <a:rPr sz="1400" dirty="0" err="1"/>
                  <a:t>ω</a:t>
                </a:r>
                <a:r>
                  <a:rPr sz="1400" dirty="0"/>
                  <a:t>₀ misses fine structure, too large </a:t>
                </a:r>
                <a:r>
                  <a:rPr sz="1400" dirty="0" err="1"/>
                  <a:t>ω</a:t>
                </a:r>
                <a:r>
                  <a:rPr sz="1400" dirty="0"/>
                  <a:t>₀ produces high-frequency noise. Dropout helps in some configurations. The paper also describes an RNN-style differentiable FDTD framing so AD gives gradients consistent with adjoint-state methods.</a:t>
                </a:r>
              </a:p>
            </p:txBody>
          </p:sp>
        </p:grpSp>
        <p:grpSp>
          <p:nvGrpSpPr>
            <p:cNvPr id="24" name="Group 23">
              <a:extLst>
                <a:ext uri="{FF2B5EF4-FFF2-40B4-BE49-F238E27FC236}">
                  <a16:creationId xmlns:a16="http://schemas.microsoft.com/office/drawing/2014/main" id="{C5557EB7-E777-66B0-3A04-CCD4AEB5552F}"/>
                </a:ext>
              </a:extLst>
            </p:cNvPr>
            <p:cNvGrpSpPr/>
            <p:nvPr/>
          </p:nvGrpSpPr>
          <p:grpSpPr>
            <a:xfrm>
              <a:off x="274320" y="3840480"/>
              <a:ext cx="5669280" cy="2423160"/>
              <a:chOff x="274320" y="3840480"/>
              <a:chExt cx="5669280" cy="2423160"/>
            </a:xfrm>
          </p:grpSpPr>
          <p:sp>
            <p:nvSpPr>
              <p:cNvPr id="14" name="Rounded Rectangle 13"/>
              <p:cNvSpPr/>
              <p:nvPr/>
            </p:nvSpPr>
            <p:spPr>
              <a:xfrm>
                <a:off x="274320" y="3840480"/>
                <a:ext cx="5669280" cy="2423160"/>
              </a:xfrm>
              <a:prstGeom prst="roundRect">
                <a:avLst/>
              </a:prstGeom>
              <a:solidFill>
                <a:srgbClr val="F4F6F8"/>
              </a:solidFill>
              <a:ln w="12700">
                <a:solidFill>
                  <a:srgbClr val="007C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5" name="TextBox 14"/>
              <p:cNvSpPr txBox="1"/>
              <p:nvPr/>
            </p:nvSpPr>
            <p:spPr>
              <a:xfrm>
                <a:off x="411480" y="3886200"/>
                <a:ext cx="5394960" cy="307777"/>
              </a:xfrm>
              <a:prstGeom prst="rect">
                <a:avLst/>
              </a:prstGeom>
              <a:noFill/>
            </p:spPr>
            <p:txBody>
              <a:bodyPr wrap="square">
                <a:spAutoFit/>
              </a:bodyPr>
              <a:lstStyle/>
              <a:p>
                <a:pPr algn="l">
                  <a:defRPr sz="1100" b="1" i="0">
                    <a:solidFill>
                      <a:srgbClr val="1A2332"/>
                    </a:solidFill>
                    <a:latin typeface="Calibri"/>
                  </a:defRPr>
                </a:pPr>
                <a:r>
                  <a:rPr sz="1400"/>
                  <a:t>KEY FINDINGS REPORTED</a:t>
                </a:r>
              </a:p>
            </p:txBody>
          </p:sp>
          <p:sp>
            <p:nvSpPr>
              <p:cNvPr id="16" name="TextBox 15"/>
              <p:cNvSpPr txBox="1"/>
              <p:nvPr/>
            </p:nvSpPr>
            <p:spPr>
              <a:xfrm>
                <a:off x="411480" y="4224528"/>
                <a:ext cx="5394960" cy="1815882"/>
              </a:xfrm>
              <a:prstGeom prst="rect">
                <a:avLst/>
              </a:prstGeom>
              <a:noFill/>
            </p:spPr>
            <p:txBody>
              <a:bodyPr wrap="square">
                <a:spAutoFit/>
              </a:bodyPr>
              <a:lstStyle/>
              <a:p>
                <a:pPr>
                  <a:spcAft>
                    <a:spcPts val="0"/>
                  </a:spcAft>
                  <a:defRPr sz="1100">
                    <a:solidFill>
                      <a:srgbClr val="2C3E50"/>
                    </a:solidFill>
                    <a:latin typeface="Calibri"/>
                  </a:defRPr>
                </a:pPr>
                <a:r>
                  <a:rPr sz="1400"/>
                  <a:t>The 'frequency principle' of neural networks acts as an automatic multiscale prior: broad/low-frequency structure is learned before fine detail. IFWI reconstructed useful subsurface structure from poorer initial models than standard FWI. Permittivity and conductivity inverted simultaneously without the manual parameter weighting that classical multiparameter FWI relies on. Network architecture (depth, width, ω₀, dropout) materially affects results — these are tuning choices, not free parameters.</a:t>
                </a:r>
              </a:p>
            </p:txBody>
          </p:sp>
        </p:grpSp>
        <p:grpSp>
          <p:nvGrpSpPr>
            <p:cNvPr id="20" name="Group 19">
              <a:extLst>
                <a:ext uri="{FF2B5EF4-FFF2-40B4-BE49-F238E27FC236}">
                  <a16:creationId xmlns:a16="http://schemas.microsoft.com/office/drawing/2014/main" id="{DDC6AA13-E7DD-8C36-7C63-93CD736C6F94}"/>
                </a:ext>
              </a:extLst>
            </p:cNvPr>
            <p:cNvGrpSpPr/>
            <p:nvPr/>
          </p:nvGrpSpPr>
          <p:grpSpPr>
            <a:xfrm>
              <a:off x="6245352" y="3840480"/>
              <a:ext cx="5669280" cy="2423160"/>
              <a:chOff x="6245352" y="3840480"/>
              <a:chExt cx="5669280" cy="2423160"/>
            </a:xfrm>
          </p:grpSpPr>
          <p:sp>
            <p:nvSpPr>
              <p:cNvPr id="17" name="Rounded Rectangle 16"/>
              <p:cNvSpPr/>
              <p:nvPr/>
            </p:nvSpPr>
            <p:spPr>
              <a:xfrm>
                <a:off x="6245352" y="3840480"/>
                <a:ext cx="5669280" cy="2423160"/>
              </a:xfrm>
              <a:prstGeom prst="roundRect">
                <a:avLst/>
              </a:prstGeom>
              <a:solidFill>
                <a:srgbClr val="E6F5EC"/>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8" name="TextBox 17"/>
              <p:cNvSpPr txBox="1"/>
              <p:nvPr/>
            </p:nvSpPr>
            <p:spPr>
              <a:xfrm>
                <a:off x="6382512" y="3886200"/>
                <a:ext cx="5394960" cy="307777"/>
              </a:xfrm>
              <a:prstGeom prst="rect">
                <a:avLst/>
              </a:prstGeom>
              <a:noFill/>
            </p:spPr>
            <p:txBody>
              <a:bodyPr wrap="square">
                <a:spAutoFit/>
              </a:bodyPr>
              <a:lstStyle/>
              <a:p>
                <a:pPr algn="l">
                  <a:defRPr sz="1100" b="1" i="0">
                    <a:solidFill>
                      <a:srgbClr val="1A2332"/>
                    </a:solidFill>
                    <a:latin typeface="Calibri"/>
                  </a:defRPr>
                </a:pPr>
                <a:r>
                  <a:rPr sz="1400"/>
                  <a:t>OUR ADAPTATION</a:t>
                </a:r>
              </a:p>
            </p:txBody>
          </p:sp>
          <p:sp>
            <p:nvSpPr>
              <p:cNvPr id="19" name="TextBox 18"/>
              <p:cNvSpPr txBox="1"/>
              <p:nvPr/>
            </p:nvSpPr>
            <p:spPr>
              <a:xfrm>
                <a:off x="6382512" y="4224528"/>
                <a:ext cx="5394960" cy="2031325"/>
              </a:xfrm>
              <a:prstGeom prst="rect">
                <a:avLst/>
              </a:prstGeom>
              <a:noFill/>
            </p:spPr>
            <p:txBody>
              <a:bodyPr wrap="square">
                <a:spAutoFit/>
              </a:bodyPr>
              <a:lstStyle/>
              <a:p>
                <a:pPr>
                  <a:spcAft>
                    <a:spcPts val="0"/>
                  </a:spcAft>
                  <a:defRPr sz="1100">
                    <a:solidFill>
                      <a:srgbClr val="2C3E50"/>
                    </a:solidFill>
                    <a:latin typeface="Calibri"/>
                  </a:defRPr>
                </a:pPr>
                <a:r>
                  <a:rPr sz="1400"/>
                  <a:t>Deferred. Two concrete reasons: (1) our parameter vector is [x, z, radius] — three numbers; an implicit field is overkill. (2) a flexible neural residual would risk absorbing radius bias into a 'background correction' instead of revealing it, which would make the radius estimate less meaningful, not more. The frequency-principle lesson is already implicit in our staged pipeline (basin first, detail later). Reserved for multi-rebar or field-data stages where explicit nuisance parameters become insufficient. See docs/experiments/29_ifwi_feasibility.md for the design of a constrained future prototype.</a:t>
                </a: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From papers to experiments — the mapping</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Which experiments tested each paper's claim, and the verdict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roadmap</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10</a:t>
            </a:r>
          </a:p>
        </p:txBody>
      </p:sp>
      <p:graphicFrame>
        <p:nvGraphicFramePr>
          <p:cNvPr id="8" name="Table 7"/>
          <p:cNvGraphicFramePr>
            <a:graphicFrameLocks noGrp="1"/>
          </p:cNvGraphicFramePr>
          <p:nvPr>
            <p:extLst>
              <p:ext uri="{D42A27DB-BD31-4B8C-83A1-F6EECF244321}">
                <p14:modId xmlns:p14="http://schemas.microsoft.com/office/powerpoint/2010/main" val="3697530117"/>
              </p:ext>
            </p:extLst>
          </p:nvPr>
        </p:nvGraphicFramePr>
        <p:xfrm>
          <a:off x="365760" y="1280160"/>
          <a:ext cx="11430000" cy="4654296"/>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411480">
                <a:tc>
                  <a:txBody>
                    <a:bodyPr/>
                    <a:lstStyle/>
                    <a:p>
                      <a:pPr algn="l"/>
                      <a:r>
                        <a:rPr sz="1800" b="1">
                          <a:solidFill>
                            <a:srgbClr val="FFFFFF"/>
                          </a:solidFill>
                          <a:latin typeface="Calibri"/>
                        </a:rPr>
                        <a:t>Source</a:t>
                      </a:r>
                    </a:p>
                  </a:txBody>
                  <a:tcPr marR="45720">
                    <a:solidFill>
                      <a:srgbClr val="1A2332"/>
                    </a:solidFill>
                  </a:tcPr>
                </a:tc>
                <a:tc>
                  <a:txBody>
                    <a:bodyPr/>
                    <a:lstStyle/>
                    <a:p>
                      <a:pPr algn="l"/>
                      <a:r>
                        <a:rPr sz="1800" b="1">
                          <a:solidFill>
                            <a:srgbClr val="FFFFFF"/>
                          </a:solidFill>
                          <a:latin typeface="Calibri"/>
                        </a:rPr>
                        <a:t>Hypothesis tested</a:t>
                      </a:r>
                    </a:p>
                  </a:txBody>
                  <a:tcPr marR="45720">
                    <a:solidFill>
                      <a:srgbClr val="1A2332"/>
                    </a:solidFill>
                  </a:tcPr>
                </a:tc>
                <a:tc>
                  <a:txBody>
                    <a:bodyPr/>
                    <a:lstStyle/>
                    <a:p>
                      <a:pPr algn="l"/>
                      <a:r>
                        <a:rPr sz="1800" b="1">
                          <a:solidFill>
                            <a:srgbClr val="FFFFFF"/>
                          </a:solidFill>
                          <a:latin typeface="Calibri"/>
                        </a:rPr>
                        <a:t>Experiments</a:t>
                      </a:r>
                    </a:p>
                  </a:txBody>
                  <a:tcPr marR="45720">
                    <a:solidFill>
                      <a:srgbClr val="1A2332"/>
                    </a:solidFill>
                  </a:tcPr>
                </a:tc>
                <a:tc>
                  <a:txBody>
                    <a:bodyPr/>
                    <a:lstStyle/>
                    <a:p>
                      <a:pPr algn="l"/>
                      <a:r>
                        <a:rPr sz="1800" b="1">
                          <a:solidFill>
                            <a:srgbClr val="FFFFFF"/>
                          </a:solidFill>
                          <a:latin typeface="Calibri"/>
                        </a:rPr>
                        <a:t>Gate result</a:t>
                      </a:r>
                    </a:p>
                  </a:txBody>
                  <a:tcPr marR="45720">
                    <a:solidFill>
                      <a:srgbClr val="1A2332"/>
                    </a:solidFill>
                  </a:tcPr>
                </a:tc>
                <a:tc>
                  <a:txBody>
                    <a:bodyPr/>
                    <a:lstStyle/>
                    <a:p>
                      <a:pPr algn="l"/>
                      <a:r>
                        <a:rPr sz="1800" b="1">
                          <a:solidFill>
                            <a:srgbClr val="FFFFFF"/>
                          </a:solidFill>
                          <a:latin typeface="Calibri"/>
                        </a:rPr>
                        <a:t>Verdict</a:t>
                      </a:r>
                    </a:p>
                  </a:txBody>
                  <a:tcPr marR="45720">
                    <a:solidFill>
                      <a:srgbClr val="1A2332"/>
                    </a:solidFill>
                  </a:tcPr>
                </a:tc>
                <a:extLst>
                  <a:ext uri="{0D108BD9-81ED-4DB2-BD59-A6C34878D82A}">
                    <a16:rowId xmlns:a16="http://schemas.microsoft.com/office/drawing/2014/main" val="10000"/>
                  </a:ext>
                </a:extLst>
              </a:tr>
              <a:tr h="530352">
                <a:tc>
                  <a:txBody>
                    <a:bodyPr/>
                    <a:lstStyle/>
                    <a:p>
                      <a:pPr algn="l"/>
                      <a:r>
                        <a:rPr sz="1200" b="1">
                          <a:solidFill>
                            <a:srgbClr val="1A2332"/>
                          </a:solidFill>
                          <a:latin typeface="Calibri"/>
                        </a:rPr>
                        <a:t>OT-LS</a:t>
                      </a:r>
                    </a:p>
                  </a:txBody>
                  <a:tcPr marR="45720" marT="36576" marB="36576">
                    <a:solidFill>
                      <a:srgbClr val="F4F6F8"/>
                    </a:solidFill>
                  </a:tcPr>
                </a:tc>
                <a:tc>
                  <a:txBody>
                    <a:bodyPr/>
                    <a:lstStyle/>
                    <a:p>
                      <a:pPr algn="l"/>
                      <a:r>
                        <a:rPr sz="1200">
                          <a:solidFill>
                            <a:srgbClr val="2C3E50"/>
                          </a:solidFill>
                          <a:latin typeface="Calibri"/>
                        </a:rPr>
                        <a:t>Cycle skipping drives radius bias</a:t>
                      </a:r>
                    </a:p>
                  </a:txBody>
                  <a:tcPr marR="45720" marT="36576" marB="36576">
                    <a:solidFill>
                      <a:srgbClr val="F4F6F8"/>
                    </a:solidFill>
                  </a:tcPr>
                </a:tc>
                <a:tc>
                  <a:txBody>
                    <a:bodyPr/>
                    <a:lstStyle/>
                    <a:p>
                      <a:pPr algn="l"/>
                      <a:r>
                        <a:rPr sz="1200">
                          <a:solidFill>
                            <a:srgbClr val="2C3E50"/>
                          </a:solidFill>
                          <a:latin typeface="Calibri"/>
                        </a:rPr>
                        <a:t>024–027</a:t>
                      </a:r>
                    </a:p>
                  </a:txBody>
                  <a:tcPr marR="45720" marT="36576" marB="36576">
                    <a:solidFill>
                      <a:srgbClr val="F4F6F8"/>
                    </a:solidFill>
                  </a:tcPr>
                </a:tc>
                <a:tc>
                  <a:txBody>
                    <a:bodyPr/>
                    <a:lstStyle/>
                    <a:p>
                      <a:pPr algn="l"/>
                      <a:r>
                        <a:rPr sz="1200">
                          <a:solidFill>
                            <a:srgbClr val="2C3E50"/>
                          </a:solidFill>
                          <a:latin typeface="Calibri"/>
                        </a:rPr>
                        <a:t>NRCCC = 1.0 for every candidate, including the wrong-radius one</a:t>
                      </a:r>
                    </a:p>
                  </a:txBody>
                  <a:tcPr marR="45720" marT="36576" marB="36576">
                    <a:solidFill>
                      <a:srgbClr val="F4F6F8"/>
                    </a:solidFill>
                  </a:tcPr>
                </a:tc>
                <a:tc>
                  <a:txBody>
                    <a:bodyPr/>
                    <a:lstStyle/>
                    <a:p>
                      <a:pPr algn="l"/>
                      <a:r>
                        <a:rPr sz="1200" b="1">
                          <a:solidFill>
                            <a:srgbClr val="C0392B"/>
                          </a:solidFill>
                          <a:latin typeface="Calibri"/>
                        </a:rPr>
                        <a:t>ruled out for this problem; diagnostic kept</a:t>
                      </a:r>
                    </a:p>
                  </a:txBody>
                  <a:tcPr marR="45720" marT="36576" marB="36576">
                    <a:solidFill>
                      <a:srgbClr val="F4F6F8"/>
                    </a:solidFill>
                  </a:tcPr>
                </a:tc>
                <a:extLst>
                  <a:ext uri="{0D108BD9-81ED-4DB2-BD59-A6C34878D82A}">
                    <a16:rowId xmlns:a16="http://schemas.microsoft.com/office/drawing/2014/main" val="10001"/>
                  </a:ext>
                </a:extLst>
              </a:tr>
              <a:tr h="530352">
                <a:tc>
                  <a:txBody>
                    <a:bodyPr/>
                    <a:lstStyle/>
                    <a:p>
                      <a:pPr algn="l"/>
                      <a:r>
                        <a:rPr sz="1200" b="1">
                          <a:solidFill>
                            <a:srgbClr val="1A2332"/>
                          </a:solidFill>
                          <a:latin typeface="Calibri"/>
                        </a:rPr>
                        <a:t>PEBDD</a:t>
                      </a:r>
                    </a:p>
                  </a:txBody>
                  <a:tcPr marR="45720" marT="36576" marB="36576">
                    <a:solidFill>
                      <a:srgbClr val="FFFFFF"/>
                    </a:solidFill>
                  </a:tcPr>
                </a:tc>
                <a:tc>
                  <a:txBody>
                    <a:bodyPr/>
                    <a:lstStyle/>
                    <a:p>
                      <a:pPr algn="l"/>
                      <a:r>
                        <a:rPr sz="1200">
                          <a:solidFill>
                            <a:srgbClr val="2C3E50"/>
                          </a:solidFill>
                          <a:latin typeface="Calibri"/>
                        </a:rPr>
                        <a:t>Bandwidth scheduling fixes the radius bias</a:t>
                      </a:r>
                    </a:p>
                  </a:txBody>
                  <a:tcPr marR="45720" marT="36576" marB="36576">
                    <a:solidFill>
                      <a:srgbClr val="FFFFFF"/>
                    </a:solidFill>
                  </a:tcPr>
                </a:tc>
                <a:tc>
                  <a:txBody>
                    <a:bodyPr/>
                    <a:lstStyle/>
                    <a:p>
                      <a:pPr algn="l"/>
                      <a:r>
                        <a:rPr sz="1200">
                          <a:solidFill>
                            <a:srgbClr val="2C3E50"/>
                          </a:solidFill>
                          <a:latin typeface="Calibri"/>
                        </a:rPr>
                        <a:t>028–037, 043–045</a:t>
                      </a:r>
                    </a:p>
                  </a:txBody>
                  <a:tcPr marR="45720" marT="36576" marB="36576">
                    <a:solidFill>
                      <a:srgbClr val="FFFFFF"/>
                    </a:solidFill>
                  </a:tcPr>
                </a:tc>
                <a:tc>
                  <a:txBody>
                    <a:bodyPr/>
                    <a:lstStyle/>
                    <a:p>
                      <a:pPr algn="l"/>
                      <a:r>
                        <a:rPr sz="1200">
                          <a:solidFill>
                            <a:srgbClr val="2C3E50"/>
                          </a:solidFill>
                          <a:latin typeface="Calibri"/>
                        </a:rPr>
                        <a:t>Powell stops in the high-radius basin at every stage; polish stays the radius selector</a:t>
                      </a:r>
                    </a:p>
                  </a:txBody>
                  <a:tcPr marR="45720" marT="36576" marB="36576">
                    <a:solidFill>
                      <a:srgbClr val="FFFFFF"/>
                    </a:solidFill>
                  </a:tcPr>
                </a:tc>
                <a:tc>
                  <a:txBody>
                    <a:bodyPr/>
                    <a:lstStyle/>
                    <a:p>
                      <a:pPr algn="l"/>
                      <a:r>
                        <a:rPr sz="1200" b="1">
                          <a:solidFill>
                            <a:srgbClr val="E8913A"/>
                          </a:solidFill>
                          <a:latin typeface="Calibri"/>
                        </a:rPr>
                        <a:t>kept as seed builder; spectrum-design tool added</a:t>
                      </a:r>
                    </a:p>
                  </a:txBody>
                  <a:tcPr marR="45720" marT="36576" marB="36576">
                    <a:solidFill>
                      <a:srgbClr val="FFFFFF"/>
                    </a:solidFill>
                  </a:tcPr>
                </a:tc>
                <a:extLst>
                  <a:ext uri="{0D108BD9-81ED-4DB2-BD59-A6C34878D82A}">
                    <a16:rowId xmlns:a16="http://schemas.microsoft.com/office/drawing/2014/main" val="10002"/>
                  </a:ext>
                </a:extLst>
              </a:tr>
              <a:tr h="530352">
                <a:tc>
                  <a:txBody>
                    <a:bodyPr/>
                    <a:lstStyle/>
                    <a:p>
                      <a:pPr algn="l"/>
                      <a:r>
                        <a:rPr sz="1200" b="1">
                          <a:solidFill>
                            <a:srgbClr val="1A2332"/>
                          </a:solidFill>
                          <a:latin typeface="Calibri"/>
                        </a:rPr>
                        <a:t>WRI</a:t>
                      </a:r>
                    </a:p>
                  </a:txBody>
                  <a:tcPr marR="45720" marT="36576" marB="36576">
                    <a:solidFill>
                      <a:srgbClr val="F4F6F8"/>
                    </a:solidFill>
                  </a:tcPr>
                </a:tc>
                <a:tc>
                  <a:txBody>
                    <a:bodyPr/>
                    <a:lstStyle/>
                    <a:p>
                      <a:pPr algn="l"/>
                      <a:r>
                        <a:rPr sz="1200">
                          <a:solidFill>
                            <a:srgbClr val="2C3E50"/>
                          </a:solidFill>
                          <a:latin typeface="Calibri"/>
                        </a:rPr>
                        <a:t>Cumulative-frequency / weighted multi-frequency helps radius</a:t>
                      </a:r>
                    </a:p>
                  </a:txBody>
                  <a:tcPr marR="45720" marT="36576" marB="36576">
                    <a:solidFill>
                      <a:srgbClr val="F4F6F8"/>
                    </a:solidFill>
                  </a:tcPr>
                </a:tc>
                <a:tc>
                  <a:txBody>
                    <a:bodyPr/>
                    <a:lstStyle/>
                    <a:p>
                      <a:pPr algn="l"/>
                      <a:r>
                        <a:rPr sz="1200">
                          <a:solidFill>
                            <a:srgbClr val="2C3E50"/>
                          </a:solidFill>
                          <a:latin typeface="Calibri"/>
                        </a:rPr>
                        <a:t>038–041, 046–049</a:t>
                      </a:r>
                    </a:p>
                  </a:txBody>
                  <a:tcPr marR="45720" marT="36576" marB="36576">
                    <a:solidFill>
                      <a:srgbClr val="F4F6F8"/>
                    </a:solidFill>
                  </a:tcPr>
                </a:tc>
                <a:tc>
                  <a:txBody>
                    <a:bodyPr/>
                    <a:lstStyle/>
                    <a:p>
                      <a:pPr algn="l"/>
                      <a:r>
                        <a:rPr sz="1200">
                          <a:solidFill>
                            <a:srgbClr val="2C3E50"/>
                          </a:solidFill>
                          <a:latin typeface="Calibri"/>
                        </a:rPr>
                        <a:t>1.0 GHz weak; unweighted averaging dilutes margin; carry_low_25 best compromise</a:t>
                      </a:r>
                    </a:p>
                  </a:txBody>
                  <a:tcPr marR="45720" marT="36576" marB="36576">
                    <a:solidFill>
                      <a:srgbClr val="F4F6F8"/>
                    </a:solidFill>
                  </a:tcPr>
                </a:tc>
                <a:tc>
                  <a:txBody>
                    <a:bodyPr/>
                    <a:lstStyle/>
                    <a:p>
                      <a:pPr algn="l"/>
                      <a:r>
                        <a:rPr sz="1200" b="1">
                          <a:solidFill>
                            <a:srgbClr val="E8913A"/>
                          </a:solidFill>
                          <a:latin typeface="Calibri"/>
                        </a:rPr>
                        <a:t>kept as time-domain weighted LS; WRI solver deferred</a:t>
                      </a:r>
                    </a:p>
                  </a:txBody>
                  <a:tcPr marR="45720" marT="36576" marB="36576">
                    <a:solidFill>
                      <a:srgbClr val="F4F6F8"/>
                    </a:solidFill>
                  </a:tcPr>
                </a:tc>
                <a:extLst>
                  <a:ext uri="{0D108BD9-81ED-4DB2-BD59-A6C34878D82A}">
                    <a16:rowId xmlns:a16="http://schemas.microsoft.com/office/drawing/2014/main" val="10003"/>
                  </a:ext>
                </a:extLst>
              </a:tr>
              <a:tr h="530352">
                <a:tc>
                  <a:txBody>
                    <a:bodyPr/>
                    <a:lstStyle/>
                    <a:p>
                      <a:pPr algn="l"/>
                      <a:r>
                        <a:rPr sz="1200" b="1">
                          <a:solidFill>
                            <a:srgbClr val="1A2332"/>
                          </a:solidFill>
                          <a:latin typeface="Calibri"/>
                        </a:rPr>
                        <a:t>W2</a:t>
                      </a:r>
                    </a:p>
                  </a:txBody>
                  <a:tcPr marR="45720" marT="36576" marB="36576">
                    <a:solidFill>
                      <a:srgbClr val="FFFFFF"/>
                    </a:solidFill>
                  </a:tcPr>
                </a:tc>
                <a:tc>
                  <a:txBody>
                    <a:bodyPr/>
                    <a:lstStyle/>
                    <a:p>
                      <a:pPr algn="l"/>
                      <a:r>
                        <a:rPr sz="1200">
                          <a:solidFill>
                            <a:srgbClr val="2C3E50"/>
                          </a:solidFill>
                          <a:latin typeface="Calibri"/>
                        </a:rPr>
                        <a:t>Softplus / Sinkhorn beats LS for radius selection</a:t>
                      </a:r>
                    </a:p>
                  </a:txBody>
                  <a:tcPr marR="45720" marT="36576" marB="36576">
                    <a:solidFill>
                      <a:srgbClr val="FFFFFF"/>
                    </a:solidFill>
                  </a:tcPr>
                </a:tc>
                <a:tc>
                  <a:txBody>
                    <a:bodyPr/>
                    <a:lstStyle/>
                    <a:p>
                      <a:pPr algn="l"/>
                      <a:r>
                        <a:rPr sz="1200">
                          <a:solidFill>
                            <a:srgbClr val="2C3E50"/>
                          </a:solidFill>
                          <a:latin typeface="Calibri"/>
                        </a:rPr>
                        <a:t>048, 050, 051</a:t>
                      </a:r>
                    </a:p>
                  </a:txBody>
                  <a:tcPr marR="45720" marT="36576" marB="36576">
                    <a:solidFill>
                      <a:srgbClr val="FFFFFF"/>
                    </a:solidFill>
                  </a:tcPr>
                </a:tc>
                <a:tc>
                  <a:txBody>
                    <a:bodyPr/>
                    <a:lstStyle/>
                    <a:p>
                      <a:pPr algn="l"/>
                      <a:r>
                        <a:rPr sz="1200">
                          <a:solidFill>
                            <a:srgbClr val="2C3E50"/>
                          </a:solidFill>
                          <a:latin typeface="Calibri"/>
                        </a:rPr>
                        <a:t>Shift convexity ✓ (gate 1); rebar margin collapses ×10⁴ (gate 2)</a:t>
                      </a:r>
                    </a:p>
                  </a:txBody>
                  <a:tcPr marR="45720" marT="36576" marB="36576">
                    <a:solidFill>
                      <a:srgbClr val="FFFFFF"/>
                    </a:solidFill>
                  </a:tcPr>
                </a:tc>
                <a:tc>
                  <a:txBody>
                    <a:bodyPr/>
                    <a:lstStyle/>
                    <a:p>
                      <a:pPr algn="l"/>
                      <a:r>
                        <a:rPr sz="1200" b="1">
                          <a:solidFill>
                            <a:srgbClr val="C0392B"/>
                          </a:solidFill>
                          <a:latin typeface="Calibri"/>
                        </a:rPr>
                        <a:t>rejected as radius objective; module kept as diagnostic</a:t>
                      </a:r>
                    </a:p>
                  </a:txBody>
                  <a:tcPr marR="45720" marT="36576" marB="36576">
                    <a:solidFill>
                      <a:srgbClr val="FFFFFF"/>
                    </a:solidFill>
                  </a:tcPr>
                </a:tc>
                <a:extLst>
                  <a:ext uri="{0D108BD9-81ED-4DB2-BD59-A6C34878D82A}">
                    <a16:rowId xmlns:a16="http://schemas.microsoft.com/office/drawing/2014/main" val="10004"/>
                  </a:ext>
                </a:extLst>
              </a:tr>
              <a:tr h="530352">
                <a:tc>
                  <a:txBody>
                    <a:bodyPr/>
                    <a:lstStyle/>
                    <a:p>
                      <a:pPr algn="l"/>
                      <a:r>
                        <a:rPr sz="1200" b="1">
                          <a:solidFill>
                            <a:srgbClr val="1A2332"/>
                          </a:solidFill>
                          <a:latin typeface="Calibri"/>
                        </a:rPr>
                        <a:t>PEBDD risk</a:t>
                      </a:r>
                    </a:p>
                  </a:txBody>
                  <a:tcPr marR="45720" marT="36576" marB="36576">
                    <a:solidFill>
                      <a:srgbClr val="F4F6F8"/>
                    </a:solidFill>
                  </a:tcPr>
                </a:tc>
                <a:tc>
                  <a:txBody>
                    <a:bodyPr/>
                    <a:lstStyle/>
                    <a:p>
                      <a:pPr algn="l"/>
                      <a:r>
                        <a:rPr sz="1200">
                          <a:solidFill>
                            <a:srgbClr val="2C3E50"/>
                          </a:solidFill>
                          <a:latin typeface="Calibri"/>
                        </a:rPr>
                        <a:t>Source-wavelet mismatch (field-data flag) shifts radius</a:t>
                      </a:r>
                    </a:p>
                  </a:txBody>
                  <a:tcPr marR="45720" marT="36576" marB="36576">
                    <a:solidFill>
                      <a:srgbClr val="F4F6F8"/>
                    </a:solidFill>
                  </a:tcPr>
                </a:tc>
                <a:tc>
                  <a:txBody>
                    <a:bodyPr/>
                    <a:lstStyle/>
                    <a:p>
                      <a:pPr algn="l"/>
                      <a:r>
                        <a:rPr sz="1200">
                          <a:solidFill>
                            <a:srgbClr val="2C3E50"/>
                          </a:solidFill>
                          <a:latin typeface="Calibri"/>
                        </a:rPr>
                        <a:t>052–055</a:t>
                      </a:r>
                    </a:p>
                  </a:txBody>
                  <a:tcPr marR="45720" marT="36576" marB="36576">
                    <a:solidFill>
                      <a:srgbClr val="F4F6F8"/>
                    </a:solidFill>
                  </a:tcPr>
                </a:tc>
                <a:tc>
                  <a:txBody>
                    <a:bodyPr/>
                    <a:lstStyle/>
                    <a:p>
                      <a:pPr algn="l"/>
                      <a:r>
                        <a:rPr sz="1200">
                          <a:solidFill>
                            <a:srgbClr val="2C3E50"/>
                          </a:solidFill>
                          <a:latin typeface="Calibri"/>
                        </a:rPr>
                        <a:t>Raw mismatch pegs r to grid bound; structured source profile recovers truth</a:t>
                      </a:r>
                    </a:p>
                  </a:txBody>
                  <a:tcPr marR="45720" marT="36576" marB="36576">
                    <a:solidFill>
                      <a:srgbClr val="F4F6F8"/>
                    </a:solidFill>
                  </a:tcPr>
                </a:tc>
                <a:tc>
                  <a:txBody>
                    <a:bodyPr/>
                    <a:lstStyle/>
                    <a:p>
                      <a:pPr algn="l"/>
                      <a:r>
                        <a:rPr sz="1200" b="1">
                          <a:solidFill>
                            <a:srgbClr val="27AE60"/>
                          </a:solidFill>
                          <a:latin typeface="Calibri"/>
                        </a:rPr>
                        <a:t>amplitude + time + freq profile fixes all tested cases</a:t>
                      </a:r>
                    </a:p>
                  </a:txBody>
                  <a:tcPr marR="45720" marT="36576" marB="36576">
                    <a:solidFill>
                      <a:srgbClr val="F4F6F8"/>
                    </a:solidFill>
                  </a:tcPr>
                </a:tc>
                <a:extLst>
                  <a:ext uri="{0D108BD9-81ED-4DB2-BD59-A6C34878D82A}">
                    <a16:rowId xmlns:a16="http://schemas.microsoft.com/office/drawing/2014/main" val="10005"/>
                  </a:ext>
                </a:extLst>
              </a:tr>
              <a:tr h="530352">
                <a:tc>
                  <a:txBody>
                    <a:bodyPr/>
                    <a:lstStyle/>
                    <a:p>
                      <a:pPr algn="l"/>
                      <a:r>
                        <a:rPr sz="1200" b="1">
                          <a:solidFill>
                            <a:srgbClr val="1A2332"/>
                          </a:solidFill>
                          <a:latin typeface="Calibri"/>
                        </a:rPr>
                        <a:t>(geometry)</a:t>
                      </a:r>
                    </a:p>
                  </a:txBody>
                  <a:tcPr marR="45720" marT="36576" marB="36576">
                    <a:solidFill>
                      <a:srgbClr val="FFFFFF"/>
                    </a:solidFill>
                  </a:tcPr>
                </a:tc>
                <a:tc>
                  <a:txBody>
                    <a:bodyPr/>
                    <a:lstStyle/>
                    <a:p>
                      <a:pPr algn="l"/>
                      <a:r>
                        <a:rPr sz="1200">
                          <a:solidFill>
                            <a:srgbClr val="2C3E50"/>
                          </a:solidFill>
                          <a:latin typeface="Calibri"/>
                        </a:rPr>
                        <a:t>Material parameters can hide a wrong radius</a:t>
                      </a:r>
                    </a:p>
                  </a:txBody>
                  <a:tcPr marR="45720" marT="36576" marB="36576">
                    <a:solidFill>
                      <a:srgbClr val="FFFFFF"/>
                    </a:solidFill>
                  </a:tcPr>
                </a:tc>
                <a:tc>
                  <a:txBody>
                    <a:bodyPr/>
                    <a:lstStyle/>
                    <a:p>
                      <a:pPr algn="l"/>
                      <a:r>
                        <a:rPr sz="1200">
                          <a:solidFill>
                            <a:srgbClr val="2C3E50"/>
                          </a:solidFill>
                          <a:latin typeface="Calibri"/>
                        </a:rPr>
                        <a:t>056</a:t>
                      </a:r>
                    </a:p>
                  </a:txBody>
                  <a:tcPr marR="45720" marT="36576" marB="36576">
                    <a:solidFill>
                      <a:srgbClr val="FFFFFF"/>
                    </a:solidFill>
                  </a:tcPr>
                </a:tc>
                <a:tc>
                  <a:txBody>
                    <a:bodyPr/>
                    <a:lstStyle/>
                    <a:p>
                      <a:pPr algn="l"/>
                      <a:r>
                        <a:rPr sz="1200">
                          <a:solidFill>
                            <a:srgbClr val="2C3E50"/>
                          </a:solidFill>
                          <a:latin typeface="Calibri"/>
                        </a:rPr>
                        <a:t>εr identified; σ saturates above 1e5; distinct-radius margin preserved</a:t>
                      </a:r>
                    </a:p>
                  </a:txBody>
                  <a:tcPr marR="45720" marT="36576" marB="36576">
                    <a:solidFill>
                      <a:srgbClr val="FFFFFF"/>
                    </a:solidFill>
                  </a:tcPr>
                </a:tc>
                <a:tc>
                  <a:txBody>
                    <a:bodyPr/>
                    <a:lstStyle/>
                    <a:p>
                      <a:pPr algn="l"/>
                      <a:r>
                        <a:rPr sz="1200" b="1">
                          <a:solidFill>
                            <a:srgbClr val="E8913A"/>
                          </a:solidFill>
                          <a:latin typeface="Calibri"/>
                        </a:rPr>
                        <a:t>no material params in the radius optimizer yet</a:t>
                      </a:r>
                    </a:p>
                  </a:txBody>
                  <a:tcPr marR="45720" marT="36576" marB="36576">
                    <a:solidFill>
                      <a:srgbClr val="FFFFFF"/>
                    </a:solidFill>
                  </a:tcPr>
                </a:tc>
                <a:extLst>
                  <a:ext uri="{0D108BD9-81ED-4DB2-BD59-A6C34878D82A}">
                    <a16:rowId xmlns:a16="http://schemas.microsoft.com/office/drawing/2014/main" val="10006"/>
                  </a:ext>
                </a:extLst>
              </a:tr>
              <a:tr h="530352">
                <a:tc>
                  <a:txBody>
                    <a:bodyPr/>
                    <a:lstStyle/>
                    <a:p>
                      <a:pPr algn="l"/>
                      <a:r>
                        <a:rPr sz="1200" b="1">
                          <a:solidFill>
                            <a:srgbClr val="1A2332"/>
                          </a:solidFill>
                          <a:latin typeface="Calibri"/>
                        </a:rPr>
                        <a:t>all 5</a:t>
                      </a:r>
                    </a:p>
                  </a:txBody>
                  <a:tcPr marR="45720" marT="36576" marB="36576">
                    <a:solidFill>
                      <a:srgbClr val="F4F6F8"/>
                    </a:solidFill>
                  </a:tcPr>
                </a:tc>
                <a:tc>
                  <a:txBody>
                    <a:bodyPr/>
                    <a:lstStyle/>
                    <a:p>
                      <a:pPr algn="l"/>
                      <a:r>
                        <a:rPr sz="1200">
                          <a:solidFill>
                            <a:srgbClr val="2C3E50"/>
                          </a:solidFill>
                          <a:latin typeface="Calibri"/>
                        </a:rPr>
                        <a:t>Production runner combines surviving ideas</a:t>
                      </a:r>
                    </a:p>
                  </a:txBody>
                  <a:tcPr marR="45720" marT="36576" marB="36576">
                    <a:solidFill>
                      <a:srgbClr val="F4F6F8"/>
                    </a:solidFill>
                  </a:tcPr>
                </a:tc>
                <a:tc>
                  <a:txBody>
                    <a:bodyPr/>
                    <a:lstStyle/>
                    <a:p>
                      <a:pPr algn="l"/>
                      <a:r>
                        <a:rPr sz="1200">
                          <a:solidFill>
                            <a:srgbClr val="2C3E50"/>
                          </a:solidFill>
                          <a:latin typeface="Calibri"/>
                        </a:rPr>
                        <a:t>057, 058</a:t>
                      </a:r>
                    </a:p>
                  </a:txBody>
                  <a:tcPr marR="45720" marT="36576" marB="36576">
                    <a:solidFill>
                      <a:srgbClr val="F4F6F8"/>
                    </a:solidFill>
                  </a:tcPr>
                </a:tc>
                <a:tc>
                  <a:txBody>
                    <a:bodyPr/>
                    <a:lstStyle/>
                    <a:p>
                      <a:pPr algn="l"/>
                      <a:r>
                        <a:rPr sz="1200">
                          <a:solidFill>
                            <a:srgbClr val="2C3E50"/>
                          </a:solidFill>
                          <a:latin typeface="Calibri"/>
                        </a:rPr>
                        <a:t>Radius + source profile co-recovered under injected mismatch</a:t>
                      </a:r>
                    </a:p>
                  </a:txBody>
                  <a:tcPr marR="45720" marT="36576" marB="36576">
                    <a:solidFill>
                      <a:srgbClr val="F4F6F8"/>
                    </a:solidFill>
                  </a:tcPr>
                </a:tc>
                <a:tc>
                  <a:txBody>
                    <a:bodyPr/>
                    <a:lstStyle/>
                    <a:p>
                      <a:pPr algn="l"/>
                      <a:r>
                        <a:rPr sz="1200" b="1">
                          <a:solidFill>
                            <a:srgbClr val="27AE60"/>
                          </a:solidFill>
                          <a:latin typeface="Calibri"/>
                        </a:rPr>
                        <a:t>recommended pipeline going forward</a:t>
                      </a:r>
                    </a:p>
                  </a:txBody>
                  <a:tcPr marR="45720" marT="36576" marB="36576">
                    <a:solidFill>
                      <a:srgbClr val="F4F6F8"/>
                    </a:solidFill>
                  </a:tcPr>
                </a:tc>
                <a:extLst>
                  <a:ext uri="{0D108BD9-81ED-4DB2-BD59-A6C34878D82A}">
                    <a16:rowId xmlns:a16="http://schemas.microsoft.com/office/drawing/2014/main" val="10007"/>
                  </a:ext>
                </a:extLst>
              </a:tr>
              <a:tr h="530352">
                <a:tc>
                  <a:txBody>
                    <a:bodyPr/>
                    <a:lstStyle/>
                    <a:p>
                      <a:pPr algn="l"/>
                      <a:r>
                        <a:rPr sz="1200" b="1">
                          <a:solidFill>
                            <a:srgbClr val="1A2332"/>
                          </a:solidFill>
                          <a:latin typeface="Calibri"/>
                        </a:rPr>
                        <a:t>IFWI</a:t>
                      </a:r>
                    </a:p>
                  </a:txBody>
                  <a:tcPr marR="45720" marT="36576" marB="36576">
                    <a:solidFill>
                      <a:srgbClr val="FFFFFF"/>
                    </a:solidFill>
                  </a:tcPr>
                </a:tc>
                <a:tc>
                  <a:txBody>
                    <a:bodyPr/>
                    <a:lstStyle/>
                    <a:p>
                      <a:pPr algn="l"/>
                      <a:r>
                        <a:rPr sz="1200">
                          <a:solidFill>
                            <a:srgbClr val="2C3E50"/>
                          </a:solidFill>
                          <a:latin typeface="Calibri"/>
                        </a:rPr>
                        <a:t>Neural implicit field needed for radius</a:t>
                      </a:r>
                    </a:p>
                  </a:txBody>
                  <a:tcPr marR="45720" marT="36576" marB="36576">
                    <a:solidFill>
                      <a:srgbClr val="FFFFFF"/>
                    </a:solidFill>
                  </a:tcPr>
                </a:tc>
                <a:tc>
                  <a:txBody>
                    <a:bodyPr/>
                    <a:lstStyle/>
                    <a:p>
                      <a:pPr algn="l"/>
                      <a:r>
                        <a:rPr sz="1200">
                          <a:solidFill>
                            <a:srgbClr val="2C3E50"/>
                          </a:solidFill>
                          <a:latin typeface="Calibri"/>
                        </a:rPr>
                        <a:t>doc 29 only</a:t>
                      </a:r>
                    </a:p>
                  </a:txBody>
                  <a:tcPr marR="45720" marT="36576" marB="36576">
                    <a:solidFill>
                      <a:srgbClr val="FFFFFF"/>
                    </a:solidFill>
                  </a:tcPr>
                </a:tc>
                <a:tc>
                  <a:txBody>
                    <a:bodyPr/>
                    <a:lstStyle/>
                    <a:p>
                      <a:pPr algn="l"/>
                      <a:r>
                        <a:rPr sz="1200">
                          <a:solidFill>
                            <a:srgbClr val="2C3E50"/>
                          </a:solidFill>
                          <a:latin typeface="Calibri"/>
                        </a:rPr>
                        <a:t>Flexible residual would absorb radius bias</a:t>
                      </a:r>
                    </a:p>
                  </a:txBody>
                  <a:tcPr marR="45720" marT="36576" marB="36576">
                    <a:solidFill>
                      <a:srgbClr val="FFFFFF"/>
                    </a:solidFill>
                  </a:tcPr>
                </a:tc>
                <a:tc>
                  <a:txBody>
                    <a:bodyPr/>
                    <a:lstStyle/>
                    <a:p>
                      <a:pPr algn="l"/>
                      <a:r>
                        <a:rPr sz="1200" b="1" dirty="0">
                          <a:solidFill>
                            <a:srgbClr val="C0392B"/>
                          </a:solidFill>
                          <a:latin typeface="Calibri"/>
                        </a:rPr>
                        <a:t>deferred to multi-rebar / field-data stage</a:t>
                      </a:r>
                    </a:p>
                  </a:txBody>
                  <a:tcPr marR="45720" marT="36576" marB="36576">
                    <a:solidFill>
                      <a:srgbClr val="FFFFFF"/>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57200" y="6199632"/>
            <a:ext cx="11338560" cy="415498"/>
          </a:xfrm>
          <a:prstGeom prst="rect">
            <a:avLst/>
          </a:prstGeom>
          <a:noFill/>
        </p:spPr>
        <p:txBody>
          <a:bodyPr wrap="square">
            <a:spAutoFit/>
          </a:bodyPr>
          <a:lstStyle/>
          <a:p>
            <a:pPr algn="l">
              <a:defRPr sz="1000" b="0" i="1">
                <a:solidFill>
                  <a:srgbClr val="7F8C8D"/>
                </a:solidFill>
                <a:latin typeface="Calibri"/>
              </a:defRPr>
            </a:pPr>
            <a:r>
              <a:rPr sz="1050" dirty="0"/>
              <a:t>Acronym key: OT-LS = optimal-transport / least-squares hybrid · PEBDD = progressively expanded bandwidths of the data · WRI = wavefield reconstruction inversion · W2 = quadratic Wasserstein · IFWI = implicit full-waveform inversion · NRCCC = fraction of trace pairs within half a period · LS = least squares.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01</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0" y="2103120"/>
            <a:ext cx="8046720" cy="1645920"/>
          </a:xfrm>
          <a:prstGeom prst="rect">
            <a:avLst/>
          </a:prstGeom>
          <a:noFill/>
        </p:spPr>
        <p:txBody>
          <a:bodyPr wrap="square">
            <a:spAutoFit/>
          </a:bodyPr>
          <a:lstStyle/>
          <a:p>
            <a:pPr>
              <a:defRPr sz="3400" b="1">
                <a:solidFill>
                  <a:srgbClr val="FFFFFF"/>
                </a:solidFill>
                <a:latin typeface="Calibri"/>
              </a:defRPr>
            </a:pPr>
            <a:r>
              <a:t>Was it cycle skipping?</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OT diagnostic on the existing high-radius candidate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OT-style trace-shift diagnostic</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Rule out the OT branch before committing to a new objective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024–027</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12</a:t>
            </a:r>
          </a:p>
        </p:txBody>
      </p:sp>
      <p:grpSp>
        <p:nvGrpSpPr>
          <p:cNvPr id="14" name="Group 13">
            <a:extLst>
              <a:ext uri="{FF2B5EF4-FFF2-40B4-BE49-F238E27FC236}">
                <a16:creationId xmlns:a16="http://schemas.microsoft.com/office/drawing/2014/main" id="{95A13D92-9E3A-64EA-B925-CAA6CA836A78}"/>
              </a:ext>
            </a:extLst>
          </p:cNvPr>
          <p:cNvGrpSpPr/>
          <p:nvPr/>
        </p:nvGrpSpPr>
        <p:grpSpPr>
          <a:xfrm>
            <a:off x="640080" y="1472184"/>
            <a:ext cx="10972800" cy="4173016"/>
            <a:chOff x="640080" y="1371600"/>
            <a:chExt cx="10972800" cy="4273600"/>
          </a:xfrm>
        </p:grpSpPr>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584775"/>
            </a:xfrm>
            <a:prstGeom prst="rect">
              <a:avLst/>
            </a:prstGeom>
            <a:noFill/>
          </p:spPr>
          <p:txBody>
            <a:bodyPr wrap="square">
              <a:spAutoFit/>
            </a:bodyPr>
            <a:lstStyle/>
            <a:p>
              <a:pPr algn="l">
                <a:defRPr sz="1400" b="0" i="0">
                  <a:solidFill>
                    <a:srgbClr val="2C3E50"/>
                  </a:solidFill>
                  <a:latin typeface="Calibri"/>
                </a:defRPr>
              </a:pPr>
              <a:r>
                <a:rPr sz="1600"/>
                <a:t>If the high-radius Powell basin is a cycle-skipping failure, the OT-LS paper's NRCCC criterion should flag it as unsafe for least-squares.</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584775"/>
            </a:xfrm>
            <a:prstGeom prst="rect">
              <a:avLst/>
            </a:prstGeom>
            <a:noFill/>
          </p:spPr>
          <p:txBody>
            <a:bodyPr wrap="square">
              <a:spAutoFit/>
            </a:bodyPr>
            <a:lstStyle/>
            <a:p>
              <a:pPr algn="l">
                <a:defRPr sz="1400" b="0" i="0">
                  <a:solidFill>
                    <a:srgbClr val="2C3E50"/>
                  </a:solidFill>
                  <a:latin typeface="Calibri"/>
                </a:defRPr>
              </a:pPr>
              <a:r>
                <a:rPr sz="1600"/>
                <a:t>We implemented RCCC = |trace shift| / dominant period and NRCCC = fraction with RCCC &lt; 0.5. Ran it post-hoc on the known high-radius Powell candidate, the polished true candidate, and the top-k polish candidates under 5% and 10% noise.</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a:t>What we'll see</a:t>
              </a:r>
            </a:p>
          </p:txBody>
        </p:sp>
        <p:sp>
          <p:nvSpPr>
            <p:cNvPr id="13" name="TextBox 12"/>
            <p:cNvSpPr txBox="1"/>
            <p:nvPr/>
          </p:nvSpPr>
          <p:spPr>
            <a:xfrm>
              <a:off x="640080" y="4983480"/>
              <a:ext cx="10972800" cy="661720"/>
            </a:xfrm>
            <a:prstGeom prst="rect">
              <a:avLst/>
            </a:prstGeom>
            <a:noFill/>
          </p:spPr>
          <p:txBody>
            <a:bodyPr wrap="square">
              <a:spAutoFit/>
            </a:bodyPr>
            <a:lstStyle/>
            <a:p>
              <a:pPr>
                <a:spcAft>
                  <a:spcPts val="600"/>
                </a:spcAft>
                <a:defRPr sz="1400">
                  <a:solidFill>
                    <a:srgbClr val="2C3E50"/>
                  </a:solidFill>
                  <a:latin typeface="Calibri"/>
                </a:defRPr>
              </a:pPr>
              <a:r>
                <a:rPr sz="1600"/>
                <a:t>If NRCCC &lt; 1 for the wrong-radius case, the OT branch is worth pursuing.</a:t>
              </a:r>
            </a:p>
            <a:p>
              <a:pPr>
                <a:spcAft>
                  <a:spcPts val="600"/>
                </a:spcAft>
                <a:defRPr sz="1400">
                  <a:solidFill>
                    <a:srgbClr val="2C3E50"/>
                  </a:solidFill>
                  <a:latin typeface="Calibri"/>
                </a:defRPr>
              </a:pPr>
              <a:r>
                <a:rPr sz="1600"/>
                <a:t>If NRCCC = 1 for every candidate, this problem is not a transport problem.</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NRCCC results across the candidate set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Does the half-period gate flag the wrong-radius candidates as unsafe?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024–026</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13</a:t>
            </a:r>
          </a:p>
        </p:txBody>
      </p:sp>
      <p:sp>
        <p:nvSpPr>
          <p:cNvPr id="8" name="TextBox 7"/>
          <p:cNvSpPr txBox="1"/>
          <p:nvPr/>
        </p:nvSpPr>
        <p:spPr>
          <a:xfrm>
            <a:off x="457200" y="1423781"/>
            <a:ext cx="11338560" cy="697627"/>
          </a:xfrm>
          <a:prstGeom prst="rect">
            <a:avLst/>
          </a:prstGeom>
          <a:noFill/>
        </p:spPr>
        <p:txBody>
          <a:bodyPr wrap="square">
            <a:spAutoFit/>
          </a:bodyPr>
          <a:lstStyle/>
          <a:p>
            <a:pPr>
              <a:spcAft>
                <a:spcPts val="200"/>
              </a:spcAft>
              <a:defRPr sz="1100">
                <a:solidFill>
                  <a:srgbClr val="2C3E50"/>
                </a:solidFill>
                <a:latin typeface="Calibri"/>
              </a:defRPr>
            </a:pPr>
            <a:r>
              <a:rPr sz="1200" dirty="0"/>
              <a:t>RCCC (Relative Cross-Correlation Criterion) = |trace shift| / dominant period, computed for each (observed, synthetic) trace pair.</a:t>
            </a:r>
          </a:p>
          <a:p>
            <a:pPr>
              <a:spcAft>
                <a:spcPts val="200"/>
              </a:spcAft>
              <a:defRPr sz="1100">
                <a:solidFill>
                  <a:srgbClr val="2C3E50"/>
                </a:solidFill>
                <a:latin typeface="Calibri"/>
              </a:defRPr>
            </a:pPr>
            <a:r>
              <a:rPr sz="1200" dirty="0"/>
              <a:t>NRCCC (</a:t>
            </a:r>
            <a:r>
              <a:rPr sz="1200" dirty="0" err="1"/>
              <a:t>Normalised</a:t>
            </a:r>
            <a:r>
              <a:rPr sz="1200" dirty="0"/>
              <a:t> RCCC) = fraction of traces with RCCC &lt; 0.5 — the half-period gate the OT-LS paper uses to decide a trace is least-squares-safe.</a:t>
            </a:r>
          </a:p>
          <a:p>
            <a:pPr>
              <a:spcAft>
                <a:spcPts val="200"/>
              </a:spcAft>
              <a:defRPr sz="1100">
                <a:solidFill>
                  <a:srgbClr val="2C3E50"/>
                </a:solidFill>
                <a:latin typeface="Calibri"/>
              </a:defRPr>
            </a:pPr>
            <a:r>
              <a:rPr sz="1200" dirty="0"/>
              <a:t>Paper's switching rule: when NRCCC &gt; ~0.7, switch from the OT objective to LS. If a candidate is already at NRCCC = 1.0, OT brings no extra basin-finding benefit.</a:t>
            </a:r>
          </a:p>
        </p:txBody>
      </p:sp>
      <p:graphicFrame>
        <p:nvGraphicFramePr>
          <p:cNvPr id="9" name="Table 8"/>
          <p:cNvGraphicFramePr>
            <a:graphicFrameLocks noGrp="1"/>
          </p:cNvGraphicFramePr>
          <p:nvPr>
            <p:extLst>
              <p:ext uri="{D42A27DB-BD31-4B8C-83A1-F6EECF244321}">
                <p14:modId xmlns:p14="http://schemas.microsoft.com/office/powerpoint/2010/main" val="871845122"/>
              </p:ext>
            </p:extLst>
          </p:nvPr>
        </p:nvGraphicFramePr>
        <p:xfrm>
          <a:off x="365760" y="2697480"/>
          <a:ext cx="11475720" cy="250545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3154680">
                  <a:extLst>
                    <a:ext uri="{9D8B030D-6E8A-4147-A177-3AD203B41FA5}">
                      <a16:colId xmlns:a16="http://schemas.microsoft.com/office/drawing/2014/main" val="20006"/>
                    </a:ext>
                  </a:extLst>
                </a:gridCol>
              </a:tblGrid>
              <a:tr h="329184">
                <a:tc>
                  <a:txBody>
                    <a:bodyPr/>
                    <a:lstStyle/>
                    <a:p>
                      <a:pPr algn="l"/>
                      <a:r>
                        <a:rPr sz="1400" b="1">
                          <a:solidFill>
                            <a:srgbClr val="FFFFFF"/>
                          </a:solidFill>
                          <a:latin typeface="Calibri"/>
                        </a:rPr>
                        <a:t>Candidate</a:t>
                      </a:r>
                    </a:p>
                  </a:txBody>
                  <a:tcPr marL="73152" marR="36576" marT="27432" marB="27432">
                    <a:solidFill>
                      <a:srgbClr val="1A2332"/>
                    </a:solidFill>
                  </a:tcPr>
                </a:tc>
                <a:tc>
                  <a:txBody>
                    <a:bodyPr/>
                    <a:lstStyle/>
                    <a:p>
                      <a:pPr algn="l"/>
                      <a:r>
                        <a:rPr sz="1400" b="1">
                          <a:solidFill>
                            <a:srgbClr val="FFFFFF"/>
                          </a:solidFill>
                          <a:latin typeface="Calibri"/>
                        </a:rPr>
                        <a:t>Misfit J</a:t>
                      </a:r>
                    </a:p>
                  </a:txBody>
                  <a:tcPr marL="73152" marR="36576" marT="27432" marB="27432">
                    <a:solidFill>
                      <a:srgbClr val="1A2332"/>
                    </a:solidFill>
                  </a:tcPr>
                </a:tc>
                <a:tc>
                  <a:txBody>
                    <a:bodyPr/>
                    <a:lstStyle/>
                    <a:p>
                      <a:pPr algn="l"/>
                      <a:r>
                        <a:rPr sz="1400" b="1">
                          <a:solidFill>
                            <a:srgbClr val="FFFFFF"/>
                          </a:solidFill>
                          <a:latin typeface="Calibri"/>
                        </a:rPr>
                        <a:t>NRCCC</a:t>
                      </a:r>
                    </a:p>
                  </a:txBody>
                  <a:tcPr marL="73152" marR="36576" marT="27432" marB="27432">
                    <a:solidFill>
                      <a:srgbClr val="1A2332"/>
                    </a:solidFill>
                  </a:tcPr>
                </a:tc>
                <a:tc>
                  <a:txBody>
                    <a:bodyPr/>
                    <a:lstStyle/>
                    <a:p>
                      <a:pPr algn="l"/>
                      <a:r>
                        <a:rPr sz="1400" b="1">
                          <a:solidFill>
                            <a:srgbClr val="FFFFFF"/>
                          </a:solidFill>
                          <a:latin typeface="Calibri"/>
                        </a:rPr>
                        <a:t>med RCCC</a:t>
                      </a:r>
                    </a:p>
                  </a:txBody>
                  <a:tcPr marL="73152" marR="36576" marT="27432" marB="27432">
                    <a:solidFill>
                      <a:srgbClr val="1A2332"/>
                    </a:solidFill>
                  </a:tcPr>
                </a:tc>
                <a:tc>
                  <a:txBody>
                    <a:bodyPr/>
                    <a:lstStyle/>
                    <a:p>
                      <a:pPr algn="l"/>
                      <a:r>
                        <a:rPr sz="1400" b="1">
                          <a:solidFill>
                            <a:srgbClr val="FFFFFF"/>
                          </a:solidFill>
                          <a:latin typeface="Calibri"/>
                        </a:rPr>
                        <a:t>max RCCC</a:t>
                      </a:r>
                    </a:p>
                  </a:txBody>
                  <a:tcPr marL="73152" marR="36576" marT="27432" marB="27432">
                    <a:solidFill>
                      <a:srgbClr val="1A2332"/>
                    </a:solidFill>
                  </a:tcPr>
                </a:tc>
                <a:tc>
                  <a:txBody>
                    <a:bodyPr/>
                    <a:lstStyle/>
                    <a:p>
                      <a:pPr algn="l"/>
                      <a:r>
                        <a:rPr sz="1400" b="1">
                          <a:solidFill>
                            <a:srgbClr val="FFFFFF"/>
                          </a:solidFill>
                          <a:latin typeface="Calibri"/>
                        </a:rPr>
                        <a:t>Radius</a:t>
                      </a:r>
                    </a:p>
                  </a:txBody>
                  <a:tcPr marL="73152" marR="36576" marT="27432" marB="27432">
                    <a:solidFill>
                      <a:srgbClr val="1A2332"/>
                    </a:solidFill>
                  </a:tcPr>
                </a:tc>
                <a:tc>
                  <a:txBody>
                    <a:bodyPr/>
                    <a:lstStyle/>
                    <a:p>
                      <a:pPr algn="l"/>
                      <a:r>
                        <a:rPr sz="1400" b="1">
                          <a:solidFill>
                            <a:srgbClr val="FFFFFF"/>
                          </a:solidFill>
                          <a:latin typeface="Calibri"/>
                        </a:rPr>
                        <a:t>Note</a:t>
                      </a:r>
                    </a:p>
                  </a:txBody>
                  <a:tcPr marL="73152" marR="36576" marT="27432" marB="27432">
                    <a:solidFill>
                      <a:srgbClr val="1A2332"/>
                    </a:solidFill>
                  </a:tcPr>
                </a:tc>
                <a:extLst>
                  <a:ext uri="{0D108BD9-81ED-4DB2-BD59-A6C34878D82A}">
                    <a16:rowId xmlns:a16="http://schemas.microsoft.com/office/drawing/2014/main" val="10000"/>
                  </a:ext>
                </a:extLst>
              </a:tr>
              <a:tr h="310896">
                <a:tc>
                  <a:txBody>
                    <a:bodyPr/>
                    <a:lstStyle/>
                    <a:p>
                      <a:pPr algn="l"/>
                      <a:r>
                        <a:rPr sz="1100">
                          <a:solidFill>
                            <a:srgbClr val="1A2332"/>
                          </a:solidFill>
                          <a:latin typeface="Calibri"/>
                        </a:rPr>
                        <a:t>polished true (014 / 015)</a:t>
                      </a:r>
                    </a:p>
                  </a:txBody>
                  <a:tcPr marL="73152" marR="36576" marT="18288" marB="18288">
                    <a:solidFill>
                      <a:srgbClr val="F4F6F8"/>
                    </a:solidFill>
                  </a:tcPr>
                </a:tc>
                <a:tc>
                  <a:txBody>
                    <a:bodyPr/>
                    <a:lstStyle/>
                    <a:p>
                      <a:pPr algn="l"/>
                      <a:r>
                        <a:rPr sz="1100">
                          <a:solidFill>
                            <a:srgbClr val="2C3E50"/>
                          </a:solidFill>
                          <a:latin typeface="Consolas"/>
                        </a:rPr>
                        <a:t>0</a:t>
                      </a:r>
                    </a:p>
                  </a:txBody>
                  <a:tcPr marL="73152" marR="36576" marT="18288" marB="18288">
                    <a:solidFill>
                      <a:srgbClr val="F4F6F8"/>
                    </a:solidFill>
                  </a:tcPr>
                </a:tc>
                <a:tc>
                  <a:txBody>
                    <a:bodyPr/>
                    <a:lstStyle/>
                    <a:p>
                      <a:pPr algn="l"/>
                      <a:r>
                        <a:rPr sz="1100">
                          <a:solidFill>
                            <a:srgbClr val="2C3E50"/>
                          </a:solidFill>
                          <a:latin typeface="Consolas"/>
                        </a:rPr>
                        <a:t>1.000</a:t>
                      </a:r>
                    </a:p>
                  </a:txBody>
                  <a:tcPr marL="73152" marR="36576" marT="18288" marB="18288">
                    <a:solidFill>
                      <a:srgbClr val="F4F6F8"/>
                    </a:solidFill>
                  </a:tcPr>
                </a:tc>
                <a:tc>
                  <a:txBody>
                    <a:bodyPr/>
                    <a:lstStyle/>
                    <a:p>
                      <a:pPr algn="l"/>
                      <a:r>
                        <a:rPr sz="1100">
                          <a:solidFill>
                            <a:srgbClr val="2C3E50"/>
                          </a:solidFill>
                          <a:latin typeface="Consolas"/>
                        </a:rPr>
                        <a:t>0.000</a:t>
                      </a:r>
                    </a:p>
                  </a:txBody>
                  <a:tcPr marL="73152" marR="36576" marT="18288" marB="18288">
                    <a:solidFill>
                      <a:srgbClr val="F4F6F8"/>
                    </a:solidFill>
                  </a:tcPr>
                </a:tc>
                <a:tc>
                  <a:txBody>
                    <a:bodyPr/>
                    <a:lstStyle/>
                    <a:p>
                      <a:pPr algn="l"/>
                      <a:r>
                        <a:rPr sz="1100">
                          <a:solidFill>
                            <a:srgbClr val="2C3E50"/>
                          </a:solidFill>
                          <a:latin typeface="Consolas"/>
                        </a:rPr>
                        <a:t>0.000</a:t>
                      </a:r>
                    </a:p>
                  </a:txBody>
                  <a:tcPr marL="73152" marR="36576" marT="18288" marB="18288">
                    <a:solidFill>
                      <a:srgbClr val="F4F6F8"/>
                    </a:solidFill>
                  </a:tcPr>
                </a:tc>
                <a:tc>
                  <a:txBody>
                    <a:bodyPr/>
                    <a:lstStyle/>
                    <a:p>
                      <a:pPr algn="l"/>
                      <a:r>
                        <a:rPr sz="1100">
                          <a:solidFill>
                            <a:srgbClr val="2C3E50"/>
                          </a:solidFill>
                          <a:latin typeface="Consolas"/>
                        </a:rPr>
                        <a:t>6.000 mm</a:t>
                      </a:r>
                    </a:p>
                  </a:txBody>
                  <a:tcPr marL="73152" marR="36576" marT="18288" marB="18288">
                    <a:solidFill>
                      <a:srgbClr val="F4F6F8"/>
                    </a:solidFill>
                  </a:tcPr>
                </a:tc>
                <a:tc>
                  <a:txBody>
                    <a:bodyPr/>
                    <a:lstStyle/>
                    <a:p>
                      <a:pPr algn="l"/>
                      <a:r>
                        <a:rPr sz="1100" b="1">
                          <a:solidFill>
                            <a:srgbClr val="27AE60"/>
                          </a:solidFill>
                          <a:latin typeface="Calibri"/>
                        </a:rPr>
                        <a:t>exact recovery</a:t>
                      </a:r>
                    </a:p>
                  </a:txBody>
                  <a:tcPr marL="73152" marR="36576" marT="18288" marB="18288">
                    <a:solidFill>
                      <a:srgbClr val="F4F6F8"/>
                    </a:solidFill>
                  </a:tcPr>
                </a:tc>
                <a:extLst>
                  <a:ext uri="{0D108BD9-81ED-4DB2-BD59-A6C34878D82A}">
                    <a16:rowId xmlns:a16="http://schemas.microsoft.com/office/drawing/2014/main" val="10001"/>
                  </a:ext>
                </a:extLst>
              </a:tr>
              <a:tr h="310896">
                <a:tc>
                  <a:txBody>
                    <a:bodyPr/>
                    <a:lstStyle/>
                    <a:p>
                      <a:pPr algn="l"/>
                      <a:r>
                        <a:rPr sz="1100">
                          <a:solidFill>
                            <a:srgbClr val="1A2332"/>
                          </a:solidFill>
                          <a:latin typeface="Calibri"/>
                        </a:rPr>
                        <a:t>Powell high-radius</a:t>
                      </a:r>
                    </a:p>
                  </a:txBody>
                  <a:tcPr marL="73152" marR="36576" marT="18288" marB="18288">
                    <a:solidFill>
                      <a:srgbClr val="FFFFFF"/>
                    </a:solidFill>
                  </a:tcPr>
                </a:tc>
                <a:tc>
                  <a:txBody>
                    <a:bodyPr/>
                    <a:lstStyle/>
                    <a:p>
                      <a:pPr algn="l"/>
                      <a:r>
                        <a:rPr sz="1100">
                          <a:solidFill>
                            <a:srgbClr val="2C3E50"/>
                          </a:solidFill>
                          <a:latin typeface="Consolas"/>
                        </a:rPr>
                        <a:t>2.08e-3</a:t>
                      </a:r>
                    </a:p>
                  </a:txBody>
                  <a:tcPr marL="73152" marR="36576" marT="18288" marB="18288">
                    <a:solidFill>
                      <a:srgbClr val="FFFFFF"/>
                    </a:solidFill>
                  </a:tcPr>
                </a:tc>
                <a:tc>
                  <a:txBody>
                    <a:bodyPr/>
                    <a:lstStyle/>
                    <a:p>
                      <a:pPr algn="l"/>
                      <a:r>
                        <a:rPr sz="1100">
                          <a:solidFill>
                            <a:srgbClr val="2C3E50"/>
                          </a:solidFill>
                          <a:latin typeface="Consolas"/>
                        </a:rPr>
                        <a:t>1.000</a:t>
                      </a:r>
                    </a:p>
                  </a:txBody>
                  <a:tcPr marL="73152" marR="36576" marT="18288" marB="18288">
                    <a:solidFill>
                      <a:srgbClr val="FFFFFF"/>
                    </a:solidFill>
                  </a:tcPr>
                </a:tc>
                <a:tc>
                  <a:txBody>
                    <a:bodyPr/>
                    <a:lstStyle/>
                    <a:p>
                      <a:pPr algn="l"/>
                      <a:r>
                        <a:rPr sz="1100">
                          <a:solidFill>
                            <a:srgbClr val="2C3E50"/>
                          </a:solidFill>
                          <a:latin typeface="Consolas"/>
                        </a:rPr>
                        <a:t>0.003</a:t>
                      </a:r>
                    </a:p>
                  </a:txBody>
                  <a:tcPr marL="73152" marR="36576" marT="18288" marB="18288">
                    <a:solidFill>
                      <a:srgbClr val="FFFFFF"/>
                    </a:solidFill>
                  </a:tcPr>
                </a:tc>
                <a:tc>
                  <a:txBody>
                    <a:bodyPr/>
                    <a:lstStyle/>
                    <a:p>
                      <a:pPr algn="l"/>
                      <a:r>
                        <a:rPr sz="1100">
                          <a:solidFill>
                            <a:srgbClr val="2C3E50"/>
                          </a:solidFill>
                          <a:latin typeface="Consolas"/>
                        </a:rPr>
                        <a:t>0.003</a:t>
                      </a:r>
                    </a:p>
                  </a:txBody>
                  <a:tcPr marL="73152" marR="36576" marT="18288" marB="18288">
                    <a:solidFill>
                      <a:srgbClr val="FFFFFF"/>
                    </a:solidFill>
                  </a:tcPr>
                </a:tc>
                <a:tc>
                  <a:txBody>
                    <a:bodyPr/>
                    <a:lstStyle/>
                    <a:p>
                      <a:pPr algn="l"/>
                      <a:r>
                        <a:rPr sz="1100">
                          <a:solidFill>
                            <a:srgbClr val="2C3E50"/>
                          </a:solidFill>
                          <a:latin typeface="Consolas"/>
                        </a:rPr>
                        <a:t>6.955 mm</a:t>
                      </a:r>
                    </a:p>
                  </a:txBody>
                  <a:tcPr marL="73152" marR="36576" marT="18288" marB="18288">
                    <a:solidFill>
                      <a:srgbClr val="FFFFFF"/>
                    </a:solidFill>
                  </a:tcPr>
                </a:tc>
                <a:tc>
                  <a:txBody>
                    <a:bodyPr/>
                    <a:lstStyle/>
                    <a:p>
                      <a:pPr algn="l"/>
                      <a:r>
                        <a:rPr sz="1100" b="1">
                          <a:solidFill>
                            <a:srgbClr val="C0392B"/>
                          </a:solidFill>
                          <a:latin typeface="Calibri"/>
                        </a:rPr>
                        <a:t>wrong radius, but phase-safe</a:t>
                      </a:r>
                    </a:p>
                  </a:txBody>
                  <a:tcPr marL="73152" marR="36576" marT="18288" marB="18288">
                    <a:solidFill>
                      <a:srgbClr val="FFFFFF"/>
                    </a:solidFill>
                  </a:tcPr>
                </a:tc>
                <a:extLst>
                  <a:ext uri="{0D108BD9-81ED-4DB2-BD59-A6C34878D82A}">
                    <a16:rowId xmlns:a16="http://schemas.microsoft.com/office/drawing/2014/main" val="10002"/>
                  </a:ext>
                </a:extLst>
              </a:tr>
              <a:tr h="310896">
                <a:tc>
                  <a:txBody>
                    <a:bodyPr/>
                    <a:lstStyle/>
                    <a:p>
                      <a:pPr algn="l"/>
                      <a:r>
                        <a:rPr sz="1100">
                          <a:solidFill>
                            <a:srgbClr val="1A2332"/>
                          </a:solidFill>
                          <a:latin typeface="Calibri"/>
                        </a:rPr>
                        <a:t>noise 10% top 1 (023)</a:t>
                      </a:r>
                    </a:p>
                  </a:txBody>
                  <a:tcPr marL="73152" marR="36576" marT="18288" marB="18288">
                    <a:solidFill>
                      <a:srgbClr val="F4F6F8"/>
                    </a:solidFill>
                  </a:tcPr>
                </a:tc>
                <a:tc>
                  <a:txBody>
                    <a:bodyPr/>
                    <a:lstStyle/>
                    <a:p>
                      <a:pPr algn="l"/>
                      <a:r>
                        <a:rPr sz="1100">
                          <a:solidFill>
                            <a:srgbClr val="2C3E50"/>
                          </a:solidFill>
                          <a:latin typeface="Consolas"/>
                        </a:rPr>
                        <a:t>1.99e-1</a:t>
                      </a:r>
                    </a:p>
                  </a:txBody>
                  <a:tcPr marL="73152" marR="36576" marT="18288" marB="18288">
                    <a:solidFill>
                      <a:srgbClr val="F4F6F8"/>
                    </a:solidFill>
                  </a:tcPr>
                </a:tc>
                <a:tc>
                  <a:txBody>
                    <a:bodyPr/>
                    <a:lstStyle/>
                    <a:p>
                      <a:pPr algn="l"/>
                      <a:r>
                        <a:rPr sz="1100">
                          <a:solidFill>
                            <a:srgbClr val="2C3E50"/>
                          </a:solidFill>
                          <a:latin typeface="Consolas"/>
                        </a:rPr>
                        <a:t>1.000</a:t>
                      </a:r>
                    </a:p>
                  </a:txBody>
                  <a:tcPr marL="73152" marR="36576" marT="18288" marB="18288">
                    <a:solidFill>
                      <a:srgbClr val="F4F6F8"/>
                    </a:solidFill>
                  </a:tcPr>
                </a:tc>
                <a:tc>
                  <a:txBody>
                    <a:bodyPr/>
                    <a:lstStyle/>
                    <a:p>
                      <a:pPr algn="l"/>
                      <a:r>
                        <a:rPr sz="1100">
                          <a:solidFill>
                            <a:srgbClr val="2C3E50"/>
                          </a:solidFill>
                          <a:latin typeface="Consolas"/>
                        </a:rPr>
                        <a:t>0.000</a:t>
                      </a:r>
                    </a:p>
                  </a:txBody>
                  <a:tcPr marL="73152" marR="36576" marT="18288" marB="18288">
                    <a:solidFill>
                      <a:srgbClr val="F4F6F8"/>
                    </a:solidFill>
                  </a:tcPr>
                </a:tc>
                <a:tc>
                  <a:txBody>
                    <a:bodyPr/>
                    <a:lstStyle/>
                    <a:p>
                      <a:pPr algn="l"/>
                      <a:r>
                        <a:rPr sz="1100">
                          <a:solidFill>
                            <a:srgbClr val="2C3E50"/>
                          </a:solidFill>
                          <a:latin typeface="Consolas"/>
                        </a:rPr>
                        <a:t>0.003</a:t>
                      </a:r>
                    </a:p>
                  </a:txBody>
                  <a:tcPr marL="73152" marR="36576" marT="18288" marB="18288">
                    <a:solidFill>
                      <a:srgbClr val="F4F6F8"/>
                    </a:solidFill>
                  </a:tcPr>
                </a:tc>
                <a:tc>
                  <a:txBody>
                    <a:bodyPr/>
                    <a:lstStyle/>
                    <a:p>
                      <a:pPr algn="l"/>
                      <a:r>
                        <a:rPr sz="1100">
                          <a:solidFill>
                            <a:srgbClr val="2C3E50"/>
                          </a:solidFill>
                          <a:latin typeface="Consolas"/>
                        </a:rPr>
                        <a:t>6.000 mm</a:t>
                      </a:r>
                    </a:p>
                  </a:txBody>
                  <a:tcPr marL="73152" marR="36576" marT="18288" marB="18288">
                    <a:solidFill>
                      <a:srgbClr val="F4F6F8"/>
                    </a:solidFill>
                  </a:tcPr>
                </a:tc>
                <a:tc>
                  <a:txBody>
                    <a:bodyPr/>
                    <a:lstStyle/>
                    <a:p>
                      <a:pPr algn="l"/>
                      <a:r>
                        <a:rPr sz="1100" b="1">
                          <a:solidFill>
                            <a:srgbClr val="27AE60"/>
                          </a:solidFill>
                          <a:latin typeface="Calibri"/>
                        </a:rPr>
                        <a:t>recovered</a:t>
                      </a:r>
                    </a:p>
                  </a:txBody>
                  <a:tcPr marL="73152" marR="36576" marT="18288" marB="18288">
                    <a:solidFill>
                      <a:srgbClr val="F4F6F8"/>
                    </a:solidFill>
                  </a:tcPr>
                </a:tc>
                <a:extLst>
                  <a:ext uri="{0D108BD9-81ED-4DB2-BD59-A6C34878D82A}">
                    <a16:rowId xmlns:a16="http://schemas.microsoft.com/office/drawing/2014/main" val="10003"/>
                  </a:ext>
                </a:extLst>
              </a:tr>
              <a:tr h="310896">
                <a:tc>
                  <a:txBody>
                    <a:bodyPr/>
                    <a:lstStyle/>
                    <a:p>
                      <a:pPr algn="l"/>
                      <a:r>
                        <a:rPr sz="1100">
                          <a:solidFill>
                            <a:srgbClr val="1A2332"/>
                          </a:solidFill>
                          <a:latin typeface="Calibri"/>
                        </a:rPr>
                        <a:t>noise 10% top 2</a:t>
                      </a:r>
                    </a:p>
                  </a:txBody>
                  <a:tcPr marL="73152" marR="36576" marT="18288" marB="18288">
                    <a:solidFill>
                      <a:srgbClr val="FFFFFF"/>
                    </a:solidFill>
                  </a:tcPr>
                </a:tc>
                <a:tc>
                  <a:txBody>
                    <a:bodyPr/>
                    <a:lstStyle/>
                    <a:p>
                      <a:pPr algn="l"/>
                      <a:r>
                        <a:rPr sz="1100">
                          <a:solidFill>
                            <a:srgbClr val="2C3E50"/>
                          </a:solidFill>
                          <a:latin typeface="Consolas"/>
                        </a:rPr>
                        <a:t>1.99e-1</a:t>
                      </a:r>
                    </a:p>
                  </a:txBody>
                  <a:tcPr marL="73152" marR="36576" marT="18288" marB="18288">
                    <a:solidFill>
                      <a:srgbClr val="FFFFFF"/>
                    </a:solidFill>
                  </a:tcPr>
                </a:tc>
                <a:tc>
                  <a:txBody>
                    <a:bodyPr/>
                    <a:lstStyle/>
                    <a:p>
                      <a:pPr algn="l"/>
                      <a:r>
                        <a:rPr sz="1100">
                          <a:solidFill>
                            <a:srgbClr val="2C3E50"/>
                          </a:solidFill>
                          <a:latin typeface="Consolas"/>
                        </a:rPr>
                        <a:t>1.000</a:t>
                      </a:r>
                    </a:p>
                  </a:txBody>
                  <a:tcPr marL="73152" marR="36576" marT="18288" marB="18288">
                    <a:solidFill>
                      <a:srgbClr val="FFFFFF"/>
                    </a:solidFill>
                  </a:tcPr>
                </a:tc>
                <a:tc>
                  <a:txBody>
                    <a:bodyPr/>
                    <a:lstStyle/>
                    <a:p>
                      <a:pPr algn="l"/>
                      <a:r>
                        <a:rPr sz="1100">
                          <a:solidFill>
                            <a:srgbClr val="2C3E50"/>
                          </a:solidFill>
                          <a:latin typeface="Consolas"/>
                        </a:rPr>
                        <a:t>0.000</a:t>
                      </a:r>
                    </a:p>
                  </a:txBody>
                  <a:tcPr marL="73152" marR="36576" marT="18288" marB="18288">
                    <a:solidFill>
                      <a:srgbClr val="FFFFFF"/>
                    </a:solidFill>
                  </a:tcPr>
                </a:tc>
                <a:tc>
                  <a:txBody>
                    <a:bodyPr/>
                    <a:lstStyle/>
                    <a:p>
                      <a:pPr algn="l"/>
                      <a:r>
                        <a:rPr sz="1100">
                          <a:solidFill>
                            <a:srgbClr val="2C3E50"/>
                          </a:solidFill>
                          <a:latin typeface="Consolas"/>
                        </a:rPr>
                        <a:t>0.003</a:t>
                      </a:r>
                    </a:p>
                  </a:txBody>
                  <a:tcPr marL="73152" marR="36576" marT="18288" marB="18288">
                    <a:solidFill>
                      <a:srgbClr val="FFFFFF"/>
                    </a:solidFill>
                  </a:tcPr>
                </a:tc>
                <a:tc>
                  <a:txBody>
                    <a:bodyPr/>
                    <a:lstStyle/>
                    <a:p>
                      <a:pPr algn="l"/>
                      <a:r>
                        <a:rPr sz="1100">
                          <a:solidFill>
                            <a:srgbClr val="2C3E50"/>
                          </a:solidFill>
                          <a:latin typeface="Consolas"/>
                        </a:rPr>
                        <a:t>6.000 mm</a:t>
                      </a:r>
                    </a:p>
                  </a:txBody>
                  <a:tcPr marL="73152" marR="36576" marT="18288" marB="18288">
                    <a:solidFill>
                      <a:srgbClr val="FFFFFF"/>
                    </a:solidFill>
                  </a:tcPr>
                </a:tc>
                <a:tc>
                  <a:txBody>
                    <a:bodyPr/>
                    <a:lstStyle/>
                    <a:p>
                      <a:pPr algn="l"/>
                      <a:r>
                        <a:rPr sz="1100" b="1">
                          <a:solidFill>
                            <a:srgbClr val="27AE60"/>
                          </a:solidFill>
                          <a:latin typeface="Calibri"/>
                        </a:rPr>
                        <a:t>alternative cell</a:t>
                      </a:r>
                    </a:p>
                  </a:txBody>
                  <a:tcPr marL="73152" marR="36576" marT="18288" marB="18288">
                    <a:solidFill>
                      <a:srgbClr val="FFFFFF"/>
                    </a:solidFill>
                  </a:tcPr>
                </a:tc>
                <a:extLst>
                  <a:ext uri="{0D108BD9-81ED-4DB2-BD59-A6C34878D82A}">
                    <a16:rowId xmlns:a16="http://schemas.microsoft.com/office/drawing/2014/main" val="10004"/>
                  </a:ext>
                </a:extLst>
              </a:tr>
              <a:tr h="310896">
                <a:tc>
                  <a:txBody>
                    <a:bodyPr/>
                    <a:lstStyle/>
                    <a:p>
                      <a:pPr algn="l"/>
                      <a:r>
                        <a:rPr sz="1100">
                          <a:solidFill>
                            <a:srgbClr val="1A2332"/>
                          </a:solidFill>
                          <a:latin typeface="Calibri"/>
                        </a:rPr>
                        <a:t>noise 10% high-radius</a:t>
                      </a:r>
                    </a:p>
                  </a:txBody>
                  <a:tcPr marL="73152" marR="36576" marT="18288" marB="18288">
                    <a:solidFill>
                      <a:srgbClr val="F4F6F8"/>
                    </a:solidFill>
                  </a:tcPr>
                </a:tc>
                <a:tc>
                  <a:txBody>
                    <a:bodyPr/>
                    <a:lstStyle/>
                    <a:p>
                      <a:pPr algn="l"/>
                      <a:r>
                        <a:rPr sz="1100">
                          <a:solidFill>
                            <a:srgbClr val="2C3E50"/>
                          </a:solidFill>
                          <a:latin typeface="Consolas"/>
                        </a:rPr>
                        <a:t>2.01e-1</a:t>
                      </a:r>
                    </a:p>
                  </a:txBody>
                  <a:tcPr marL="73152" marR="36576" marT="18288" marB="18288">
                    <a:solidFill>
                      <a:srgbClr val="F4F6F8"/>
                    </a:solidFill>
                  </a:tcPr>
                </a:tc>
                <a:tc>
                  <a:txBody>
                    <a:bodyPr/>
                    <a:lstStyle/>
                    <a:p>
                      <a:pPr algn="l"/>
                      <a:r>
                        <a:rPr sz="1100">
                          <a:solidFill>
                            <a:srgbClr val="2C3E50"/>
                          </a:solidFill>
                          <a:latin typeface="Consolas"/>
                        </a:rPr>
                        <a:t>1.000</a:t>
                      </a:r>
                    </a:p>
                  </a:txBody>
                  <a:tcPr marL="73152" marR="36576" marT="18288" marB="18288">
                    <a:solidFill>
                      <a:srgbClr val="F4F6F8"/>
                    </a:solidFill>
                  </a:tcPr>
                </a:tc>
                <a:tc>
                  <a:txBody>
                    <a:bodyPr/>
                    <a:lstStyle/>
                    <a:p>
                      <a:pPr algn="l"/>
                      <a:r>
                        <a:rPr sz="1100">
                          <a:solidFill>
                            <a:srgbClr val="2C3E50"/>
                          </a:solidFill>
                          <a:latin typeface="Consolas"/>
                        </a:rPr>
                        <a:t>0.003</a:t>
                      </a:r>
                    </a:p>
                  </a:txBody>
                  <a:tcPr marL="73152" marR="36576" marT="18288" marB="18288">
                    <a:solidFill>
                      <a:srgbClr val="F4F6F8"/>
                    </a:solidFill>
                  </a:tcPr>
                </a:tc>
                <a:tc>
                  <a:txBody>
                    <a:bodyPr/>
                    <a:lstStyle/>
                    <a:p>
                      <a:pPr algn="l"/>
                      <a:r>
                        <a:rPr sz="1100">
                          <a:solidFill>
                            <a:srgbClr val="2C3E50"/>
                          </a:solidFill>
                          <a:latin typeface="Consolas"/>
                        </a:rPr>
                        <a:t>0.006</a:t>
                      </a:r>
                    </a:p>
                  </a:txBody>
                  <a:tcPr marL="73152" marR="36576" marT="18288" marB="18288">
                    <a:solidFill>
                      <a:srgbClr val="F4F6F8"/>
                    </a:solidFill>
                  </a:tcPr>
                </a:tc>
                <a:tc>
                  <a:txBody>
                    <a:bodyPr/>
                    <a:lstStyle/>
                    <a:p>
                      <a:pPr algn="l"/>
                      <a:r>
                        <a:rPr sz="1100">
                          <a:solidFill>
                            <a:srgbClr val="2C3E50"/>
                          </a:solidFill>
                          <a:latin typeface="Consolas"/>
                        </a:rPr>
                        <a:t>6.991 mm</a:t>
                      </a:r>
                    </a:p>
                  </a:txBody>
                  <a:tcPr marL="73152" marR="36576" marT="18288" marB="18288">
                    <a:solidFill>
                      <a:srgbClr val="F4F6F8"/>
                    </a:solidFill>
                  </a:tcPr>
                </a:tc>
                <a:tc>
                  <a:txBody>
                    <a:bodyPr/>
                    <a:lstStyle/>
                    <a:p>
                      <a:pPr algn="l"/>
                      <a:r>
                        <a:rPr sz="1100" b="1">
                          <a:solidFill>
                            <a:srgbClr val="C0392B"/>
                          </a:solidFill>
                          <a:latin typeface="Calibri"/>
                        </a:rPr>
                        <a:t>wrong radius, phase-safe</a:t>
                      </a:r>
                    </a:p>
                  </a:txBody>
                  <a:tcPr marL="73152" marR="36576" marT="18288" marB="18288">
                    <a:solidFill>
                      <a:srgbClr val="F4F6F8"/>
                    </a:solidFill>
                  </a:tcPr>
                </a:tc>
                <a:extLst>
                  <a:ext uri="{0D108BD9-81ED-4DB2-BD59-A6C34878D82A}">
                    <a16:rowId xmlns:a16="http://schemas.microsoft.com/office/drawing/2014/main" val="10005"/>
                  </a:ext>
                </a:extLst>
              </a:tr>
              <a:tr h="310896">
                <a:tc>
                  <a:txBody>
                    <a:bodyPr/>
                    <a:lstStyle/>
                    <a:p>
                      <a:pPr algn="l"/>
                      <a:r>
                        <a:rPr sz="1100">
                          <a:solidFill>
                            <a:srgbClr val="1A2332"/>
                          </a:solidFill>
                          <a:latin typeface="Calibri"/>
                        </a:rPr>
                        <a:t>noise 5% recovered</a:t>
                      </a:r>
                    </a:p>
                  </a:txBody>
                  <a:tcPr marL="73152" marR="36576" marT="18288" marB="18288">
                    <a:solidFill>
                      <a:srgbClr val="FFFFFF"/>
                    </a:solidFill>
                  </a:tcPr>
                </a:tc>
                <a:tc>
                  <a:txBody>
                    <a:bodyPr/>
                    <a:lstStyle/>
                    <a:p>
                      <a:pPr algn="l"/>
                      <a:r>
                        <a:rPr sz="1100">
                          <a:solidFill>
                            <a:srgbClr val="2C3E50"/>
                          </a:solidFill>
                          <a:latin typeface="Consolas"/>
                        </a:rPr>
                        <a:t>5.86e-2</a:t>
                      </a:r>
                    </a:p>
                  </a:txBody>
                  <a:tcPr marL="73152" marR="36576" marT="18288" marB="18288">
                    <a:solidFill>
                      <a:srgbClr val="FFFFFF"/>
                    </a:solidFill>
                  </a:tcPr>
                </a:tc>
                <a:tc>
                  <a:txBody>
                    <a:bodyPr/>
                    <a:lstStyle/>
                    <a:p>
                      <a:pPr algn="l"/>
                      <a:r>
                        <a:rPr sz="1100">
                          <a:solidFill>
                            <a:srgbClr val="2C3E50"/>
                          </a:solidFill>
                          <a:latin typeface="Consolas"/>
                        </a:rPr>
                        <a:t>1.000</a:t>
                      </a:r>
                    </a:p>
                  </a:txBody>
                  <a:tcPr marL="73152" marR="36576" marT="18288" marB="18288">
                    <a:solidFill>
                      <a:srgbClr val="FFFFFF"/>
                    </a:solidFill>
                  </a:tcPr>
                </a:tc>
                <a:tc>
                  <a:txBody>
                    <a:bodyPr/>
                    <a:lstStyle/>
                    <a:p>
                      <a:pPr algn="l"/>
                      <a:r>
                        <a:rPr sz="1100">
                          <a:solidFill>
                            <a:srgbClr val="2C3E50"/>
                          </a:solidFill>
                          <a:latin typeface="Consolas"/>
                        </a:rPr>
                        <a:t>0.000</a:t>
                      </a:r>
                    </a:p>
                  </a:txBody>
                  <a:tcPr marL="73152" marR="36576" marT="18288" marB="18288">
                    <a:solidFill>
                      <a:srgbClr val="FFFFFF"/>
                    </a:solidFill>
                  </a:tcPr>
                </a:tc>
                <a:tc>
                  <a:txBody>
                    <a:bodyPr/>
                    <a:lstStyle/>
                    <a:p>
                      <a:pPr algn="l"/>
                      <a:r>
                        <a:rPr sz="1100">
                          <a:solidFill>
                            <a:srgbClr val="2C3E50"/>
                          </a:solidFill>
                          <a:latin typeface="Consolas"/>
                        </a:rPr>
                        <a:t>0.000</a:t>
                      </a:r>
                    </a:p>
                  </a:txBody>
                  <a:tcPr marL="73152" marR="36576" marT="18288" marB="18288">
                    <a:solidFill>
                      <a:srgbClr val="FFFFFF"/>
                    </a:solidFill>
                  </a:tcPr>
                </a:tc>
                <a:tc>
                  <a:txBody>
                    <a:bodyPr/>
                    <a:lstStyle/>
                    <a:p>
                      <a:pPr algn="l"/>
                      <a:r>
                        <a:rPr sz="1100">
                          <a:solidFill>
                            <a:srgbClr val="2C3E50"/>
                          </a:solidFill>
                          <a:latin typeface="Consolas"/>
                        </a:rPr>
                        <a:t>6.000 mm</a:t>
                      </a:r>
                    </a:p>
                  </a:txBody>
                  <a:tcPr marL="73152" marR="36576" marT="18288" marB="18288">
                    <a:solidFill>
                      <a:srgbClr val="FFFFFF"/>
                    </a:solidFill>
                  </a:tcPr>
                </a:tc>
                <a:tc>
                  <a:txBody>
                    <a:bodyPr/>
                    <a:lstStyle/>
                    <a:p>
                      <a:pPr algn="l"/>
                      <a:r>
                        <a:rPr sz="1100" b="1">
                          <a:solidFill>
                            <a:srgbClr val="27AE60"/>
                          </a:solidFill>
                          <a:latin typeface="Calibri"/>
                        </a:rPr>
                        <a:t>recovered</a:t>
                      </a:r>
                    </a:p>
                  </a:txBody>
                  <a:tcPr marL="73152" marR="36576" marT="18288" marB="18288">
                    <a:solidFill>
                      <a:srgbClr val="FFFFFF"/>
                    </a:solidFill>
                  </a:tcPr>
                </a:tc>
                <a:extLst>
                  <a:ext uri="{0D108BD9-81ED-4DB2-BD59-A6C34878D82A}">
                    <a16:rowId xmlns:a16="http://schemas.microsoft.com/office/drawing/2014/main" val="10006"/>
                  </a:ext>
                </a:extLst>
              </a:tr>
              <a:tr h="310896">
                <a:tc>
                  <a:txBody>
                    <a:bodyPr/>
                    <a:lstStyle/>
                    <a:p>
                      <a:pPr algn="l"/>
                      <a:r>
                        <a:rPr sz="1100">
                          <a:solidFill>
                            <a:srgbClr val="1A2332"/>
                          </a:solidFill>
                          <a:latin typeface="Calibri"/>
                        </a:rPr>
                        <a:t>noise 5% optimizer-end</a:t>
                      </a:r>
                    </a:p>
                  </a:txBody>
                  <a:tcPr marL="73152" marR="36576" marT="18288" marB="18288">
                    <a:solidFill>
                      <a:srgbClr val="F4F6F8"/>
                    </a:solidFill>
                  </a:tcPr>
                </a:tc>
                <a:tc>
                  <a:txBody>
                    <a:bodyPr/>
                    <a:lstStyle/>
                    <a:p>
                      <a:pPr algn="l"/>
                      <a:r>
                        <a:rPr sz="1100">
                          <a:solidFill>
                            <a:srgbClr val="2C3E50"/>
                          </a:solidFill>
                          <a:latin typeface="Consolas"/>
                        </a:rPr>
                        <a:t>6.09e-2</a:t>
                      </a:r>
                    </a:p>
                  </a:txBody>
                  <a:tcPr marL="73152" marR="36576" marT="18288" marB="18288">
                    <a:solidFill>
                      <a:srgbClr val="F4F6F8"/>
                    </a:solidFill>
                  </a:tcPr>
                </a:tc>
                <a:tc>
                  <a:txBody>
                    <a:bodyPr/>
                    <a:lstStyle/>
                    <a:p>
                      <a:pPr algn="l"/>
                      <a:r>
                        <a:rPr sz="1100">
                          <a:solidFill>
                            <a:srgbClr val="2C3E50"/>
                          </a:solidFill>
                          <a:latin typeface="Consolas"/>
                        </a:rPr>
                        <a:t>1.000</a:t>
                      </a:r>
                    </a:p>
                  </a:txBody>
                  <a:tcPr marL="73152" marR="36576" marT="18288" marB="18288">
                    <a:solidFill>
                      <a:srgbClr val="F4F6F8"/>
                    </a:solidFill>
                  </a:tcPr>
                </a:tc>
                <a:tc>
                  <a:txBody>
                    <a:bodyPr/>
                    <a:lstStyle/>
                    <a:p>
                      <a:pPr algn="l"/>
                      <a:r>
                        <a:rPr sz="1100">
                          <a:solidFill>
                            <a:srgbClr val="2C3E50"/>
                          </a:solidFill>
                          <a:latin typeface="Consolas"/>
                        </a:rPr>
                        <a:t>0.003</a:t>
                      </a:r>
                    </a:p>
                  </a:txBody>
                  <a:tcPr marL="73152" marR="36576" marT="18288" marB="18288">
                    <a:solidFill>
                      <a:srgbClr val="F4F6F8"/>
                    </a:solidFill>
                  </a:tcPr>
                </a:tc>
                <a:tc>
                  <a:txBody>
                    <a:bodyPr/>
                    <a:lstStyle/>
                    <a:p>
                      <a:pPr algn="l"/>
                      <a:r>
                        <a:rPr sz="1100">
                          <a:solidFill>
                            <a:srgbClr val="2C3E50"/>
                          </a:solidFill>
                          <a:latin typeface="Consolas"/>
                        </a:rPr>
                        <a:t>0.006</a:t>
                      </a:r>
                    </a:p>
                  </a:txBody>
                  <a:tcPr marL="73152" marR="36576" marT="18288" marB="18288">
                    <a:solidFill>
                      <a:srgbClr val="F4F6F8"/>
                    </a:solidFill>
                  </a:tcPr>
                </a:tc>
                <a:tc>
                  <a:txBody>
                    <a:bodyPr/>
                    <a:lstStyle/>
                    <a:p>
                      <a:pPr algn="l"/>
                      <a:r>
                        <a:rPr sz="1100">
                          <a:solidFill>
                            <a:srgbClr val="2C3E50"/>
                          </a:solidFill>
                          <a:latin typeface="Consolas"/>
                        </a:rPr>
                        <a:t>6.973 mm</a:t>
                      </a:r>
                    </a:p>
                  </a:txBody>
                  <a:tcPr marL="73152" marR="36576" marT="18288" marB="18288">
                    <a:solidFill>
                      <a:srgbClr val="F4F6F8"/>
                    </a:solidFill>
                  </a:tcPr>
                </a:tc>
                <a:tc>
                  <a:txBody>
                    <a:bodyPr/>
                    <a:lstStyle/>
                    <a:p>
                      <a:pPr algn="l"/>
                      <a:r>
                        <a:rPr sz="1100" b="1" dirty="0">
                          <a:solidFill>
                            <a:srgbClr val="C0392B"/>
                          </a:solidFill>
                          <a:latin typeface="Calibri"/>
                        </a:rPr>
                        <a:t>wrong radius, phase-safe</a:t>
                      </a:r>
                    </a:p>
                  </a:txBody>
                  <a:tcPr marL="73152" marR="36576" marT="18288" marB="18288">
                    <a:solidFill>
                      <a:srgbClr val="F4F6F8"/>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365760" y="5440680"/>
            <a:ext cx="11475720" cy="100584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2920" y="5477256"/>
            <a:ext cx="11155680" cy="365760"/>
          </a:xfrm>
          <a:prstGeom prst="rect">
            <a:avLst/>
          </a:prstGeom>
          <a:noFill/>
        </p:spPr>
        <p:txBody>
          <a:bodyPr wrap="square">
            <a:spAutoFit/>
          </a:bodyPr>
          <a:lstStyle/>
          <a:p>
            <a:pPr algn="l">
              <a:defRPr sz="1200" b="1" i="0">
                <a:solidFill>
                  <a:srgbClr val="1A2332"/>
                </a:solidFill>
                <a:latin typeface="Calibri"/>
              </a:defRPr>
            </a:pPr>
            <a:r>
              <a:t>What this means</a:t>
            </a:r>
          </a:p>
        </p:txBody>
      </p:sp>
      <p:sp>
        <p:nvSpPr>
          <p:cNvPr id="12" name="TextBox 11"/>
          <p:cNvSpPr txBox="1"/>
          <p:nvPr/>
        </p:nvSpPr>
        <p:spPr>
          <a:xfrm>
            <a:off x="502920" y="5779008"/>
            <a:ext cx="11155680" cy="640080"/>
          </a:xfrm>
          <a:prstGeom prst="rect">
            <a:avLst/>
          </a:prstGeom>
          <a:noFill/>
        </p:spPr>
        <p:txBody>
          <a:bodyPr wrap="square">
            <a:spAutoFit/>
          </a:bodyPr>
          <a:lstStyle/>
          <a:p>
            <a:pPr algn="l">
              <a:defRPr sz="1100" b="0" i="0">
                <a:solidFill>
                  <a:srgbClr val="2C3E50"/>
                </a:solidFill>
                <a:latin typeface="Calibri"/>
              </a:defRPr>
            </a:pPr>
            <a:r>
              <a:rPr dirty="0"/>
              <a:t>Every candidate — including the wrong-radius Powell solutions at all noise levels — already sits at NRCCC = 1.0. The wrong-radius rows have a tiny non-zero median RCCC (≈ 0.003, i.e. 0.3% of a dominant period), but that is far below the 0.5 half-period gate. So the radius failure is not a phase / cycle-skipping problem; an OT objective designed for cycle skips cannot help here. Decision: rule the OT branch out for this problem; keep the NRCCC diagnostic for field-data 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02</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0" y="2103120"/>
            <a:ext cx="8046720" cy="1645920"/>
          </a:xfrm>
          <a:prstGeom prst="rect">
            <a:avLst/>
          </a:prstGeom>
          <a:noFill/>
        </p:spPr>
        <p:txBody>
          <a:bodyPr wrap="square">
            <a:spAutoFit/>
          </a:bodyPr>
          <a:lstStyle/>
          <a:p>
            <a:pPr>
              <a:defRPr sz="3400" b="1">
                <a:solidFill>
                  <a:srgbClr val="FFFFFF"/>
                </a:solidFill>
                <a:latin typeface="Calibri"/>
              </a:defRPr>
            </a:pPr>
            <a:r>
              <a:t>Bandwidth scheduling</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PEBDD first pass, then a spectrum-driven re-design</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First PEBDD attempt with guessed bands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Same band-pass filter applied to observed and synthetic traces (matched-filter design)</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028–033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15</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A staged objective that starts in a low frequency band and expands the high cut should reduce the high-radius Powell bias (the wrong local minimum at r ≈ 6.95 mm that the derivative-free SciPy Powell optimiser keeps finding) before the polish stage.</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a trace-filter helper and a staged runner. First schedule used 0.2–0.8 then 0.2–1.1 then full band, with a final coarse polish. Also ran controls without polish and a polish-only path from the low-band seed.</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Exact data: low-band Powell did move radius closer to the truth, but full-band Powell pulled it back.</a:t>
            </a:r>
          </a:p>
          <a:p>
            <a:pPr>
              <a:spcAft>
                <a:spcPts val="600"/>
              </a:spcAft>
              <a:defRPr sz="1400">
                <a:solidFill>
                  <a:srgbClr val="2C3E50"/>
                </a:solidFill>
                <a:latin typeface="Calibri"/>
              </a:defRPr>
            </a:pPr>
            <a:r>
              <a:t>Noise: the low-band stage stayed in the high-radius basin.</a:t>
            </a:r>
          </a:p>
          <a:p>
            <a:pPr>
              <a:spcAft>
                <a:spcPts val="600"/>
              </a:spcAft>
              <a:defRPr sz="1400">
                <a:solidFill>
                  <a:srgbClr val="2C3E50"/>
                </a:solidFill>
                <a:latin typeface="Calibri"/>
              </a:defRPr>
            </a:pPr>
            <a:r>
              <a:t>Polish remained the reliable radius selector in every variant.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Radius across first-pass PEBDD variants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Single-frequency 1.5 GHz, 5 scan positions (PEBDD = progressively expanded bandwidths of the data)</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029–033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16</a:t>
            </a:r>
          </a:p>
        </p:txBody>
      </p:sp>
      <p:pic>
        <p:nvPicPr>
          <p:cNvPr id="8" name="Picture 7" descr="pebdd_first_pass_radius.png"/>
          <p:cNvPicPr>
            <a:picLocks noChangeAspect="1"/>
          </p:cNvPicPr>
          <p:nvPr/>
        </p:nvPicPr>
        <p:blipFill>
          <a:blip r:embed="rId3"/>
          <a:stretch>
            <a:fillRect/>
          </a:stretch>
        </p:blipFill>
        <p:spPr>
          <a:xfrm>
            <a:off x="438287" y="1280160"/>
            <a:ext cx="11315119"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Each bar is the recovered radius at the end of one run. 'Powell' is SciPy's derivative-free local optimiser; 'polish' is a deterministic small (z, r) grid search after Powell. Polish is the only step that lands on 6.0 mm; full-band Powell without polish returns to the high-radius basin (r ≈ 6.95 mm) — the wrong local minimum it consistently finds.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 1: low-band Powell</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0.2–0.8 GHz objective; full unfiltered traces still used for NRMS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029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17</a:t>
            </a:r>
          </a:p>
        </p:txBody>
      </p:sp>
      <p:pic>
        <p:nvPicPr>
          <p:cNvPr id="8" name="Picture 7" descr="single_rebar_model_comparison.png"/>
          <p:cNvPicPr>
            <a:picLocks noChangeAspect="1"/>
          </p:cNvPicPr>
          <p:nvPr/>
        </p:nvPicPr>
        <p:blipFill>
          <a:blip r:embed="rId3"/>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Stage-1 recovered r = 6.573 mm at x ≈ 249.8, z ≈ 90.6 mm. The low band moved radius toward the truth but did not reach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 2: expanded to 0.2–1.1 GHz</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Bandwidth expansion from the stage-1 seed (same band-pass on observed and synthetic)</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030</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18</a:t>
            </a:r>
          </a:p>
        </p:txBody>
      </p:sp>
      <p:pic>
        <p:nvPicPr>
          <p:cNvPr id="8" name="Picture 7" descr="single_rebar_model_comparison.png"/>
          <p:cNvPicPr>
            <a:picLocks noChangeAspect="1"/>
          </p:cNvPicPr>
          <p:nvPr/>
        </p:nvPicPr>
        <p:blipFill>
          <a:blip r:embed="rId3"/>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Recovered r drifts back up to 6.864 mm. Expanding the band re-introduces the depth–radius coupling (a slightly deeper rebar trades against a slightly larger radius to produce a near-identical waveform).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 3: full band +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Full-band Powell from stage 2, then a deterministic coarse grid polish</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031</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19</a:t>
            </a:r>
          </a:p>
        </p:txBody>
      </p:sp>
      <p:pic>
        <p:nvPicPr>
          <p:cNvPr id="8" name="Picture 7" descr="single_rebar_model_comparison.png"/>
          <p:cNvPicPr>
            <a:picLocks noChangeAspect="1"/>
          </p:cNvPicPr>
          <p:nvPr/>
        </p:nvPicPr>
        <p:blipFill>
          <a:blip r:embed="rId3"/>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Polish recovers r = 6.000 mm (NRMS model = 0). Powell alone reverts to r = 6.955 mm before polish takes over — same wrong basin as the no-PEBDD path.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Control: full-band Powell, no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Same stage-1 seed, run full-band Powell without polish — isolates the bandwidth role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032</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20</a:t>
            </a:r>
          </a:p>
        </p:txBody>
      </p:sp>
      <p:pic>
        <p:nvPicPr>
          <p:cNvPr id="8" name="Picture 7" descr="single_rebar_model_comparison.png"/>
          <p:cNvPicPr>
            <a:picLocks noChangeAspect="1"/>
          </p:cNvPicPr>
          <p:nvPr/>
        </p:nvPicPr>
        <p:blipFill>
          <a:blip r:embed="rId3"/>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Final r = 6.955 mm. Confirms the regression we saw in stage 2 is the full-band Powell objective itself, not a specific staging choice.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Pragmatic path: stage 1 seed → polish only</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Skip full-band Powell; use low-band seed to enter the polish window</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21</a:t>
            </a:r>
          </a:p>
        </p:txBody>
      </p:sp>
      <p:pic>
        <p:nvPicPr>
          <p:cNvPr id="8" name="Picture 7" descr="single_rebar_model_comparison.png"/>
          <p:cNvPicPr>
            <a:picLocks noChangeAspect="1"/>
          </p:cNvPicPr>
          <p:nvPr/>
        </p:nvPicPr>
        <p:blipFill>
          <a:blip r:embed="rId3"/>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Recovered r = 6.000 mm. The low-band seed plus polish is the cleanest staged path on exact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Noise variant: PEBDD seed + polish under noise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Experiments 034–037</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034–037</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22</a:t>
            </a:r>
          </a:p>
        </p:txBody>
      </p:sp>
      <p:sp>
        <p:nvSpPr>
          <p:cNvPr id="8" name="TextBox 7"/>
          <p:cNvSpPr txBox="1"/>
          <p:nvPr/>
        </p:nvSpPr>
        <p:spPr>
          <a:xfrm>
            <a:off x="640080" y="1280160"/>
            <a:ext cx="10972800" cy="1463040"/>
          </a:xfrm>
          <a:prstGeom prst="rect">
            <a:avLst/>
          </a:prstGeom>
          <a:noFill/>
        </p:spPr>
        <p:txBody>
          <a:bodyPr wrap="square">
            <a:spAutoFit/>
          </a:bodyPr>
          <a:lstStyle/>
          <a:p>
            <a:pPr>
              <a:spcAft>
                <a:spcPts val="600"/>
              </a:spcAft>
              <a:defRPr sz="1400">
                <a:solidFill>
                  <a:srgbClr val="2C3E50"/>
                </a:solidFill>
                <a:latin typeface="Calibri"/>
              </a:defRPr>
            </a:pPr>
            <a:r>
              <a:t>Under noise, the low-band Powell stage stops in the high-radius basin. The polish stage still recovers r = 6.0 mm.</a:t>
            </a:r>
          </a:p>
        </p:txBody>
      </p:sp>
      <p:sp>
        <p:nvSpPr>
          <p:cNvPr id="9" name="TextBox 8"/>
          <p:cNvSpPr txBox="1"/>
          <p:nvPr/>
        </p:nvSpPr>
        <p:spPr>
          <a:xfrm>
            <a:off x="640080" y="2834640"/>
            <a:ext cx="10283584" cy="1697901"/>
          </a:xfrm>
          <a:prstGeom prst="rect">
            <a:avLst/>
          </a:prstGeom>
          <a:noFill/>
        </p:spPr>
        <p:txBody>
          <a:bodyPr wrap="none">
            <a:spAutoFit/>
          </a:bodyPr>
          <a:lstStyle/>
          <a:p>
            <a:pPr>
              <a:spcAft>
                <a:spcPts val="200"/>
              </a:spcAft>
              <a:defRPr sz="1300">
                <a:solidFill>
                  <a:srgbClr val="2C3E50"/>
                </a:solidFill>
                <a:latin typeface="Consolas"/>
              </a:defRPr>
            </a:pPr>
            <a:r>
              <a:rPr sz="1600" dirty="0"/>
              <a:t>experiment                                       noise    </a:t>
            </a:r>
            <a:r>
              <a:rPr sz="1600" dirty="0" err="1"/>
              <a:t>powell</a:t>
            </a:r>
            <a:r>
              <a:rPr sz="1600" dirty="0"/>
              <a:t> r    polish r   NRMS data</a:t>
            </a:r>
          </a:p>
          <a:p>
            <a:pPr>
              <a:spcAft>
                <a:spcPts val="200"/>
              </a:spcAft>
              <a:defRPr sz="1300">
                <a:solidFill>
                  <a:srgbClr val="2C3E50"/>
                </a:solidFill>
                <a:latin typeface="Consolas"/>
              </a:defRPr>
            </a:pPr>
            <a:r>
              <a:rPr sz="1600" dirty="0"/>
              <a:t>------------------------------------------------------------------------------------------</a:t>
            </a:r>
          </a:p>
          <a:p>
            <a:pPr>
              <a:spcAft>
                <a:spcPts val="200"/>
              </a:spcAft>
              <a:defRPr sz="1300">
                <a:solidFill>
                  <a:srgbClr val="2C3E50"/>
                </a:solidFill>
                <a:latin typeface="Consolas"/>
              </a:defRPr>
            </a:pPr>
            <a:r>
              <a:rPr sz="1600" dirty="0"/>
              <a:t>034 stage 1, 5% noise                               5%    6.999 mm           -       5.09%</a:t>
            </a:r>
          </a:p>
          <a:p>
            <a:pPr>
              <a:spcAft>
                <a:spcPts val="200"/>
              </a:spcAft>
              <a:defRPr sz="1300">
                <a:solidFill>
                  <a:srgbClr val="2C3E50"/>
                </a:solidFill>
                <a:latin typeface="Consolas"/>
              </a:defRPr>
            </a:pPr>
            <a:r>
              <a:rPr sz="1600" dirty="0"/>
              <a:t>035 polish from stage 1, 5% noise                   5%           -    6.000 mm       5.02%</a:t>
            </a:r>
          </a:p>
          <a:p>
            <a:pPr>
              <a:spcAft>
                <a:spcPts val="200"/>
              </a:spcAft>
              <a:defRPr sz="1300">
                <a:solidFill>
                  <a:srgbClr val="2C3E50"/>
                </a:solidFill>
                <a:latin typeface="Consolas"/>
              </a:defRPr>
            </a:pPr>
            <a:r>
              <a:rPr sz="1600" dirty="0"/>
              <a:t>036 stage 1, 10% noise                             10%    6.927 mm           -      10.05%</a:t>
            </a:r>
          </a:p>
          <a:p>
            <a:pPr>
              <a:spcAft>
                <a:spcPts val="200"/>
              </a:spcAft>
              <a:defRPr sz="1300">
                <a:solidFill>
                  <a:srgbClr val="2C3E50"/>
                </a:solidFill>
                <a:latin typeface="Consolas"/>
              </a:defRPr>
            </a:pPr>
            <a:r>
              <a:rPr sz="1600" dirty="0"/>
              <a:t>037 polish from stage 1, 10% noise                 10%           -    6.000 mm      10.01%</a:t>
            </a:r>
          </a:p>
        </p:txBody>
      </p:sp>
      <p:sp>
        <p:nvSpPr>
          <p:cNvPr id="10" name="TextBox 9"/>
          <p:cNvSpPr txBox="1"/>
          <p:nvPr/>
        </p:nvSpPr>
        <p:spPr>
          <a:xfrm>
            <a:off x="640080" y="6035040"/>
            <a:ext cx="10972800" cy="457200"/>
          </a:xfrm>
          <a:prstGeom prst="rect">
            <a:avLst/>
          </a:prstGeom>
          <a:noFill/>
        </p:spPr>
        <p:txBody>
          <a:bodyPr wrap="square">
            <a:spAutoFit/>
          </a:bodyPr>
          <a:lstStyle/>
          <a:p>
            <a:pPr algn="l">
              <a:defRPr sz="1300" b="0" i="1">
                <a:solidFill>
                  <a:srgbClr val="E8913A"/>
                </a:solidFill>
                <a:latin typeface="Calibri"/>
              </a:defRPr>
            </a:pPr>
            <a:r>
              <a:t>Bandwidth scheduling helps move rough seeds; the polish is the radius selector.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Cumulative frequency — first try</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Add a 1.0 GHz source carrier alongside the 1.5 GHz one, average the two</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038–041</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23</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Adding a complementary source carrier frequency should help radius, in the spirit of WRI's cumulative-frequency strategy (low frequencies kept while higher ones are added).</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Added per-frequency objective contributions (the residual misfit split by source centre frequency, not just the average) to the summary, and ran a coarse grid polish at the known high-radius seed using two source frequencies (1.0 + 1.5 GHz).</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Polish still recovers r = 6.0 mm in this exact case.</a:t>
            </a:r>
          </a:p>
          <a:p>
            <a:pPr>
              <a:spcAft>
                <a:spcPts val="600"/>
              </a:spcAft>
              <a:defRPr sz="1400">
                <a:solidFill>
                  <a:srgbClr val="2C3E50"/>
                </a:solidFill>
                <a:latin typeface="Calibri"/>
              </a:defRPr>
            </a:pPr>
            <a:r>
              <a:t>But the per-frequency split shows that 1.0 GHz is a much weaker radius discriminator than 1.5 GHz.</a:t>
            </a:r>
          </a:p>
          <a:p>
            <a:pPr>
              <a:spcAft>
                <a:spcPts val="600"/>
              </a:spcAft>
              <a:defRPr sz="1400">
                <a:solidFill>
                  <a:srgbClr val="2C3E50"/>
                </a:solidFill>
                <a:latin typeface="Calibri"/>
              </a:defRPr>
            </a:pPr>
            <a:r>
              <a:t>Equal averaging dilutes the useful radius evidence.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Two-frequency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1.0 + 1.5 GHz objective, coarse polish from the high-radius seed</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040</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24</a:t>
            </a:r>
          </a:p>
        </p:txBody>
      </p:sp>
      <p:pic>
        <p:nvPicPr>
          <p:cNvPr id="8" name="Picture 7" descr="single_rebar_model_comparison.png"/>
          <p:cNvPicPr>
            <a:picLocks noChangeAspect="1"/>
          </p:cNvPicPr>
          <p:nvPr/>
        </p:nvPicPr>
        <p:blipFill>
          <a:blip r:embed="rId3"/>
          <a:stretch>
            <a:fillRect/>
          </a:stretch>
        </p:blipFill>
        <p:spPr>
          <a:xfrm>
            <a:off x="380847" y="1280160"/>
            <a:ext cx="11430000" cy="3324703"/>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Polished r = 6.000 mm. Per-frequency margins: 1.0 GHz = 3.56e-5, 1.5 GHz = 1.04e-3. The average dilutes the 1.5 GHz evidence by roughly half.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Designing PEBDD bands from real spectra</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Choose band edges from what the data actually contains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043–044</a:t>
            </a:r>
          </a:p>
        </p:txBody>
      </p:sp>
      <p:grpSp>
        <p:nvGrpSpPr>
          <p:cNvPr id="14" name="Group 13">
            <a:extLst>
              <a:ext uri="{FF2B5EF4-FFF2-40B4-BE49-F238E27FC236}">
                <a16:creationId xmlns:a16="http://schemas.microsoft.com/office/drawing/2014/main" id="{542C1757-6F30-1056-563E-0E3D4CF20B9A}"/>
              </a:ext>
            </a:extLst>
          </p:cNvPr>
          <p:cNvGrpSpPr/>
          <p:nvPr/>
        </p:nvGrpSpPr>
        <p:grpSpPr>
          <a:xfrm>
            <a:off x="640080" y="1371600"/>
            <a:ext cx="11368735" cy="5328836"/>
            <a:chOff x="640080" y="1371600"/>
            <a:chExt cx="11368735" cy="5328836"/>
          </a:xfrm>
        </p:grpSpPr>
        <p:sp>
          <p:nvSpPr>
            <p:cNvPr id="7" name="TextBox 6"/>
            <p:cNvSpPr txBox="1"/>
            <p:nvPr/>
          </p:nvSpPr>
          <p:spPr>
            <a:xfrm>
              <a:off x="11686291" y="6446520"/>
              <a:ext cx="322524" cy="253916"/>
            </a:xfrm>
            <a:prstGeom prst="rect">
              <a:avLst/>
            </a:prstGeom>
            <a:noFill/>
          </p:spPr>
          <p:txBody>
            <a:bodyPr wrap="none">
              <a:spAutoFit/>
            </a:bodyPr>
            <a:lstStyle/>
            <a:p>
              <a:pPr algn="r">
                <a:defRPr sz="1000">
                  <a:solidFill>
                    <a:srgbClr val="7F8C8D"/>
                  </a:solidFill>
                  <a:latin typeface="Calibri"/>
                </a:defRPr>
              </a:pPr>
              <a:r>
                <a:rPr sz="1050"/>
                <a:t>25</a:t>
              </a:r>
            </a:p>
          </p:txBody>
        </p:sp>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584775"/>
            </a:xfrm>
            <a:prstGeom prst="rect">
              <a:avLst/>
            </a:prstGeom>
            <a:noFill/>
          </p:spPr>
          <p:txBody>
            <a:bodyPr wrap="square">
              <a:spAutoFit/>
            </a:bodyPr>
            <a:lstStyle/>
            <a:p>
              <a:pPr algn="l">
                <a:defRPr sz="1400" b="0" i="0">
                  <a:solidFill>
                    <a:srgbClr val="2C3E50"/>
                  </a:solidFill>
                  <a:latin typeface="Calibri"/>
                </a:defRPr>
              </a:pPr>
              <a:r>
                <a:rPr sz="1600"/>
                <a:t>The guessed low band (0.2–0.8 GHz) may have contained almost none of the energy that distinguishes nearby radii. Choose bands from real signal/residual spectra instead.</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584775"/>
            </a:xfrm>
            <a:prstGeom prst="rect">
              <a:avLst/>
            </a:prstGeom>
            <a:noFill/>
          </p:spPr>
          <p:txBody>
            <a:bodyPr wrap="square">
              <a:spAutoFit/>
            </a:bodyPr>
            <a:lstStyle/>
            <a:p>
              <a:pPr algn="l">
                <a:defRPr sz="1400" b="0" i="0">
                  <a:solidFill>
                    <a:srgbClr val="2C3E50"/>
                  </a:solidFill>
                  <a:latin typeface="Calibri"/>
                </a:defRPr>
              </a:pPr>
              <a:r>
                <a:rPr sz="1600"/>
                <a:t>Built a spectrum-design runner. Saved source, observed and candidate-residual spectra for the true model, a near-radius (r = 6.2) candidate, and the known high-radius Powell candidate, with and without 10% noise.</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a:t>What we'll see</a:t>
              </a:r>
            </a:p>
          </p:txBody>
        </p:sp>
        <p:sp>
          <p:nvSpPr>
            <p:cNvPr id="13" name="TextBox 12"/>
            <p:cNvSpPr txBox="1"/>
            <p:nvPr/>
          </p:nvSpPr>
          <p:spPr>
            <a:xfrm>
              <a:off x="640080" y="4983480"/>
              <a:ext cx="10972800" cy="984885"/>
            </a:xfrm>
            <a:prstGeom prst="rect">
              <a:avLst/>
            </a:prstGeom>
            <a:noFill/>
          </p:spPr>
          <p:txBody>
            <a:bodyPr wrap="square">
              <a:spAutoFit/>
            </a:bodyPr>
            <a:lstStyle/>
            <a:p>
              <a:pPr>
                <a:spcAft>
                  <a:spcPts val="600"/>
                </a:spcAft>
                <a:defRPr sz="1400">
                  <a:solidFill>
                    <a:srgbClr val="2C3E50"/>
                  </a:solidFill>
                  <a:latin typeface="Calibri"/>
                </a:defRPr>
              </a:pPr>
              <a:r>
                <a:rPr sz="1600"/>
                <a:t>Radius-discriminating residual energy lives mostly above 1 GHz, peaking near 2 GHz.</a:t>
              </a:r>
            </a:p>
            <a:p>
              <a:pPr>
                <a:spcAft>
                  <a:spcPts val="600"/>
                </a:spcAft>
                <a:defRPr sz="1400">
                  <a:solidFill>
                    <a:srgbClr val="2C3E50"/>
                  </a:solidFill>
                  <a:latin typeface="Calibri"/>
                </a:defRPr>
              </a:pPr>
              <a:r>
                <a:rPr sz="1600"/>
                <a:t>The earlier 0.2–0.8 GHz band contained ≈ 2% of that energy.</a:t>
              </a:r>
            </a:p>
            <a:p>
              <a:pPr>
                <a:spcAft>
                  <a:spcPts val="600"/>
                </a:spcAft>
                <a:defRPr sz="1400">
                  <a:solidFill>
                    <a:srgbClr val="2C3E50"/>
                  </a:solidFill>
                  <a:latin typeface="Calibri"/>
                </a:defRPr>
              </a:pPr>
              <a:r>
                <a:rPr sz="1600"/>
                <a:t>Noise residual is broadband — useful as a stress test, not as a faithful field-noise model.</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Source wavelet spectrum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1.5 GHz Ricker pulse, FFT amplitude (Ricker = negative second derivative of a Gaussian)</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26</a:t>
            </a:r>
          </a:p>
        </p:txBody>
      </p:sp>
      <p:pic>
        <p:nvPicPr>
          <p:cNvPr id="8" name="Picture 7" descr="spectrum_source_cropped.png"/>
          <p:cNvPicPr>
            <a:picLocks noChangeAspect="1"/>
          </p:cNvPicPr>
          <p:nvPr/>
        </p:nvPicPr>
        <p:blipFill>
          <a:blip r:embed="rId3"/>
          <a:stretch>
            <a:fillRect/>
          </a:stretch>
        </p:blipFill>
        <p:spPr>
          <a:xfrm>
            <a:off x="582615" y="1280160"/>
            <a:ext cx="11026463"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Useful source band is roughly 0.75–2.5 GHz with peak at 1.5 GHz. x-axis cropped to 0–4 GHz for readability; the FDTD sampling rate (~250 GHz Nyquist) sets the figure's untrimmed extent.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Observed muted B-scan spectrum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Spectrum of the synthetic observed traces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27</a:t>
            </a:r>
          </a:p>
        </p:txBody>
      </p:sp>
      <p:pic>
        <p:nvPicPr>
          <p:cNvPr id="8" name="Picture 7" descr="spectrum_observed_cropped.png"/>
          <p:cNvPicPr>
            <a:picLocks noChangeAspect="1"/>
          </p:cNvPicPr>
          <p:nvPr/>
        </p:nvPicPr>
        <p:blipFill>
          <a:blip r:embed="rId3"/>
          <a:stretch>
            <a:fillRect/>
          </a:stretch>
        </p:blipFill>
        <p:spPr>
          <a:xfrm>
            <a:off x="582615" y="1280160"/>
            <a:ext cx="11026463"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Observed energy band 0.375–2.75 GHz, peak at 0.75 GHz. The medium and antenna geometry have shifted energy downward relative to the source spectrum.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Candidate residual spectra — the headline plot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What frequencies actually distinguish nearby radii (residual = synthetic − observed, then FFT amplitude)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28</a:t>
            </a:r>
          </a:p>
        </p:txBody>
      </p:sp>
      <p:pic>
        <p:nvPicPr>
          <p:cNvPr id="8" name="Picture 7" descr="spectrum_residual_cropped.png"/>
          <p:cNvPicPr>
            <a:picLocks noChangeAspect="1"/>
          </p:cNvPicPr>
          <p:nvPr/>
        </p:nvPicPr>
        <p:blipFill>
          <a:blip r:embed="rId3"/>
          <a:stretch>
            <a:fillRect/>
          </a:stretch>
        </p:blipFill>
        <p:spPr>
          <a:xfrm>
            <a:off x="582615" y="1280160"/>
            <a:ext cx="11026463"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Residual energy from a near-radius candidate (r = 6.2 mm) and the known high-radius Powell candidate (r ≈ 6.95 mm — Powell is SciPy's derivative-free local optimiser that consistently lands here) both peak near 2 GHz. Bands below 1 GHz carry almost none of the radius evidence.</a:t>
            </a:r>
          </a:p>
        </p:txBody>
      </p:sp>
      <p:sp>
        <p:nvSpPr>
          <p:cNvPr id="10" name="TextBox 9"/>
          <p:cNvSpPr txBox="1"/>
          <p:nvPr/>
        </p:nvSpPr>
        <p:spPr>
          <a:xfrm>
            <a:off x="640080" y="6126480"/>
            <a:ext cx="10972800" cy="457200"/>
          </a:xfrm>
          <a:prstGeom prst="rect">
            <a:avLst/>
          </a:prstGeom>
          <a:noFill/>
        </p:spPr>
        <p:txBody>
          <a:bodyPr wrap="square">
            <a:spAutoFit/>
          </a:bodyPr>
          <a:lstStyle/>
          <a:p>
            <a:pPr algn="l">
              <a:defRPr sz="1200" b="0" i="1">
                <a:solidFill>
                  <a:srgbClr val="E8913A"/>
                </a:solidFill>
                <a:latin typeface="Calibri"/>
              </a:defRPr>
            </a:pPr>
            <a:r>
              <a:t>This is why the first-pass 0.2–0.8 GHz schedule could not fix radius.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Faithful spectrum-derived PEBDD schedule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Run the new bands as a staged Powell + polish</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29</a:t>
            </a:r>
          </a:p>
        </p:txBody>
      </p:sp>
      <p:grpSp>
        <p:nvGrpSpPr>
          <p:cNvPr id="14" name="Group 13">
            <a:extLst>
              <a:ext uri="{FF2B5EF4-FFF2-40B4-BE49-F238E27FC236}">
                <a16:creationId xmlns:a16="http://schemas.microsoft.com/office/drawing/2014/main" id="{86D60D08-3FC5-DD14-1155-0A02048C7F6E}"/>
              </a:ext>
            </a:extLst>
          </p:cNvPr>
          <p:cNvGrpSpPr/>
          <p:nvPr/>
        </p:nvGrpSpPr>
        <p:grpSpPr>
          <a:xfrm>
            <a:off x="640080" y="1371600"/>
            <a:ext cx="10972800" cy="4596765"/>
            <a:chOff x="640080" y="1371600"/>
            <a:chExt cx="10972800" cy="4596765"/>
          </a:xfrm>
        </p:grpSpPr>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338554"/>
            </a:xfrm>
            <a:prstGeom prst="rect">
              <a:avLst/>
            </a:prstGeom>
            <a:noFill/>
          </p:spPr>
          <p:txBody>
            <a:bodyPr wrap="square">
              <a:spAutoFit/>
            </a:bodyPr>
            <a:lstStyle/>
            <a:p>
              <a:pPr algn="l">
                <a:defRPr sz="1400" b="0" i="0">
                  <a:solidFill>
                    <a:srgbClr val="2C3E50"/>
                  </a:solidFill>
                  <a:latin typeface="Calibri"/>
                </a:defRPr>
              </a:pPr>
              <a:r>
                <a:rPr sz="1600"/>
                <a:t>If the band edges were the problem, the spectrum-derived schedule should land Powell closer to the true radius before polish.</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584775"/>
            </a:xfrm>
            <a:prstGeom prst="rect">
              <a:avLst/>
            </a:prstGeom>
            <a:noFill/>
          </p:spPr>
          <p:txBody>
            <a:bodyPr wrap="square">
              <a:spAutoFit/>
            </a:bodyPr>
            <a:lstStyle/>
            <a:p>
              <a:pPr algn="l">
                <a:defRPr sz="1400" b="0" i="0">
                  <a:solidFill>
                    <a:srgbClr val="2C3E50"/>
                  </a:solidFill>
                  <a:latin typeface="Calibri"/>
                </a:defRPr>
              </a:pPr>
              <a:r>
                <a:rPr sz="1600"/>
                <a:t>Built a staged runner using the bands 0.35–1.10 → 0.35–1.50 → 0.35–2.00 → 0.35–2.50 GHz, then a final full-band coarse polish. Exact data, 5 sources, 1 mm grid.</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dirty="0"/>
                <a:t>What we'll see</a:t>
              </a:r>
            </a:p>
          </p:txBody>
        </p:sp>
        <p:sp>
          <p:nvSpPr>
            <p:cNvPr id="13" name="TextBox 12"/>
            <p:cNvSpPr txBox="1"/>
            <p:nvPr/>
          </p:nvSpPr>
          <p:spPr>
            <a:xfrm>
              <a:off x="640080" y="4983480"/>
              <a:ext cx="10972800" cy="984885"/>
            </a:xfrm>
            <a:prstGeom prst="rect">
              <a:avLst/>
            </a:prstGeom>
            <a:noFill/>
          </p:spPr>
          <p:txBody>
            <a:bodyPr wrap="square">
              <a:spAutoFit/>
            </a:bodyPr>
            <a:lstStyle/>
            <a:p>
              <a:pPr>
                <a:spcAft>
                  <a:spcPts val="600"/>
                </a:spcAft>
                <a:defRPr sz="1400">
                  <a:solidFill>
                    <a:srgbClr val="2C3E50"/>
                  </a:solidFill>
                  <a:latin typeface="Calibri"/>
                </a:defRPr>
              </a:pPr>
              <a:r>
                <a:rPr sz="1600"/>
                <a:t>x and z stay on target throughout.</a:t>
              </a:r>
            </a:p>
            <a:p>
              <a:pPr>
                <a:spcAft>
                  <a:spcPts val="600"/>
                </a:spcAft>
                <a:defRPr sz="1400">
                  <a:solidFill>
                    <a:srgbClr val="2C3E50"/>
                  </a:solidFill>
                  <a:latin typeface="Calibri"/>
                </a:defRPr>
              </a:pPr>
              <a:r>
                <a:rPr sz="1600"/>
                <a:t>Each Powell stage stops in the high-radius basin (r ≈ 6.86–6.93 mm).</a:t>
              </a:r>
            </a:p>
            <a:p>
              <a:pPr>
                <a:spcAft>
                  <a:spcPts val="600"/>
                </a:spcAft>
                <a:defRPr sz="1400">
                  <a:solidFill>
                    <a:srgbClr val="2C3E50"/>
                  </a:solidFill>
                  <a:latin typeface="Calibri"/>
                </a:defRPr>
              </a:pPr>
              <a:r>
                <a:rPr sz="1600"/>
                <a:t>Final full-band polish recovers r = 6.000 mm exactly.</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Stage-by-stage recovered radius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Spectrum-derived PEBDD schedule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30</a:t>
            </a:r>
          </a:p>
        </p:txBody>
      </p:sp>
      <p:pic>
        <p:nvPicPr>
          <p:cNvPr id="8" name="Picture 7" descr="pebdd_stage_progression.png"/>
          <p:cNvPicPr>
            <a:picLocks noChangeAspect="1"/>
          </p:cNvPicPr>
          <p:nvPr/>
        </p:nvPicPr>
        <p:blipFill>
          <a:blip r:embed="rId3"/>
          <a:stretch>
            <a:fillRect/>
          </a:stretch>
        </p:blipFill>
        <p:spPr>
          <a:xfrm>
            <a:off x="380847" y="1280160"/>
            <a:ext cx="11430000" cy="4240680"/>
          </a:xfrm>
          <a:prstGeom prst="rect">
            <a:avLst/>
          </a:prstGeom>
        </p:spPr>
      </p:pic>
      <p:sp>
        <p:nvSpPr>
          <p:cNvPr id="9" name="TextBox 8"/>
          <p:cNvSpPr txBox="1"/>
          <p:nvPr/>
        </p:nvSpPr>
        <p:spPr>
          <a:xfrm>
            <a:off x="640080" y="5669280"/>
            <a:ext cx="10972800" cy="276999"/>
          </a:xfrm>
          <a:prstGeom prst="rect">
            <a:avLst/>
          </a:prstGeom>
          <a:noFill/>
        </p:spPr>
        <p:txBody>
          <a:bodyPr wrap="square">
            <a:spAutoFit/>
          </a:bodyPr>
          <a:lstStyle/>
          <a:p>
            <a:pPr algn="ctr">
              <a:defRPr sz="1100" i="1">
                <a:solidFill>
                  <a:srgbClr val="7F8C8D"/>
                </a:solidFill>
                <a:latin typeface="Calibri"/>
              </a:defRPr>
            </a:pPr>
            <a:r>
              <a:rPr sz="1200" dirty="0"/>
              <a:t>Powell stages stay in the high-radius basin even as the band widens to 2.5 GHz. The final polish is the step that lands radius on truth.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Final full-band coarse polish — model comparison</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Final stage of the faithful PEBDD schedule (NRMS = normalised root-mean-square misfit)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31</a:t>
            </a:r>
          </a:p>
        </p:txBody>
      </p:sp>
      <p:pic>
        <p:nvPicPr>
          <p:cNvPr id="8" name="Picture 7" descr="single_rebar_model_comparison.png"/>
          <p:cNvPicPr>
            <a:picLocks noChangeAspect="1"/>
          </p:cNvPicPr>
          <p:nvPr/>
        </p:nvPicPr>
        <p:blipFill>
          <a:blip r:embed="rId3"/>
          <a:stretch>
            <a:fillRect/>
          </a:stretch>
        </p:blipFill>
        <p:spPr>
          <a:xfrm>
            <a:off x="380847" y="1280160"/>
            <a:ext cx="11430000" cy="3541481"/>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Recovered geometry matches truth on the 1 mm grid (NRMS model = 0, NRMS data = 0). Top polish candidates (J = least-squares waveform misfit; lower is better): r = 6.0 mm (J = 0), r = 6.2 mm (J = 1.04 × 10⁻³), r = 6.8 mm (J = 2.08 × 10⁻³).</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03</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Frequency weighting and W2</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Where to put the spectral evidence weight, and when not to</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Frequency-weighted radius margins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Five weight schemes evaluated on the same local x / z / r candidate grid</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046–049</a:t>
            </a:r>
          </a:p>
        </p:txBody>
      </p:sp>
      <p:grpSp>
        <p:nvGrpSpPr>
          <p:cNvPr id="14" name="Group 13">
            <a:extLst>
              <a:ext uri="{FF2B5EF4-FFF2-40B4-BE49-F238E27FC236}">
                <a16:creationId xmlns:a16="http://schemas.microsoft.com/office/drawing/2014/main" id="{30D46073-7B62-D2F5-1D42-E31288C3618B}"/>
              </a:ext>
            </a:extLst>
          </p:cNvPr>
          <p:cNvGrpSpPr/>
          <p:nvPr/>
        </p:nvGrpSpPr>
        <p:grpSpPr>
          <a:xfrm>
            <a:off x="640080" y="1371600"/>
            <a:ext cx="11368735" cy="5328836"/>
            <a:chOff x="640080" y="1371600"/>
            <a:chExt cx="11368735" cy="5328836"/>
          </a:xfrm>
        </p:grpSpPr>
        <p:sp>
          <p:nvSpPr>
            <p:cNvPr id="7" name="TextBox 6"/>
            <p:cNvSpPr txBox="1"/>
            <p:nvPr/>
          </p:nvSpPr>
          <p:spPr>
            <a:xfrm>
              <a:off x="11686291" y="6446520"/>
              <a:ext cx="322524" cy="253916"/>
            </a:xfrm>
            <a:prstGeom prst="rect">
              <a:avLst/>
            </a:prstGeom>
            <a:noFill/>
          </p:spPr>
          <p:txBody>
            <a:bodyPr wrap="none">
              <a:spAutoFit/>
            </a:bodyPr>
            <a:lstStyle/>
            <a:p>
              <a:pPr algn="r">
                <a:defRPr sz="1000">
                  <a:solidFill>
                    <a:srgbClr val="7F8C8D"/>
                  </a:solidFill>
                  <a:latin typeface="Calibri"/>
                </a:defRPr>
              </a:pPr>
              <a:r>
                <a:rPr sz="1050"/>
                <a:t>33</a:t>
              </a:r>
            </a:p>
          </p:txBody>
        </p:sp>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584775"/>
            </a:xfrm>
            <a:prstGeom prst="rect">
              <a:avLst/>
            </a:prstGeom>
            <a:noFill/>
          </p:spPr>
          <p:txBody>
            <a:bodyPr wrap="square">
              <a:spAutoFit/>
            </a:bodyPr>
            <a:lstStyle/>
            <a:p>
              <a:pPr algn="l">
                <a:defRPr sz="1400" b="0" i="0">
                  <a:solidFill>
                    <a:srgbClr val="2C3E50"/>
                  </a:solidFill>
                  <a:latin typeface="Calibri"/>
                </a:defRPr>
              </a:pPr>
              <a:r>
                <a:rPr sz="1600"/>
                <a:t>If multi-frequency information is genuinely useful for radius, some weighted combination should beat single-frequency LS (least squares).</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830997"/>
            </a:xfrm>
            <a:prstGeom prst="rect">
              <a:avLst/>
            </a:prstGeom>
            <a:noFill/>
          </p:spPr>
          <p:txBody>
            <a:bodyPr wrap="square">
              <a:spAutoFit/>
            </a:bodyPr>
            <a:lstStyle/>
            <a:p>
              <a:pPr algn="l">
                <a:defRPr sz="1400" b="0" i="0">
                  <a:solidFill>
                    <a:srgbClr val="2C3E50"/>
                  </a:solidFill>
                  <a:latin typeface="Calibri"/>
                </a:defRPr>
              </a:pPr>
              <a:r>
                <a:rPr sz="1600" dirty="0"/>
                <a:t>Built a frequency-weight matrix runner. Swept radius 5.4–7.8 mm at four depths under five weight schemes: </a:t>
              </a:r>
              <a:r>
                <a:rPr sz="1600" dirty="0" err="1"/>
                <a:t>low_only</a:t>
              </a:r>
              <a:r>
                <a:rPr sz="1600" dirty="0"/>
                <a:t> (1.0 GHz alone), </a:t>
              </a:r>
              <a:r>
                <a:rPr sz="1600" dirty="0" err="1"/>
                <a:t>onepointfive_only</a:t>
              </a:r>
              <a:r>
                <a:rPr sz="1600" dirty="0"/>
                <a:t> (1.5 GHz alone), unweighted (equal average), carry_low_25 (0.25 × 1.0 GHz + 1.0 × 1.5 GHz), carry_low_50 (0.5 × 1.0 GHz + 1.0 × 1.5 GHz). Ran exact, 5% noise, and 10% noise versions.</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a:t>What we'll see</a:t>
              </a:r>
            </a:p>
          </p:txBody>
        </p:sp>
        <p:sp>
          <p:nvSpPr>
            <p:cNvPr id="13" name="TextBox 12"/>
            <p:cNvSpPr txBox="1"/>
            <p:nvPr/>
          </p:nvSpPr>
          <p:spPr>
            <a:xfrm>
              <a:off x="640080" y="4983480"/>
              <a:ext cx="10972800" cy="984885"/>
            </a:xfrm>
            <a:prstGeom prst="rect">
              <a:avLst/>
            </a:prstGeom>
            <a:noFill/>
          </p:spPr>
          <p:txBody>
            <a:bodyPr wrap="square">
              <a:spAutoFit/>
            </a:bodyPr>
            <a:lstStyle/>
            <a:p>
              <a:pPr>
                <a:spcAft>
                  <a:spcPts val="600"/>
                </a:spcAft>
                <a:defRPr sz="1400">
                  <a:solidFill>
                    <a:srgbClr val="2C3E50"/>
                  </a:solidFill>
                  <a:latin typeface="Calibri"/>
                </a:defRPr>
              </a:pPr>
              <a:r>
                <a:rPr sz="1600"/>
                <a:t>low_only has the weakest radius margin (30x smaller than 1.5 GHz alone).</a:t>
              </a:r>
            </a:p>
            <a:p>
              <a:pPr>
                <a:spcAft>
                  <a:spcPts val="600"/>
                </a:spcAft>
                <a:defRPr sz="1400">
                  <a:solidFill>
                    <a:srgbClr val="2C3E50"/>
                  </a:solidFill>
                  <a:latin typeface="Calibri"/>
                </a:defRPr>
              </a:pPr>
              <a:r>
                <a:rPr sz="1600"/>
                <a:t>Unweighted averaging cuts the radius margin nearly in half.</a:t>
              </a:r>
            </a:p>
            <a:p>
              <a:pPr>
                <a:spcAft>
                  <a:spcPts val="600"/>
                </a:spcAft>
                <a:defRPr sz="1400">
                  <a:solidFill>
                    <a:srgbClr val="2C3E50"/>
                  </a:solidFill>
                  <a:latin typeface="Calibri"/>
                </a:defRPr>
              </a:pPr>
              <a:r>
                <a:rPr sz="1600"/>
                <a:t>carry_low_25 preserves most of the 1.5 GHz margin while keeping low-frequency carry.</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Exact-data radius margin under five weight schemes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Common local x / z / r candidate grid evaluated for each scheme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046</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34</a:t>
            </a:r>
          </a:p>
        </p:txBody>
      </p:sp>
      <p:pic>
        <p:nvPicPr>
          <p:cNvPr id="8" name="Picture 7" descr="frequency_weight_radius_profiles.png"/>
          <p:cNvPicPr>
            <a:picLocks noChangeAspect="1"/>
          </p:cNvPicPr>
          <p:nvPr/>
        </p:nvPicPr>
        <p:blipFill>
          <a:blip r:embed="rId3"/>
          <a:stretch>
            <a:fillRect/>
          </a:stretch>
        </p:blipFill>
        <p:spPr>
          <a:xfrm>
            <a:off x="2427514" y="1280160"/>
            <a:ext cx="733666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Scheme legend — low_only: 1.0 GHz alone; onepointfive_only: 1.5 GHz alone; unweighted: equal 1.0 + 1.5 GHz average; carry_low_25 / carry_low_50: 0.25 (or 0.50) weight on 1.0 GHz plus full weight on 1.5 GHz. The deepest valley at r = 6.0 mm wins on radius discrimination; flatter curves are weaker.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Same conclusion under noise — 5% and 10%</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Side-by-side: 5% additive trace-RMS noise on the left, 10% on the right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047 + 049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35</a:t>
            </a:r>
          </a:p>
        </p:txBody>
      </p:sp>
      <p:pic>
        <p:nvPicPr>
          <p:cNvPr id="8" name="Picture 7" descr="freq_weight_noise_compare.png"/>
          <p:cNvPicPr>
            <a:picLocks noChangeAspect="1"/>
          </p:cNvPicPr>
          <p:nvPr/>
        </p:nvPicPr>
        <p:blipFill>
          <a:blip r:embed="rId3"/>
          <a:stretch>
            <a:fillRect/>
          </a:stretch>
        </p:blipFill>
        <p:spPr>
          <a:xfrm>
            <a:off x="380847" y="1280160"/>
            <a:ext cx="11430000" cy="3699541"/>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Margin = objective value at r = 6.2 mm minus value at r = 6.0 mm (larger margin → stronger radius discrimination). The headline numbers at 10% noise: 1.04 × 10⁻³ (1.5 GHz only), 8.4 × 10⁻⁴ (carry_low_25 = 0.25 × 1.0 GHz + 1.0 × 1.5 GHz), 5.4 × 10⁻⁴ (unweighted average), 3.1 × 10⁻⁵ (1.0 GHz only). Ranking is identical at 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W2 / Optimal Transport — gate 1</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Replicate the paper's shift-convexity claim on shifted Ricker pulses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36</a:t>
            </a:r>
          </a:p>
        </p:txBody>
      </p:sp>
      <p:grpSp>
        <p:nvGrpSpPr>
          <p:cNvPr id="14" name="Group 13">
            <a:extLst>
              <a:ext uri="{FF2B5EF4-FFF2-40B4-BE49-F238E27FC236}">
                <a16:creationId xmlns:a16="http://schemas.microsoft.com/office/drawing/2014/main" id="{8ED78074-C602-DD84-106F-62F3A1413F49}"/>
              </a:ext>
            </a:extLst>
          </p:cNvPr>
          <p:cNvGrpSpPr/>
          <p:nvPr/>
        </p:nvGrpSpPr>
        <p:grpSpPr>
          <a:xfrm>
            <a:off x="640080" y="1371600"/>
            <a:ext cx="10972800" cy="4596765"/>
            <a:chOff x="640080" y="1371600"/>
            <a:chExt cx="10972800" cy="4596765"/>
          </a:xfrm>
        </p:grpSpPr>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rPr sz="1600"/>
                <a:t>The W2 paper claims that quadratic Wasserstein with Softplus normalisation (log(1+e^(βx)) — turns a signed trace into a non-negative mass distribution) and Sinkhorn iterations (entropy-regularised cheap OT) is monotonic over time shifts where standard L2 has spurious local minima from oscillatory cancellation.</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584775"/>
            </a:xfrm>
            <a:prstGeom prst="rect">
              <a:avLst/>
            </a:prstGeom>
            <a:noFill/>
          </p:spPr>
          <p:txBody>
            <a:bodyPr wrap="square">
              <a:spAutoFit/>
            </a:bodyPr>
            <a:lstStyle/>
            <a:p>
              <a:pPr algn="l">
                <a:defRPr sz="1400" b="0" i="0">
                  <a:solidFill>
                    <a:srgbClr val="2C3E50"/>
                  </a:solidFill>
                  <a:latin typeface="Calibri"/>
                </a:defRPr>
              </a:pPr>
              <a:r>
                <a:rPr sz="1600"/>
                <a:t>Built a standalone Softplus / Sinkhorn W2 module. Computed both L2 and W2 over a −28 … +28 sample shift range for a Ricker pulse, with β ∈ {4, 8, 12} (Softplus scale) and ε = 0.02 (Sinkhorn entropy).</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a:t>What we'll see</a:t>
              </a:r>
            </a:p>
          </p:txBody>
        </p:sp>
        <p:sp>
          <p:nvSpPr>
            <p:cNvPr id="13" name="TextBox 12"/>
            <p:cNvSpPr txBox="1"/>
            <p:nvPr/>
          </p:nvSpPr>
          <p:spPr>
            <a:xfrm>
              <a:off x="640080" y="4983480"/>
              <a:ext cx="10972800" cy="984885"/>
            </a:xfrm>
            <a:prstGeom prst="rect">
              <a:avLst/>
            </a:prstGeom>
            <a:noFill/>
          </p:spPr>
          <p:txBody>
            <a:bodyPr wrap="square">
              <a:spAutoFit/>
            </a:bodyPr>
            <a:lstStyle/>
            <a:p>
              <a:pPr>
                <a:spcAft>
                  <a:spcPts val="600"/>
                </a:spcAft>
                <a:defRPr sz="1400">
                  <a:solidFill>
                    <a:srgbClr val="2C3E50"/>
                  </a:solidFill>
                  <a:latin typeface="Calibri"/>
                </a:defRPr>
              </a:pPr>
              <a:r>
                <a:rPr sz="1600"/>
                <a:t>L2 has 24 monotonicity violations across the tested shift range.</a:t>
              </a:r>
            </a:p>
            <a:p>
              <a:pPr>
                <a:spcAft>
                  <a:spcPts val="600"/>
                </a:spcAft>
                <a:defRPr sz="1400">
                  <a:solidFill>
                    <a:srgbClr val="2C3E50"/>
                  </a:solidFill>
                  <a:latin typeface="Calibri"/>
                </a:defRPr>
              </a:pPr>
              <a:r>
                <a:rPr sz="1600"/>
                <a:t>W2 is smoothly monotonic for every tested β.</a:t>
              </a:r>
            </a:p>
            <a:p>
              <a:pPr>
                <a:spcAft>
                  <a:spcPts val="600"/>
                </a:spcAft>
                <a:defRPr sz="1400">
                  <a:solidFill>
                    <a:srgbClr val="2C3E50"/>
                  </a:solidFill>
                  <a:latin typeface="Calibri"/>
                </a:defRPr>
              </a:pPr>
              <a:r>
                <a:rPr sz="1600"/>
                <a:t>Paper claim reproduced — but on shifted Ricker traces, not on the rebar problem.</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W2 trace convexity — paper claim holds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Softplus / Sinkhorn quadratic Wasserstein (W2) vs least-squares (L2) over shifted Ricker pulses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048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37</a:t>
            </a:r>
          </a:p>
        </p:txBody>
      </p:sp>
      <p:pic>
        <p:nvPicPr>
          <p:cNvPr id="8" name="Picture 7" descr="trace_w2_convexity.png"/>
          <p:cNvPicPr>
            <a:picLocks noChangeAspect="1"/>
          </p:cNvPicPr>
          <p:nvPr/>
        </p:nvPicPr>
        <p:blipFill>
          <a:blip r:embed="rId3"/>
          <a:stretch>
            <a:fillRect/>
          </a:stretch>
        </p:blipFill>
        <p:spPr>
          <a:xfrm>
            <a:off x="1046120" y="1280160"/>
            <a:ext cx="10099454"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L2 (left) shows the classical cycle-skip pattern: zero only at shift = 0, with a second 'mountain' that traps optimisers. W2 (right) is smooth and monotonic on both sides of zero for all three Softplus scales (β = 4 / 8 / 12) — the larger β, the sharper the curvature near zero.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W2 — gate 2 on the actual rebar landscape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Move quadratic Wasserstein (W2) from the shift smoke test to the radius problem</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050–051</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38</a:t>
            </a:r>
          </a:p>
        </p:txBody>
      </p:sp>
      <p:grpSp>
        <p:nvGrpSpPr>
          <p:cNvPr id="14" name="Group 13">
            <a:extLst>
              <a:ext uri="{FF2B5EF4-FFF2-40B4-BE49-F238E27FC236}">
                <a16:creationId xmlns:a16="http://schemas.microsoft.com/office/drawing/2014/main" id="{363112A4-92D7-0858-49D1-40BBCF2FE839}"/>
              </a:ext>
            </a:extLst>
          </p:cNvPr>
          <p:cNvGrpSpPr/>
          <p:nvPr/>
        </p:nvGrpSpPr>
        <p:grpSpPr>
          <a:xfrm>
            <a:off x="640080" y="1371600"/>
            <a:ext cx="10972800" cy="4349931"/>
            <a:chOff x="640080" y="1371600"/>
            <a:chExt cx="10972800" cy="4596765"/>
          </a:xfrm>
        </p:grpSpPr>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584775"/>
            </a:xfrm>
            <a:prstGeom prst="rect">
              <a:avLst/>
            </a:prstGeom>
            <a:noFill/>
          </p:spPr>
          <p:txBody>
            <a:bodyPr wrap="square">
              <a:spAutoFit/>
            </a:bodyPr>
            <a:lstStyle/>
            <a:p>
              <a:pPr algn="l">
                <a:defRPr sz="1400" b="0" i="0">
                  <a:solidFill>
                    <a:srgbClr val="2C3E50"/>
                  </a:solidFill>
                  <a:latin typeface="Calibri"/>
                </a:defRPr>
              </a:pPr>
              <a:r>
                <a:rPr sz="1600"/>
                <a:t>If W2's better convexity transfers to the rebar landscape, its margin (objective gap) between r = 6.0 mm and r = 6.2 mm should be comparable to or better than the standard least-squares (LS) margin.</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830997"/>
            </a:xfrm>
            <a:prstGeom prst="rect">
              <a:avLst/>
            </a:prstGeom>
            <a:noFill/>
          </p:spPr>
          <p:txBody>
            <a:bodyPr wrap="square">
              <a:spAutoFit/>
            </a:bodyPr>
            <a:lstStyle/>
            <a:p>
              <a:pPr algn="l">
                <a:defRPr sz="1400" b="0" i="0">
                  <a:solidFill>
                    <a:srgbClr val="2C3E50"/>
                  </a:solidFill>
                  <a:latin typeface="Calibri"/>
                </a:defRPr>
              </a:pPr>
              <a:r>
                <a:rPr sz="1600"/>
                <a:t>Evaluated the same Softplus / Sinkhorn W2 on the same local x / z / r candidate grid as the LS landscape (β = 8 = Softplus scale, ε = 0.02 = Sinkhorn entropy regularisation, ds = 8 / 16 = downsample factor for trace length; ds reduces the Sinkhorn cost by taking every nth sample of the trace).</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dirty="0"/>
                <a:t>What we'll see</a:t>
              </a:r>
            </a:p>
          </p:txBody>
        </p:sp>
        <p:sp>
          <p:nvSpPr>
            <p:cNvPr id="13" name="TextBox 12"/>
            <p:cNvSpPr txBox="1"/>
            <p:nvPr/>
          </p:nvSpPr>
          <p:spPr>
            <a:xfrm>
              <a:off x="640080" y="4983480"/>
              <a:ext cx="10972800" cy="984885"/>
            </a:xfrm>
            <a:prstGeom prst="rect">
              <a:avLst/>
            </a:prstGeom>
            <a:noFill/>
          </p:spPr>
          <p:txBody>
            <a:bodyPr wrap="square">
              <a:spAutoFit/>
            </a:bodyPr>
            <a:lstStyle/>
            <a:p>
              <a:pPr>
                <a:spcAft>
                  <a:spcPts val="600"/>
                </a:spcAft>
                <a:defRPr sz="1400">
                  <a:solidFill>
                    <a:srgbClr val="2C3E50"/>
                  </a:solidFill>
                  <a:latin typeface="Calibri"/>
                </a:defRPr>
              </a:pPr>
              <a:r>
                <a:rPr sz="1600" dirty="0"/>
                <a:t>LS margin (r=6.0 vs r=6.2): 1.04e-3.</a:t>
              </a:r>
            </a:p>
            <a:p>
              <a:pPr>
                <a:spcAft>
                  <a:spcPts val="600"/>
                </a:spcAft>
                <a:defRPr sz="1400">
                  <a:solidFill>
                    <a:srgbClr val="2C3E50"/>
                  </a:solidFill>
                  <a:latin typeface="Calibri"/>
                </a:defRPr>
              </a:pPr>
              <a:r>
                <a:rPr sz="1600" dirty="0"/>
                <a:t>W2 margin: 1.06e-7 (</a:t>
              </a:r>
              <a:r>
                <a:rPr sz="1600" dirty="0" err="1"/>
                <a:t>downsample</a:t>
              </a:r>
              <a:r>
                <a:rPr sz="1600" dirty="0"/>
                <a:t> 16); 1.03e-7 (</a:t>
              </a:r>
              <a:r>
                <a:rPr sz="1600" dirty="0" err="1"/>
                <a:t>downsample</a:t>
              </a:r>
              <a:r>
                <a:rPr sz="1600" dirty="0"/>
                <a:t> 8).</a:t>
              </a:r>
            </a:p>
            <a:p>
              <a:pPr>
                <a:spcAft>
                  <a:spcPts val="600"/>
                </a:spcAft>
                <a:defRPr sz="1400">
                  <a:solidFill>
                    <a:srgbClr val="2C3E50"/>
                  </a:solidFill>
                  <a:latin typeface="Calibri"/>
                </a:defRPr>
              </a:pPr>
              <a:r>
                <a:rPr sz="1600" dirty="0" err="1"/>
                <a:t>Softplus</a:t>
              </a:r>
              <a:r>
                <a:rPr sz="1600" dirty="0"/>
                <a:t> </a:t>
              </a:r>
              <a:r>
                <a:rPr sz="1600" dirty="0" err="1"/>
                <a:t>normalisation</a:t>
              </a:r>
              <a:r>
                <a:rPr sz="1600" dirty="0"/>
                <a:t> removes the amplitude content that radius depends on.</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W2 radius margin collapses on the rebar problem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Note the W2 y-axis is in units of 1 × 10⁻⁵</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050</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39</a:t>
            </a:r>
          </a:p>
        </p:txBody>
      </p:sp>
      <p:pic>
        <p:nvPicPr>
          <p:cNvPr id="8" name="Picture 7" descr="w2_radius_profiles.png"/>
          <p:cNvPicPr>
            <a:picLocks noChangeAspect="1"/>
          </p:cNvPicPr>
          <p:nvPr/>
        </p:nvPicPr>
        <p:blipFill>
          <a:blip r:embed="rId3"/>
          <a:stretch>
            <a:fillRect/>
          </a:stretch>
        </p:blipFill>
        <p:spPr>
          <a:xfrm>
            <a:off x="920412" y="1280160"/>
            <a:ext cx="10350871"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L2 = least squares (left): the familiar deep V at the true radius r = 6.0 mm. W2 = quadratic Wasserstein with Softplus normalisation (right): nearly flat — radius margin is 1.06 × 10⁻⁷ vs 1.04 × 10⁻³ for L2 (≈ 10 000× smaller). Softplus removed the amplitude content that radius depends on.</a:t>
            </a:r>
          </a:p>
        </p:txBody>
      </p:sp>
      <p:sp>
        <p:nvSpPr>
          <p:cNvPr id="10" name="TextBox 9"/>
          <p:cNvSpPr txBox="1"/>
          <p:nvPr/>
        </p:nvSpPr>
        <p:spPr>
          <a:xfrm>
            <a:off x="640080" y="6126480"/>
            <a:ext cx="10972800" cy="457200"/>
          </a:xfrm>
          <a:prstGeom prst="rect">
            <a:avLst/>
          </a:prstGeom>
          <a:noFill/>
        </p:spPr>
        <p:txBody>
          <a:bodyPr wrap="square">
            <a:spAutoFit/>
          </a:bodyPr>
          <a:lstStyle/>
          <a:p>
            <a:pPr algn="l">
              <a:defRPr sz="1200" b="0" i="1">
                <a:solidFill>
                  <a:srgbClr val="E8913A"/>
                </a:solidFill>
                <a:latin typeface="Calibri"/>
              </a:defRPr>
            </a:pPr>
            <a:r>
              <a:t>Decision: reject W2 as the final radius objective. Keep it as a basin diagnostic for field data.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Material tradeoff — does material explain radius?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Fixed x = 250, z = 90 mm; sweep radius × εr × σ (εr = relative permittivity / dielectric constant; σ = electrical conductivity, S/m)</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056</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40</a:t>
            </a:r>
          </a:p>
        </p:txBody>
      </p:sp>
      <p:sp>
        <p:nvSpPr>
          <p:cNvPr id="8" name="TextBox 7"/>
          <p:cNvSpPr txBox="1"/>
          <p:nvPr/>
        </p:nvSpPr>
        <p:spPr>
          <a:xfrm>
            <a:off x="548640" y="1371600"/>
            <a:ext cx="5669280" cy="4572000"/>
          </a:xfrm>
          <a:prstGeom prst="rect">
            <a:avLst/>
          </a:prstGeom>
          <a:noFill/>
        </p:spPr>
        <p:txBody>
          <a:bodyPr wrap="square">
            <a:spAutoFit/>
          </a:bodyPr>
          <a:lstStyle/>
          <a:p>
            <a:pPr>
              <a:spcAft>
                <a:spcPts val="800"/>
              </a:spcAft>
              <a:defRPr sz="1400">
                <a:solidFill>
                  <a:srgbClr val="2C3E50"/>
                </a:solidFill>
                <a:latin typeface="Calibri"/>
              </a:defRPr>
            </a:pPr>
            <a:r>
              <a:t>Hypothesis: at the correct (x, z) location, free material parameters could let a wrong radius still fit the data.</a:t>
            </a:r>
          </a:p>
          <a:p>
            <a:pPr>
              <a:spcAft>
                <a:spcPts val="800"/>
              </a:spcAft>
              <a:defRPr sz="1400">
                <a:solidFill>
                  <a:srgbClr val="2C3E50"/>
                </a:solidFill>
                <a:latin typeface="Calibri"/>
              </a:defRPr>
            </a:pPr>
            <a:r>
              <a:t>Sweep: r = 5.4–7.8 mm × εr ∈ {5.5, 6.0, 6.5} × log10 σ ∈ {5, 6, 7} S/m.</a:t>
            </a:r>
          </a:p>
          <a:p>
            <a:pPr>
              <a:spcAft>
                <a:spcPts val="800"/>
              </a:spcAft>
              <a:defRPr sz="1400">
                <a:solidFill>
                  <a:srgbClr val="2C3E50"/>
                </a:solidFill>
                <a:latin typeface="Calibri"/>
              </a:defRPr>
            </a:pPr>
            <a:endParaRPr/>
          </a:p>
          <a:p>
            <a:pPr>
              <a:spcAft>
                <a:spcPts val="800"/>
              </a:spcAft>
              <a:defRPr sz="1400">
                <a:solidFill>
                  <a:srgbClr val="2C3E50"/>
                </a:solidFill>
                <a:latin typeface="Calibri"/>
              </a:defRPr>
            </a:pPr>
            <a:r>
              <a:t>Result:</a:t>
            </a:r>
          </a:p>
          <a:p>
            <a:pPr lvl="1">
              <a:spcAft>
                <a:spcPts val="800"/>
              </a:spcAft>
              <a:defRPr sz="1400">
                <a:solidFill>
                  <a:srgbClr val="2C3E50"/>
                </a:solidFill>
                <a:latin typeface="Calibri"/>
              </a:defRPr>
            </a:pPr>
            <a:r>
              <a:t>• Best material set is the true one (εr = 6.0).</a:t>
            </a:r>
          </a:p>
          <a:p>
            <a:pPr lvl="1">
              <a:spcAft>
                <a:spcPts val="800"/>
              </a:spcAft>
              <a:defRPr sz="1400">
                <a:solidFill>
                  <a:srgbClr val="2C3E50"/>
                </a:solidFill>
                <a:latin typeface="Calibri"/>
              </a:defRPr>
            </a:pPr>
            <a:r>
              <a:t>• Rebar σ saturates above ≈ 10⁵ S/m (1e5, 1e6, 1e7 all behave the same — the rebar already acts as a perfect conductor).</a:t>
            </a:r>
          </a:p>
          <a:p>
            <a:pPr lvl="1">
              <a:spcAft>
                <a:spcPts val="800"/>
              </a:spcAft>
              <a:defRPr sz="1400">
                <a:solidFill>
                  <a:srgbClr val="2C3E50"/>
                </a:solidFill>
                <a:latin typeface="Calibri"/>
              </a:defRPr>
            </a:pPr>
            <a:r>
              <a:t>• Best radius is 6.0 mm; distinct-radius margin against r = 6.2 mm is J = 1.04 × 10⁻³ (J = least-squares misfit).</a:t>
            </a:r>
          </a:p>
          <a:p>
            <a:pPr>
              <a:spcAft>
                <a:spcPts val="800"/>
              </a:spcAft>
              <a:defRPr sz="1400">
                <a:solidFill>
                  <a:srgbClr val="2C3E50"/>
                </a:solidFill>
                <a:latin typeface="Calibri"/>
              </a:defRPr>
            </a:pPr>
            <a:endParaRPr/>
          </a:p>
          <a:p>
            <a:pPr>
              <a:spcAft>
                <a:spcPts val="800"/>
              </a:spcAft>
              <a:defRPr sz="1400">
                <a:solidFill>
                  <a:srgbClr val="2C3E50"/>
                </a:solidFill>
                <a:latin typeface="Calibri"/>
              </a:defRPr>
            </a:pPr>
            <a:r>
              <a:t>Decision: do not add material parameters to the radius optimiser at this stage.</a:t>
            </a:r>
          </a:p>
        </p:txBody>
      </p:sp>
      <p:pic>
        <p:nvPicPr>
          <p:cNvPr id="9" name="Picture 8" descr="material_profiled_radius.png"/>
          <p:cNvPicPr>
            <a:picLocks noChangeAspect="1"/>
          </p:cNvPicPr>
          <p:nvPr/>
        </p:nvPicPr>
        <p:blipFill>
          <a:blip r:embed="rId3"/>
          <a:stretch>
            <a:fillRect/>
          </a:stretch>
        </p:blipFill>
        <p:spPr>
          <a:xfrm>
            <a:off x="6400800" y="1280160"/>
            <a:ext cx="5577840" cy="33108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04</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Wavelet mismatch — the key new finding</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What breaks the pipeline first when we leave the synthetic comfort zone</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Source-wavelet mismatch — does radius survive?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Perturb only the observed source pulse; modelled source stays nominal</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052–055</a:t>
            </a:r>
          </a:p>
        </p:txBody>
      </p:sp>
      <p:grpSp>
        <p:nvGrpSpPr>
          <p:cNvPr id="15" name="Group 14">
            <a:extLst>
              <a:ext uri="{FF2B5EF4-FFF2-40B4-BE49-F238E27FC236}">
                <a16:creationId xmlns:a16="http://schemas.microsoft.com/office/drawing/2014/main" id="{9B423A81-10D9-5CA4-A322-6EB2B233ECFE}"/>
              </a:ext>
            </a:extLst>
          </p:cNvPr>
          <p:cNvGrpSpPr/>
          <p:nvPr/>
        </p:nvGrpSpPr>
        <p:grpSpPr>
          <a:xfrm>
            <a:off x="640080" y="1371600"/>
            <a:ext cx="11368735" cy="5328836"/>
            <a:chOff x="640080" y="1371600"/>
            <a:chExt cx="11368735" cy="5328836"/>
          </a:xfrm>
        </p:grpSpPr>
        <p:grpSp>
          <p:nvGrpSpPr>
            <p:cNvPr id="14" name="Group 13">
              <a:extLst>
                <a:ext uri="{FF2B5EF4-FFF2-40B4-BE49-F238E27FC236}">
                  <a16:creationId xmlns:a16="http://schemas.microsoft.com/office/drawing/2014/main" id="{17D9B963-AC15-147F-D64E-0FC6276357DB}"/>
                </a:ext>
              </a:extLst>
            </p:cNvPr>
            <p:cNvGrpSpPr/>
            <p:nvPr/>
          </p:nvGrpSpPr>
          <p:grpSpPr>
            <a:xfrm>
              <a:off x="640080" y="1371600"/>
              <a:ext cx="11368735" cy="5328836"/>
              <a:chOff x="640080" y="1371600"/>
              <a:chExt cx="11368735" cy="5328836"/>
            </a:xfrm>
          </p:grpSpPr>
          <p:sp>
            <p:nvSpPr>
              <p:cNvPr id="7" name="TextBox 6"/>
              <p:cNvSpPr txBox="1"/>
              <p:nvPr/>
            </p:nvSpPr>
            <p:spPr>
              <a:xfrm>
                <a:off x="11686291" y="6446520"/>
                <a:ext cx="322524" cy="253916"/>
              </a:xfrm>
              <a:prstGeom prst="rect">
                <a:avLst/>
              </a:prstGeom>
              <a:noFill/>
            </p:spPr>
            <p:txBody>
              <a:bodyPr wrap="none">
                <a:spAutoFit/>
              </a:bodyPr>
              <a:lstStyle/>
              <a:p>
                <a:pPr algn="r">
                  <a:defRPr sz="1000">
                    <a:solidFill>
                      <a:srgbClr val="7F8C8D"/>
                    </a:solidFill>
                    <a:latin typeface="Calibri"/>
                  </a:defRPr>
                </a:pPr>
                <a:r>
                  <a:rPr sz="1050"/>
                  <a:t>42</a:t>
                </a:r>
              </a:p>
            </p:txBody>
          </p:sp>
          <p:sp>
            <p:nvSpPr>
              <p:cNvPr id="8" name="TextBox 7"/>
              <p:cNvSpPr txBox="1"/>
              <p:nvPr/>
            </p:nvSpPr>
            <p:spPr>
              <a:xfrm>
                <a:off x="640080" y="1371600"/>
                <a:ext cx="10972800" cy="338554"/>
              </a:xfrm>
              <a:prstGeom prst="rect">
                <a:avLst/>
              </a:prstGeom>
              <a:noFill/>
            </p:spPr>
            <p:txBody>
              <a:bodyPr wrap="square">
                <a:spAutoFit/>
              </a:bodyPr>
              <a:lstStyle/>
              <a:p>
                <a:pPr algn="l">
                  <a:defRPr sz="1400" b="1" i="0">
                    <a:solidFill>
                      <a:srgbClr val="1A2332"/>
                    </a:solidFill>
                    <a:latin typeface="Calibri"/>
                  </a:defRPr>
                </a:pPr>
                <a:r>
                  <a:rPr sz="1600"/>
                  <a:t>Hypothesis</a:t>
                </a:r>
              </a:p>
            </p:txBody>
          </p:sp>
          <p:sp>
            <p:nvSpPr>
              <p:cNvPr id="9" name="TextBox 8"/>
              <p:cNvSpPr txBox="1"/>
              <p:nvPr/>
            </p:nvSpPr>
            <p:spPr>
              <a:xfrm>
                <a:off x="640080" y="1737360"/>
                <a:ext cx="10972800" cy="584775"/>
              </a:xfrm>
              <a:prstGeom prst="rect">
                <a:avLst/>
              </a:prstGeom>
              <a:noFill/>
            </p:spPr>
            <p:txBody>
              <a:bodyPr wrap="square">
                <a:spAutoFit/>
              </a:bodyPr>
              <a:lstStyle/>
              <a:p>
                <a:pPr algn="l">
                  <a:defRPr sz="1400" b="0" i="0">
                    <a:solidFill>
                      <a:srgbClr val="2C3E50"/>
                    </a:solidFill>
                    <a:latin typeface="Calibri"/>
                  </a:defRPr>
                </a:pPr>
                <a:r>
                  <a:rPr sz="1600"/>
                  <a:t>Real data don't have a perfectly known source pulse. If the observed source differs from the modelled one in amplitude, time-zero, or centre frequency (fc), does the radius selection still hold?</a:t>
                </a:r>
              </a:p>
            </p:txBody>
          </p:sp>
          <p:sp>
            <p:nvSpPr>
              <p:cNvPr id="10" name="TextBox 9"/>
              <p:cNvSpPr txBox="1"/>
              <p:nvPr/>
            </p:nvSpPr>
            <p:spPr>
              <a:xfrm>
                <a:off x="640080" y="2743200"/>
                <a:ext cx="10972800" cy="338554"/>
              </a:xfrm>
              <a:prstGeom prst="rect">
                <a:avLst/>
              </a:prstGeom>
              <a:noFill/>
            </p:spPr>
            <p:txBody>
              <a:bodyPr wrap="square">
                <a:spAutoFit/>
              </a:bodyPr>
              <a:lstStyle/>
              <a:p>
                <a:pPr algn="l">
                  <a:defRPr sz="1400" b="1" i="0">
                    <a:solidFill>
                      <a:srgbClr val="1A2332"/>
                    </a:solidFill>
                    <a:latin typeface="Calibri"/>
                  </a:defRPr>
                </a:pPr>
                <a:r>
                  <a:rPr sz="1600"/>
                  <a:t>What we did</a:t>
                </a:r>
              </a:p>
            </p:txBody>
          </p:sp>
          <p:sp>
            <p:nvSpPr>
              <p:cNvPr id="11" name="TextBox 10"/>
              <p:cNvSpPr txBox="1"/>
              <p:nvPr/>
            </p:nvSpPr>
            <p:spPr>
              <a:xfrm>
                <a:off x="640080" y="3108960"/>
                <a:ext cx="10972800" cy="1077218"/>
              </a:xfrm>
              <a:prstGeom prst="rect">
                <a:avLst/>
              </a:prstGeom>
              <a:noFill/>
            </p:spPr>
            <p:txBody>
              <a:bodyPr wrap="square">
                <a:spAutoFit/>
              </a:bodyPr>
              <a:lstStyle/>
              <a:p>
                <a:pPr algn="l">
                  <a:defRPr sz="1400" b="0" i="0">
                    <a:solidFill>
                      <a:srgbClr val="2C3E50"/>
                    </a:solidFill>
                    <a:latin typeface="Calibri"/>
                  </a:defRPr>
                </a:pPr>
                <a:r>
                  <a:rPr sz="1600"/>
                  <a:t>Built a wavelet-mismatch runner. Held the modelled source at nominal 1.5 GHz Ricker; perturbed only the observed source across seven cases. Case-code legend: nominal = no change; fc_low10 / fc_high10 = source centre frequency ×0.9 or ×1.1; delay_±50 ps = observed source shifted later (+50 ps) or earlier (−50 ps); amp_low10 / amp_high10 = observed source scaled by 0.9 or 1.1. Same local radius grid as the frequency-weighting matrix.</a:t>
                </a:r>
              </a:p>
            </p:txBody>
          </p:sp>
          <p:sp>
            <p:nvSpPr>
              <p:cNvPr id="12" name="TextBox 11"/>
              <p:cNvSpPr txBox="1"/>
              <p:nvPr/>
            </p:nvSpPr>
            <p:spPr>
              <a:xfrm>
                <a:off x="640080" y="4572000"/>
                <a:ext cx="10972800" cy="338554"/>
              </a:xfrm>
              <a:prstGeom prst="rect">
                <a:avLst/>
              </a:prstGeom>
              <a:noFill/>
            </p:spPr>
            <p:txBody>
              <a:bodyPr wrap="square">
                <a:spAutoFit/>
              </a:bodyPr>
              <a:lstStyle/>
              <a:p>
                <a:pPr algn="l">
                  <a:defRPr sz="1400" b="1" i="0">
                    <a:solidFill>
                      <a:srgbClr val="E8913A"/>
                    </a:solidFill>
                    <a:latin typeface="Calibri"/>
                  </a:defRPr>
                </a:pPr>
                <a:r>
                  <a:rPr sz="1600"/>
                  <a:t>What we'll see</a:t>
                </a:r>
              </a:p>
            </p:txBody>
          </p:sp>
        </p:grpSp>
        <p:sp>
          <p:nvSpPr>
            <p:cNvPr id="13" name="TextBox 12"/>
            <p:cNvSpPr txBox="1"/>
            <p:nvPr/>
          </p:nvSpPr>
          <p:spPr>
            <a:xfrm>
              <a:off x="640080" y="4983480"/>
              <a:ext cx="10972800" cy="984885"/>
            </a:xfrm>
            <a:prstGeom prst="rect">
              <a:avLst/>
            </a:prstGeom>
            <a:noFill/>
          </p:spPr>
          <p:txBody>
            <a:bodyPr wrap="square">
              <a:spAutoFit/>
            </a:bodyPr>
            <a:lstStyle/>
            <a:p>
              <a:pPr>
                <a:spcAft>
                  <a:spcPts val="600"/>
                </a:spcAft>
                <a:defRPr sz="1400">
                  <a:solidFill>
                    <a:srgbClr val="2C3E50"/>
                  </a:solidFill>
                  <a:latin typeface="Calibri"/>
                </a:defRPr>
              </a:pPr>
              <a:r>
                <a:rPr sz="1600" dirty="0"/>
                <a:t>Pure amplitude mismatch shifts the best radius by one grid step.</a:t>
              </a:r>
            </a:p>
            <a:p>
              <a:pPr>
                <a:spcAft>
                  <a:spcPts val="600"/>
                </a:spcAft>
                <a:defRPr sz="1400">
                  <a:solidFill>
                    <a:srgbClr val="2C3E50"/>
                  </a:solidFill>
                  <a:latin typeface="Calibri"/>
                </a:defRPr>
              </a:pPr>
              <a:r>
                <a:rPr sz="1600" dirty="0"/>
                <a:t>Pure </a:t>
              </a:r>
              <a:r>
                <a:rPr sz="1600" dirty="0" err="1"/>
                <a:t>centre</a:t>
              </a:r>
              <a:r>
                <a:rPr sz="1600" dirty="0"/>
                <a:t>-frequency or time-delay mismatch can peg the best radius to the grid bound (5.4 or 7.8 mm).</a:t>
              </a:r>
            </a:p>
            <a:p>
              <a:pPr>
                <a:spcAft>
                  <a:spcPts val="600"/>
                </a:spcAft>
                <a:defRPr sz="1400">
                  <a:solidFill>
                    <a:srgbClr val="2C3E50"/>
                  </a:solidFill>
                  <a:latin typeface="Calibri"/>
                </a:defRPr>
              </a:pPr>
              <a:r>
                <a:rPr sz="1600" dirty="0"/>
                <a:t>Adding source profiling one nuisance parameter at a time (amplitude → + time → + frequency-scale) recovers the true radius.</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Raw mismatch — radius pegged to the grid bound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Fixed-source least-squares (LS) with no nuisance parameters fit per candidate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052</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43</a:t>
            </a:r>
          </a:p>
        </p:txBody>
      </p:sp>
      <p:pic>
        <p:nvPicPr>
          <p:cNvPr id="8" name="Picture 7" descr="wavelet_mismatch_radius_profiles.png"/>
          <p:cNvPicPr>
            <a:picLocks noChangeAspect="1"/>
          </p:cNvPicPr>
          <p:nvPr/>
        </p:nvPicPr>
        <p:blipFill>
          <a:blip r:embed="rId3"/>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Case codes: fc_low10 / fc_high10 = observed centre frequency ×0.9 / ×1.1; delay_±50 ps = observed source shifted later / earlier by 50 ps; amp_low10 / amp_high10 = observed amplitude ×0.9 / ×1.1. Only the nominal and amp_low10 curves keep their minimum at r = 6.0 mm — the four fc / delay cases push the minimum to the lower (5.4 mm) or upper (7.8 mm) radius bound.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 amplitude scalar fit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Fix amplitude mismatch first — fit one scalar amplitude per candidate (closed form, essentially free)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053</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44</a:t>
            </a:r>
          </a:p>
        </p:txBody>
      </p:sp>
      <p:pic>
        <p:nvPicPr>
          <p:cNvPr id="8" name="Picture 7" descr="wavelet_mismatch_radius_profiles.png"/>
          <p:cNvPicPr>
            <a:picLocks noChangeAspect="1"/>
          </p:cNvPicPr>
          <p:nvPr/>
        </p:nvPicPr>
        <p:blipFill>
          <a:blip r:embed="rId3"/>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Amplitude mismatch is cleanly separated from radius. amp_high10 (observed amplitude ×1.1) returns to r = 6.0 mm; the four fc / delay cases (centre-frequency and time-shift perturbations) are unchanged.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 global time-shift grid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Add a small ±80 ps time-shift profile to the nuisance fit</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054</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45</a:t>
            </a:r>
          </a:p>
        </p:txBody>
      </p:sp>
      <p:pic>
        <p:nvPicPr>
          <p:cNvPr id="8" name="Picture 7" descr="wavelet_mismatch_radius_profiles.png"/>
          <p:cNvPicPr>
            <a:picLocks noChangeAspect="1"/>
          </p:cNvPicPr>
          <p:nvPr/>
        </p:nvPicPr>
        <p:blipFill>
          <a:blip r:embed="rId3"/>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Time-shift grid: {−80, −50, −25, 0, +25, +50, +80} ps applied globally per scan position (not per candidate). delay_±50 ps cases land back at r = 6.0 mm. The remaining failure is the fc_low10 / fc_high10 pair (centre-frequency ×0.9 / ×1.1) — bandwidth mismatch is not yet absorbed.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200" b="1">
                <a:solidFill>
                  <a:srgbClr val="1A2332"/>
                </a:solidFill>
                <a:latin typeface="Calibri"/>
              </a:defRPr>
            </a:pPr>
            <a:r>
              <a:t>+ frequency-scale profile — all cases recover</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Add a small centre-frequency scale grid (fc_scale ∈ {0.9, 1.0, 1.1}) to the source profile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055</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46</a:t>
            </a:r>
          </a:p>
        </p:txBody>
      </p:sp>
      <p:pic>
        <p:nvPicPr>
          <p:cNvPr id="8" name="Picture 7" descr="wavelet_mismatch_radius_profiles.png"/>
          <p:cNvPicPr>
            <a:picLocks noChangeAspect="1"/>
          </p:cNvPicPr>
          <p:nvPr/>
        </p:nvPicPr>
        <p:blipFill>
          <a:blip r:embed="rId3"/>
          <a:stretch>
            <a:fillRect/>
          </a:stretch>
        </p:blipFill>
        <p:spPr>
          <a:xfrm>
            <a:off x="2248684" y="1280160"/>
            <a:ext cx="7694326"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Per-candidate nuisance fit is now: amplitude scalar + global time-shift + centre-frequency scale. All seven mismatch cases collapse onto a clean V at the true r = 6.0 mm. Distinct-radius margin (objective gap to r = 6.2 mm) ranges from 4.55 × 10⁻⁴ (fc_low10) to 1.20 × 10⁻³ (fc_high10).</a:t>
            </a:r>
          </a:p>
        </p:txBody>
      </p:sp>
      <p:sp>
        <p:nvSpPr>
          <p:cNvPr id="10" name="TextBox 9"/>
          <p:cNvSpPr txBox="1"/>
          <p:nvPr/>
        </p:nvSpPr>
        <p:spPr>
          <a:xfrm>
            <a:off x="640080" y="6126480"/>
            <a:ext cx="10972800" cy="457200"/>
          </a:xfrm>
          <a:prstGeom prst="rect">
            <a:avLst/>
          </a:prstGeom>
          <a:noFill/>
        </p:spPr>
        <p:txBody>
          <a:bodyPr wrap="square">
            <a:spAutoFit/>
          </a:bodyPr>
          <a:lstStyle/>
          <a:p>
            <a:pPr algn="l">
              <a:defRPr sz="1200" b="0" i="1">
                <a:solidFill>
                  <a:srgbClr val="E8913A"/>
                </a:solidFill>
                <a:latin typeface="Calibri"/>
              </a:defRPr>
            </a:pPr>
            <a:r>
              <a:t>This is the most important new contribution of this arc.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05</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Source-profiled polish — synthesis</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Every surviving idea assembled into one runner</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Production source-profiled radius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What the recommended pipeline actually runs at the final stage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057–058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48</a:t>
            </a:r>
          </a:p>
        </p:txBody>
      </p:sp>
      <p:sp>
        <p:nvSpPr>
          <p:cNvPr id="8" name="TextBox 7"/>
          <p:cNvSpPr txBox="1"/>
          <p:nvPr/>
        </p:nvSpPr>
        <p:spPr>
          <a:xfrm>
            <a:off x="640080" y="1371600"/>
            <a:ext cx="10972800" cy="365760"/>
          </a:xfrm>
          <a:prstGeom prst="rect">
            <a:avLst/>
          </a:prstGeom>
          <a:noFill/>
        </p:spPr>
        <p:txBody>
          <a:bodyPr wrap="square">
            <a:spAutoFit/>
          </a:bodyPr>
          <a:lstStyle/>
          <a:p>
            <a:pPr algn="l">
              <a:defRPr sz="1400" b="1" i="0">
                <a:solidFill>
                  <a:srgbClr val="1A2332"/>
                </a:solidFill>
                <a:latin typeface="Calibri"/>
              </a:defRPr>
            </a:pPr>
            <a:r>
              <a:t>Hypothesis</a:t>
            </a:r>
          </a:p>
        </p:txBody>
      </p:sp>
      <p:sp>
        <p:nvSpPr>
          <p:cNvPr id="9" name="TextBox 8"/>
          <p:cNvSpPr txBox="1"/>
          <p:nvPr/>
        </p:nvSpPr>
        <p:spPr>
          <a:xfrm>
            <a:off x="640080" y="1737360"/>
            <a:ext cx="10972800" cy="822960"/>
          </a:xfrm>
          <a:prstGeom prst="rect">
            <a:avLst/>
          </a:prstGeom>
          <a:noFill/>
        </p:spPr>
        <p:txBody>
          <a:bodyPr wrap="square">
            <a:spAutoFit/>
          </a:bodyPr>
          <a:lstStyle/>
          <a:p>
            <a:pPr algn="l">
              <a:defRPr sz="1400" b="0" i="0">
                <a:solidFill>
                  <a:srgbClr val="2C3E50"/>
                </a:solidFill>
                <a:latin typeface="Calibri"/>
              </a:defRPr>
            </a:pPr>
            <a:r>
              <a:t>If the surviving ideas are right, a single runner that does (a) local x/z/r grid, (b) per-candidate amplitude + time-shift + frequency-scale source profile, and (c) top-k reporting should recover the true radius in both nominal and mismatched cases.</a:t>
            </a:r>
          </a:p>
        </p:txBody>
      </p:sp>
      <p:sp>
        <p:nvSpPr>
          <p:cNvPr id="10" name="TextBox 9"/>
          <p:cNvSpPr txBox="1"/>
          <p:nvPr/>
        </p:nvSpPr>
        <p:spPr>
          <a:xfrm>
            <a:off x="640080" y="2743200"/>
            <a:ext cx="10972800" cy="365760"/>
          </a:xfrm>
          <a:prstGeom prst="rect">
            <a:avLst/>
          </a:prstGeom>
          <a:noFill/>
        </p:spPr>
        <p:txBody>
          <a:bodyPr wrap="square">
            <a:spAutoFit/>
          </a:bodyPr>
          <a:lstStyle/>
          <a:p>
            <a:pPr algn="l">
              <a:defRPr sz="1400" b="1" i="0">
                <a:solidFill>
                  <a:srgbClr val="1A2332"/>
                </a:solidFill>
                <a:latin typeface="Calibri"/>
              </a:defRPr>
            </a:pPr>
            <a:r>
              <a:t>What we did</a:t>
            </a:r>
          </a:p>
        </p:txBody>
      </p:sp>
      <p:sp>
        <p:nvSpPr>
          <p:cNvPr id="11" name="TextBox 10"/>
          <p:cNvSpPr txBox="1"/>
          <p:nvPr/>
        </p:nvSpPr>
        <p:spPr>
          <a:xfrm>
            <a:off x="640080" y="3108960"/>
            <a:ext cx="10972800" cy="1280160"/>
          </a:xfrm>
          <a:prstGeom prst="rect">
            <a:avLst/>
          </a:prstGeom>
          <a:noFill/>
        </p:spPr>
        <p:txBody>
          <a:bodyPr wrap="square">
            <a:spAutoFit/>
          </a:bodyPr>
          <a:lstStyle/>
          <a:p>
            <a:pPr algn="l">
              <a:defRPr sz="1400" b="0" i="0">
                <a:solidFill>
                  <a:srgbClr val="2C3E50"/>
                </a:solidFill>
                <a:latin typeface="Calibri"/>
              </a:defRPr>
            </a:pPr>
            <a:r>
              <a:t>Built run_single_rebar_source_profiled_polish.py. Validated it on a nominal smoke run and a combined-mismatch run with injected fc = 1.1, shift = -50 ps, amplitude = 1.1.</a:t>
            </a:r>
          </a:p>
        </p:txBody>
      </p:sp>
      <p:sp>
        <p:nvSpPr>
          <p:cNvPr id="12" name="TextBox 11"/>
          <p:cNvSpPr txBox="1"/>
          <p:nvPr/>
        </p:nvSpPr>
        <p:spPr>
          <a:xfrm>
            <a:off x="640080" y="4572000"/>
            <a:ext cx="10972800" cy="365760"/>
          </a:xfrm>
          <a:prstGeom prst="rect">
            <a:avLst/>
          </a:prstGeom>
          <a:noFill/>
        </p:spPr>
        <p:txBody>
          <a:bodyPr wrap="square">
            <a:spAutoFit/>
          </a:bodyPr>
          <a:lstStyle/>
          <a:p>
            <a:pPr algn="l">
              <a:defRPr sz="1400" b="1" i="0">
                <a:solidFill>
                  <a:srgbClr val="E8913A"/>
                </a:solidFill>
                <a:latin typeface="Calibri"/>
              </a:defRPr>
            </a:pPr>
            <a:r>
              <a:t>What we'll see</a:t>
            </a:r>
          </a:p>
        </p:txBody>
      </p:sp>
      <p:sp>
        <p:nvSpPr>
          <p:cNvPr id="13" name="TextBox 12"/>
          <p:cNvSpPr txBox="1"/>
          <p:nvPr/>
        </p:nvSpPr>
        <p:spPr>
          <a:xfrm>
            <a:off x="640080" y="4983480"/>
            <a:ext cx="10972800" cy="1828800"/>
          </a:xfrm>
          <a:prstGeom prst="rect">
            <a:avLst/>
          </a:prstGeom>
          <a:noFill/>
        </p:spPr>
        <p:txBody>
          <a:bodyPr wrap="square">
            <a:spAutoFit/>
          </a:bodyPr>
          <a:lstStyle/>
          <a:p>
            <a:pPr>
              <a:spcAft>
                <a:spcPts val="600"/>
              </a:spcAft>
              <a:defRPr sz="1400">
                <a:solidFill>
                  <a:srgbClr val="2C3E50"/>
                </a:solidFill>
                <a:latin typeface="Calibri"/>
              </a:defRPr>
            </a:pPr>
            <a:r>
              <a:t>Nominal case: best r = 6.0 mm, margin 9.815e-4. Source profile recovers truth (fc=1.0, shift=0, amp=1.0).</a:t>
            </a:r>
          </a:p>
          <a:p>
            <a:pPr>
              <a:spcAft>
                <a:spcPts val="600"/>
              </a:spcAft>
              <a:defRPr sz="1400">
                <a:solidFill>
                  <a:srgbClr val="2C3E50"/>
                </a:solidFill>
                <a:latin typeface="Calibri"/>
              </a:defRPr>
            </a:pPr>
            <a:r>
              <a:t>Combined mismatch: best r = 6.0 mm, margin 1.146e-3. Source profile recovers fc=1.1, shift=-50 ps, amp=1.1.</a:t>
            </a:r>
          </a:p>
          <a:p>
            <a:pPr>
              <a:spcAft>
                <a:spcPts val="600"/>
              </a:spcAft>
              <a:defRPr sz="1400">
                <a:solidFill>
                  <a:srgbClr val="2C3E50"/>
                </a:solidFill>
                <a:latin typeface="Calibri"/>
              </a:defRPr>
            </a:pPr>
            <a:r>
              <a:t>Confidence is reported as top-k candidates and distinct-radius margin, not a single point estimate.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Nominal source-profiled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No injected source mismatch — confirms the runner reproduces the exact-synthetic case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057</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49</a:t>
            </a:r>
          </a:p>
        </p:txBody>
      </p:sp>
      <p:pic>
        <p:nvPicPr>
          <p:cNvPr id="8" name="Picture 7" descr="source_profiled_radius_profile.png"/>
          <p:cNvPicPr>
            <a:picLocks noChangeAspect="1"/>
          </p:cNvPicPr>
          <p:nvPr/>
        </p:nvPicPr>
        <p:blipFill>
          <a:blip r:embed="rId3"/>
          <a:stretch>
            <a:fillRect/>
          </a:stretch>
        </p:blipFill>
        <p:spPr>
          <a:xfrm>
            <a:off x="2343298" y="1280160"/>
            <a:ext cx="7505097"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Best r = 6.0 mm at (x = 250.0 mm, z = 90.0 mm). Recovered source profile lands at (fc_scale = 1.0 = unchanged centre frequency, shift = 0 ps, amp = 1.000 = unchanged amplitude). Next-distinct radius is r = 6.2 mm with objective gap 9.815 × 10⁻⁴.</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400" b="1">
                <a:solidFill>
                  <a:srgbClr val="1A2332"/>
                </a:solidFill>
                <a:latin typeface="Calibri"/>
              </a:defRPr>
            </a:pPr>
            <a:r>
              <a:t>Combined mismatch — joint recovery</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Injected fc_scale = 1.1, time shift = −50 ps, amp scale = 1.1 in the observed source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exp 058</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50</a:t>
            </a:r>
          </a:p>
        </p:txBody>
      </p:sp>
      <p:pic>
        <p:nvPicPr>
          <p:cNvPr id="8" name="Picture 7" descr="source_profiled_radius_profile.png"/>
          <p:cNvPicPr>
            <a:picLocks noChangeAspect="1"/>
          </p:cNvPicPr>
          <p:nvPr/>
        </p:nvPicPr>
        <p:blipFill>
          <a:blip r:embed="rId3"/>
          <a:stretch>
            <a:fillRect/>
          </a:stretch>
        </p:blipFill>
        <p:spPr>
          <a:xfrm>
            <a:off x="2343298" y="1280160"/>
            <a:ext cx="7505097" cy="4389120"/>
          </a:xfrm>
          <a:prstGeom prst="rect">
            <a:avLst/>
          </a:prstGeom>
        </p:spPr>
      </p:pic>
      <p:sp>
        <p:nvSpPr>
          <p:cNvPr id="9" name="TextBox 8"/>
          <p:cNvSpPr txBox="1"/>
          <p:nvPr/>
        </p:nvSpPr>
        <p:spPr>
          <a:xfrm>
            <a:off x="640080" y="5669280"/>
            <a:ext cx="10972800" cy="365760"/>
          </a:xfrm>
          <a:prstGeom prst="rect">
            <a:avLst/>
          </a:prstGeom>
          <a:noFill/>
        </p:spPr>
        <p:txBody>
          <a:bodyPr wrap="square">
            <a:spAutoFit/>
          </a:bodyPr>
          <a:lstStyle/>
          <a:p>
            <a:pPr algn="ctr">
              <a:defRPr sz="1100" i="1">
                <a:solidFill>
                  <a:srgbClr val="7F8C8D"/>
                </a:solidFill>
                <a:latin typeface="Calibri"/>
              </a:defRPr>
            </a:pPr>
            <a:r>
              <a:t>Best r = 6.0 mm at (x = 250.0 mm, z = 90.0 mm). Recovered source profile matches the injected one exactly: (fc_scale = 1.1, shift = −50 ps, amp = 1.100). Distinct-radius margin (J = least-squares misfit gap to next radius r = 6.2 mm) is 1.146 × 10⁻³.</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7200" b="1" i="0">
                <a:solidFill>
                  <a:srgbClr val="E8913A"/>
                </a:solidFill>
                <a:latin typeface="Calibri"/>
              </a:defRPr>
            </a:pPr>
            <a:r>
              <a:t>06</a:t>
            </a:r>
          </a:p>
        </p:txBody>
      </p:sp>
      <p:sp>
        <p:nvSpPr>
          <p:cNvPr id="4" name="Rectangle 3"/>
          <p:cNvSpPr/>
          <p:nvPr/>
        </p:nvSpPr>
        <p:spPr>
          <a:xfrm>
            <a:off x="3108960" y="2011680"/>
            <a:ext cx="36576" cy="219456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0" y="2103120"/>
            <a:ext cx="8046720" cy="1645920"/>
          </a:xfrm>
          <a:prstGeom prst="rect">
            <a:avLst/>
          </a:prstGeom>
          <a:noFill/>
        </p:spPr>
        <p:txBody>
          <a:bodyPr wrap="square">
            <a:spAutoFit/>
          </a:bodyPr>
          <a:lstStyle/>
          <a:p>
            <a:pPr>
              <a:defRPr sz="2800" b="1">
                <a:solidFill>
                  <a:srgbClr val="FFFFFF"/>
                </a:solidFill>
                <a:latin typeface="Calibri"/>
              </a:defRPr>
            </a:pPr>
            <a:r>
              <a:t>Deferred branches and what's next</a:t>
            </a:r>
          </a:p>
        </p:txBody>
      </p:sp>
      <p:sp>
        <p:nvSpPr>
          <p:cNvPr id="6" name="TextBox 5"/>
          <p:cNvSpPr txBox="1"/>
          <p:nvPr/>
        </p:nvSpPr>
        <p:spPr>
          <a:xfrm>
            <a:off x="3657600" y="3840480"/>
            <a:ext cx="8046720" cy="731520"/>
          </a:xfrm>
          <a:prstGeom prst="rect">
            <a:avLst/>
          </a:prstGeom>
          <a:noFill/>
        </p:spPr>
        <p:txBody>
          <a:bodyPr wrap="square">
            <a:spAutoFit/>
          </a:bodyPr>
          <a:lstStyle/>
          <a:p>
            <a:pPr algn="l">
              <a:defRPr sz="1600" b="0" i="1">
                <a:solidFill>
                  <a:srgbClr val="AABBCC"/>
                </a:solidFill>
                <a:latin typeface="Calibri"/>
              </a:defRPr>
            </a:pPr>
            <a:r>
              <a:t>What we are explicitly not building next, and what we are doing instead</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What we deferred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Documented in 28 / 29 trackers; reserved for later stages</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docs 28 + 29</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52</a:t>
            </a:r>
          </a:p>
        </p:txBody>
      </p:sp>
      <p:grpSp>
        <p:nvGrpSpPr>
          <p:cNvPr id="14" name="Group 13">
            <a:extLst>
              <a:ext uri="{FF2B5EF4-FFF2-40B4-BE49-F238E27FC236}">
                <a16:creationId xmlns:a16="http://schemas.microsoft.com/office/drawing/2014/main" id="{34BFF92B-0FD2-AB59-2009-D5DCBD71E4DE}"/>
              </a:ext>
            </a:extLst>
          </p:cNvPr>
          <p:cNvGrpSpPr/>
          <p:nvPr/>
        </p:nvGrpSpPr>
        <p:grpSpPr>
          <a:xfrm>
            <a:off x="548640" y="1371600"/>
            <a:ext cx="5394960" cy="4572000"/>
            <a:chOff x="548640" y="1371600"/>
            <a:chExt cx="5394960" cy="4572000"/>
          </a:xfrm>
        </p:grpSpPr>
        <p:sp>
          <p:nvSpPr>
            <p:cNvPr id="8" name="Rounded Rectangle 7"/>
            <p:cNvSpPr/>
            <p:nvPr/>
          </p:nvSpPr>
          <p:spPr>
            <a:xfrm>
              <a:off x="548640" y="1371600"/>
              <a:ext cx="5394960" cy="45720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548640" y="1508760"/>
              <a:ext cx="5394960" cy="461665"/>
            </a:xfrm>
            <a:prstGeom prst="rect">
              <a:avLst/>
            </a:prstGeom>
            <a:noFill/>
          </p:spPr>
          <p:txBody>
            <a:bodyPr wrap="square">
              <a:spAutoFit/>
            </a:bodyPr>
            <a:lstStyle/>
            <a:p>
              <a:pPr algn="ctr">
                <a:defRPr sz="1800" b="1" i="0">
                  <a:solidFill>
                    <a:srgbClr val="1A2332"/>
                  </a:solidFill>
                  <a:latin typeface="Calibri"/>
                </a:defRPr>
              </a:pPr>
              <a:r>
                <a:rPr sz="2400"/>
                <a:t>WRI (full)</a:t>
              </a:r>
            </a:p>
          </p:txBody>
        </p:sp>
        <p:sp>
          <p:nvSpPr>
            <p:cNvPr id="10" name="TextBox 9"/>
            <p:cNvSpPr txBox="1"/>
            <p:nvPr/>
          </p:nvSpPr>
          <p:spPr>
            <a:xfrm>
              <a:off x="822960" y="2103120"/>
              <a:ext cx="4846320" cy="1877437"/>
            </a:xfrm>
            <a:prstGeom prst="rect">
              <a:avLst/>
            </a:prstGeom>
            <a:noFill/>
          </p:spPr>
          <p:txBody>
            <a:bodyPr wrap="square">
              <a:spAutoFit/>
            </a:bodyPr>
            <a:lstStyle/>
            <a:p>
              <a:pPr>
                <a:spcAft>
                  <a:spcPts val="800"/>
                </a:spcAft>
                <a:defRPr sz="1300">
                  <a:solidFill>
                    <a:srgbClr val="2C3E50"/>
                  </a:solidFill>
                  <a:latin typeface="Calibri"/>
                </a:defRPr>
              </a:pPr>
              <a:r>
                <a:rPr sz="1600" dirty="0"/>
                <a:t>Needs a new frequency-domain Helmholtz / Maxwell operator</a:t>
              </a:r>
            </a:p>
            <a:p>
              <a:pPr>
                <a:spcAft>
                  <a:spcPts val="800"/>
                </a:spcAft>
                <a:defRPr sz="1300">
                  <a:solidFill>
                    <a:srgbClr val="2C3E50"/>
                  </a:solidFill>
                  <a:latin typeface="Calibri"/>
                </a:defRPr>
              </a:pPr>
              <a:r>
                <a:rPr sz="1600" dirty="0"/>
                <a:t>Complex sparse solves at large grid</a:t>
              </a:r>
            </a:p>
            <a:p>
              <a:pPr>
                <a:spcAft>
                  <a:spcPts val="800"/>
                </a:spcAft>
                <a:defRPr sz="1300">
                  <a:solidFill>
                    <a:srgbClr val="2C3E50"/>
                  </a:solidFill>
                  <a:latin typeface="Calibri"/>
                </a:defRPr>
              </a:pPr>
              <a:r>
                <a:rPr sz="1600" dirty="0"/>
                <a:t>Frequency-domain adjoint and penalty continuation</a:t>
              </a:r>
            </a:p>
            <a:p>
              <a:pPr>
                <a:spcAft>
                  <a:spcPts val="800"/>
                </a:spcAft>
                <a:defRPr sz="1300">
                  <a:solidFill>
                    <a:srgbClr val="2C3E50"/>
                  </a:solidFill>
                  <a:latin typeface="Calibri"/>
                </a:defRPr>
              </a:pPr>
              <a:r>
                <a:rPr sz="1600" dirty="0"/>
                <a:t>Defer reason: radius is already well explained by source handling and weighted LS</a:t>
              </a:r>
            </a:p>
          </p:txBody>
        </p:sp>
      </p:grpSp>
      <p:grpSp>
        <p:nvGrpSpPr>
          <p:cNvPr id="15" name="Group 14">
            <a:extLst>
              <a:ext uri="{FF2B5EF4-FFF2-40B4-BE49-F238E27FC236}">
                <a16:creationId xmlns:a16="http://schemas.microsoft.com/office/drawing/2014/main" id="{935902D6-996E-3315-00CD-FFAA74DDB9B4}"/>
              </a:ext>
            </a:extLst>
          </p:cNvPr>
          <p:cNvGrpSpPr/>
          <p:nvPr/>
        </p:nvGrpSpPr>
        <p:grpSpPr>
          <a:xfrm>
            <a:off x="6217920" y="1371600"/>
            <a:ext cx="5394960" cy="4572000"/>
            <a:chOff x="6217920" y="1371600"/>
            <a:chExt cx="5394960" cy="4572000"/>
          </a:xfrm>
        </p:grpSpPr>
        <p:sp>
          <p:nvSpPr>
            <p:cNvPr id="11" name="Rounded Rectangle 10"/>
            <p:cNvSpPr/>
            <p:nvPr/>
          </p:nvSpPr>
          <p:spPr>
            <a:xfrm>
              <a:off x="6217920" y="1371600"/>
              <a:ext cx="5394960" cy="45720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2" name="TextBox 11"/>
            <p:cNvSpPr txBox="1"/>
            <p:nvPr/>
          </p:nvSpPr>
          <p:spPr>
            <a:xfrm>
              <a:off x="6217920" y="1508760"/>
              <a:ext cx="5394960" cy="461665"/>
            </a:xfrm>
            <a:prstGeom prst="rect">
              <a:avLst/>
            </a:prstGeom>
            <a:noFill/>
          </p:spPr>
          <p:txBody>
            <a:bodyPr wrap="square">
              <a:spAutoFit/>
            </a:bodyPr>
            <a:lstStyle/>
            <a:p>
              <a:pPr algn="ctr">
                <a:defRPr sz="1800" b="1" i="0">
                  <a:solidFill>
                    <a:srgbClr val="1A2332"/>
                  </a:solidFill>
                  <a:latin typeface="Calibri"/>
                </a:defRPr>
              </a:pPr>
              <a:r>
                <a:rPr sz="2400"/>
                <a:t>IFWI (neural implicit field)</a:t>
              </a:r>
            </a:p>
          </p:txBody>
        </p:sp>
        <p:sp>
          <p:nvSpPr>
            <p:cNvPr id="13" name="TextBox 12"/>
            <p:cNvSpPr txBox="1"/>
            <p:nvPr/>
          </p:nvSpPr>
          <p:spPr>
            <a:xfrm>
              <a:off x="6492240" y="2103120"/>
              <a:ext cx="4846320" cy="1877437"/>
            </a:xfrm>
            <a:prstGeom prst="rect">
              <a:avLst/>
            </a:prstGeom>
            <a:noFill/>
          </p:spPr>
          <p:txBody>
            <a:bodyPr wrap="square">
              <a:spAutoFit/>
            </a:bodyPr>
            <a:lstStyle/>
            <a:p>
              <a:pPr>
                <a:spcAft>
                  <a:spcPts val="800"/>
                </a:spcAft>
                <a:defRPr sz="1300">
                  <a:solidFill>
                    <a:srgbClr val="2C3E50"/>
                  </a:solidFill>
                  <a:latin typeface="Calibri"/>
                </a:defRPr>
              </a:pPr>
              <a:r>
                <a:rPr sz="1600"/>
                <a:t>Flexible neural residual can absorb radius bias</a:t>
              </a:r>
            </a:p>
            <a:p>
              <a:pPr>
                <a:spcAft>
                  <a:spcPts val="800"/>
                </a:spcAft>
                <a:defRPr sz="1300">
                  <a:solidFill>
                    <a:srgbClr val="2C3E50"/>
                  </a:solidFill>
                  <a:latin typeface="Calibri"/>
                </a:defRPr>
              </a:pPr>
              <a:r>
                <a:rPr sz="1600"/>
                <a:t>Needs differentiable FDTD, held-out source validation, regularisation guardrails</a:t>
              </a:r>
            </a:p>
            <a:p>
              <a:pPr>
                <a:spcAft>
                  <a:spcPts val="800"/>
                </a:spcAft>
                <a:defRPr sz="1300">
                  <a:solidFill>
                    <a:srgbClr val="2C3E50"/>
                  </a:solidFill>
                  <a:latin typeface="Calibri"/>
                </a:defRPr>
              </a:pPr>
              <a:r>
                <a:rPr sz="1600"/>
                <a:t>Defer reason: not the right tool while explicit nuisance parameters still suffice</a:t>
              </a:r>
            </a:p>
            <a:p>
              <a:pPr>
                <a:spcAft>
                  <a:spcPts val="800"/>
                </a:spcAft>
                <a:defRPr sz="1300">
                  <a:solidFill>
                    <a:srgbClr val="2C3E50"/>
                  </a:solidFill>
                  <a:latin typeface="Calibri"/>
                </a:defRPr>
              </a:pPr>
              <a:r>
                <a:rPr sz="1600"/>
                <a:t>Reserved for multi-rebar / field-data stages</a:t>
              </a: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492443"/>
          </a:xfrm>
          <a:prstGeom prst="rect">
            <a:avLst/>
          </a:prstGeom>
          <a:noFill/>
        </p:spPr>
        <p:txBody>
          <a:bodyPr wrap="square">
            <a:spAutoFit/>
          </a:bodyPr>
          <a:lstStyle/>
          <a:p>
            <a:pPr>
              <a:defRPr sz="2600" b="1">
                <a:solidFill>
                  <a:srgbClr val="1A2332"/>
                </a:solidFill>
                <a:latin typeface="Calibri"/>
              </a:defRPr>
            </a:pPr>
            <a:r>
              <a:rPr lang="en-US" dirty="0"/>
              <a:t>Planned</a:t>
            </a:r>
            <a:r>
              <a:rPr dirty="0"/>
              <a:t> pipeline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For controlled single-rebar synthetic data; transferable to field data with the source profile</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tracker 30 summary</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53</a:t>
            </a:r>
          </a:p>
        </p:txBody>
      </p:sp>
      <p:grpSp>
        <p:nvGrpSpPr>
          <p:cNvPr id="14" name="Group 13">
            <a:extLst>
              <a:ext uri="{FF2B5EF4-FFF2-40B4-BE49-F238E27FC236}">
                <a16:creationId xmlns:a16="http://schemas.microsoft.com/office/drawing/2014/main" id="{302AE67F-D84B-0803-1178-56C114FEE90A}"/>
              </a:ext>
            </a:extLst>
          </p:cNvPr>
          <p:cNvGrpSpPr/>
          <p:nvPr/>
        </p:nvGrpSpPr>
        <p:grpSpPr>
          <a:xfrm>
            <a:off x="548640" y="1371600"/>
            <a:ext cx="5394960" cy="4572000"/>
            <a:chOff x="548640" y="1371600"/>
            <a:chExt cx="5394960" cy="4572000"/>
          </a:xfrm>
        </p:grpSpPr>
        <p:sp>
          <p:nvSpPr>
            <p:cNvPr id="8" name="Rounded Rectangle 7"/>
            <p:cNvSpPr/>
            <p:nvPr/>
          </p:nvSpPr>
          <p:spPr>
            <a:xfrm>
              <a:off x="548640" y="1371600"/>
              <a:ext cx="5394960" cy="45720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548640" y="1508760"/>
              <a:ext cx="5394960" cy="461665"/>
            </a:xfrm>
            <a:prstGeom prst="rect">
              <a:avLst/>
            </a:prstGeom>
            <a:noFill/>
          </p:spPr>
          <p:txBody>
            <a:bodyPr wrap="square">
              <a:spAutoFit/>
            </a:bodyPr>
            <a:lstStyle/>
            <a:p>
              <a:pPr algn="ctr">
                <a:defRPr sz="1800" b="1" i="0">
                  <a:solidFill>
                    <a:srgbClr val="1A2332"/>
                  </a:solidFill>
                  <a:latin typeface="Calibri"/>
                </a:defRPr>
              </a:pPr>
              <a:r>
                <a:rPr sz="2400"/>
                <a:t>What the pipeline does</a:t>
              </a:r>
            </a:p>
          </p:txBody>
        </p:sp>
        <p:sp>
          <p:nvSpPr>
            <p:cNvPr id="10" name="TextBox 9"/>
            <p:cNvSpPr txBox="1"/>
            <p:nvPr/>
          </p:nvSpPr>
          <p:spPr>
            <a:xfrm>
              <a:off x="822960" y="2103120"/>
              <a:ext cx="4846320" cy="2226250"/>
            </a:xfrm>
            <a:prstGeom prst="rect">
              <a:avLst/>
            </a:prstGeom>
            <a:noFill/>
          </p:spPr>
          <p:txBody>
            <a:bodyPr wrap="square">
              <a:spAutoFit/>
            </a:bodyPr>
            <a:lstStyle/>
            <a:p>
              <a:pPr>
                <a:spcAft>
                  <a:spcPts val="800"/>
                </a:spcAft>
                <a:defRPr sz="1300">
                  <a:solidFill>
                    <a:srgbClr val="2C3E50"/>
                  </a:solidFill>
                  <a:latin typeface="Calibri"/>
                </a:defRPr>
              </a:pPr>
              <a:r>
                <a:rPr sz="1600" dirty="0"/>
                <a:t>1. Bring x/z into the basin (staged or PEBDD path).</a:t>
              </a:r>
            </a:p>
            <a:p>
              <a:pPr>
                <a:spcAft>
                  <a:spcPts val="800"/>
                </a:spcAft>
                <a:defRPr sz="1300">
                  <a:solidFill>
                    <a:srgbClr val="2C3E50"/>
                  </a:solidFill>
                  <a:latin typeface="Calibri"/>
                </a:defRPr>
              </a:pPr>
              <a:r>
                <a:rPr sz="1600" dirty="0"/>
                <a:t>2. Final radius from 1.5 GHz-only LS or carry_low_25.</a:t>
              </a:r>
            </a:p>
            <a:p>
              <a:pPr>
                <a:spcAft>
                  <a:spcPts val="800"/>
                </a:spcAft>
                <a:defRPr sz="1300">
                  <a:solidFill>
                    <a:srgbClr val="2C3E50"/>
                  </a:solidFill>
                  <a:latin typeface="Calibri"/>
                </a:defRPr>
              </a:pPr>
              <a:r>
                <a:rPr sz="1600" dirty="0"/>
                <a:t>3. Local radius profiling / grid polish, not continuous Powell.</a:t>
              </a:r>
            </a:p>
            <a:p>
              <a:pPr>
                <a:spcAft>
                  <a:spcPts val="800"/>
                </a:spcAft>
                <a:defRPr sz="1300">
                  <a:solidFill>
                    <a:srgbClr val="2C3E50"/>
                  </a:solidFill>
                  <a:latin typeface="Calibri"/>
                </a:defRPr>
              </a:pPr>
              <a:r>
                <a:rPr sz="1600" dirty="0"/>
                <a:t>4. Profile source amplitude + time-shift + center-frequency scale at the final stage.</a:t>
              </a:r>
            </a:p>
            <a:p>
              <a:pPr>
                <a:spcAft>
                  <a:spcPts val="800"/>
                </a:spcAft>
                <a:defRPr sz="1300">
                  <a:solidFill>
                    <a:srgbClr val="2C3E50"/>
                  </a:solidFill>
                  <a:latin typeface="Calibri"/>
                </a:defRPr>
              </a:pPr>
              <a:r>
                <a:rPr sz="1600" dirty="0"/>
                <a:t>5. Report top-k candidates and distinct-radius margin.</a:t>
              </a:r>
            </a:p>
          </p:txBody>
        </p:sp>
      </p:grpSp>
      <p:grpSp>
        <p:nvGrpSpPr>
          <p:cNvPr id="15" name="Group 14">
            <a:extLst>
              <a:ext uri="{FF2B5EF4-FFF2-40B4-BE49-F238E27FC236}">
                <a16:creationId xmlns:a16="http://schemas.microsoft.com/office/drawing/2014/main" id="{5D339362-E1B2-53E5-300F-2FC09ECFEDA0}"/>
              </a:ext>
            </a:extLst>
          </p:cNvPr>
          <p:cNvGrpSpPr/>
          <p:nvPr/>
        </p:nvGrpSpPr>
        <p:grpSpPr>
          <a:xfrm>
            <a:off x="6217920" y="1371600"/>
            <a:ext cx="5394960" cy="4572000"/>
            <a:chOff x="6217920" y="1371600"/>
            <a:chExt cx="5394960" cy="4572000"/>
          </a:xfrm>
        </p:grpSpPr>
        <p:sp>
          <p:nvSpPr>
            <p:cNvPr id="11" name="Rounded Rectangle 10"/>
            <p:cNvSpPr/>
            <p:nvPr/>
          </p:nvSpPr>
          <p:spPr>
            <a:xfrm>
              <a:off x="6217920" y="1371600"/>
              <a:ext cx="5394960" cy="45720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000"/>
            </a:p>
          </p:txBody>
        </p:sp>
        <p:sp>
          <p:nvSpPr>
            <p:cNvPr id="12" name="TextBox 11"/>
            <p:cNvSpPr txBox="1"/>
            <p:nvPr/>
          </p:nvSpPr>
          <p:spPr>
            <a:xfrm>
              <a:off x="6217920" y="1508760"/>
              <a:ext cx="5394960" cy="400110"/>
            </a:xfrm>
            <a:prstGeom prst="rect">
              <a:avLst/>
            </a:prstGeom>
            <a:noFill/>
          </p:spPr>
          <p:txBody>
            <a:bodyPr wrap="square">
              <a:spAutoFit/>
            </a:bodyPr>
            <a:lstStyle/>
            <a:p>
              <a:pPr algn="ctr">
                <a:defRPr sz="1800" b="1" i="0">
                  <a:solidFill>
                    <a:srgbClr val="1A2332"/>
                  </a:solidFill>
                  <a:latin typeface="Calibri"/>
                </a:defRPr>
              </a:pPr>
              <a:r>
                <a:rPr sz="2000" dirty="0"/>
                <a:t>What we are explicitly not doing next</a:t>
              </a:r>
            </a:p>
          </p:txBody>
        </p:sp>
        <p:sp>
          <p:nvSpPr>
            <p:cNvPr id="13" name="TextBox 12"/>
            <p:cNvSpPr txBox="1"/>
            <p:nvPr/>
          </p:nvSpPr>
          <p:spPr>
            <a:xfrm>
              <a:off x="6492240" y="2103120"/>
              <a:ext cx="4846320" cy="1261884"/>
            </a:xfrm>
            <a:prstGeom prst="rect">
              <a:avLst/>
            </a:prstGeom>
            <a:noFill/>
          </p:spPr>
          <p:txBody>
            <a:bodyPr wrap="square">
              <a:spAutoFit/>
            </a:bodyPr>
            <a:lstStyle/>
            <a:p>
              <a:pPr>
                <a:spcAft>
                  <a:spcPts val="800"/>
                </a:spcAft>
                <a:defRPr sz="1300">
                  <a:solidFill>
                    <a:srgbClr val="2C3E50"/>
                  </a:solidFill>
                  <a:latin typeface="Calibri"/>
                </a:defRPr>
              </a:pPr>
              <a:r>
                <a:rPr sz="1400" dirty="0"/>
                <a:t>Another broad global search.</a:t>
              </a:r>
            </a:p>
            <a:p>
              <a:pPr>
                <a:spcAft>
                  <a:spcPts val="800"/>
                </a:spcAft>
                <a:defRPr sz="1300">
                  <a:solidFill>
                    <a:srgbClr val="2C3E50"/>
                  </a:solidFill>
                  <a:latin typeface="Calibri"/>
                </a:defRPr>
              </a:pPr>
              <a:r>
                <a:rPr sz="1400" dirty="0"/>
                <a:t>W2 inside the optimizer for radius.</a:t>
              </a:r>
            </a:p>
            <a:p>
              <a:pPr>
                <a:spcAft>
                  <a:spcPts val="800"/>
                </a:spcAft>
                <a:defRPr sz="1300">
                  <a:solidFill>
                    <a:srgbClr val="2C3E50"/>
                  </a:solidFill>
                  <a:latin typeface="Calibri"/>
                </a:defRPr>
              </a:pPr>
              <a:r>
                <a:rPr sz="1400" dirty="0"/>
                <a:t>Free rebar conductivity in the radius optimizer.</a:t>
              </a:r>
            </a:p>
            <a:p>
              <a:pPr>
                <a:spcAft>
                  <a:spcPts val="800"/>
                </a:spcAft>
                <a:defRPr sz="1300">
                  <a:solidFill>
                    <a:srgbClr val="2C3E50"/>
                  </a:solidFill>
                  <a:latin typeface="Calibri"/>
                </a:defRPr>
              </a:pPr>
              <a:r>
                <a:rPr sz="1400" dirty="0"/>
                <a:t>Full WRI or full IFWI at this stage.</a:t>
              </a: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01168"/>
            <a:ext cx="8503920" cy="640080"/>
          </a:xfrm>
          <a:prstGeom prst="rect">
            <a:avLst/>
          </a:prstGeom>
          <a:noFill/>
        </p:spPr>
        <p:txBody>
          <a:bodyPr wrap="square">
            <a:spAutoFit/>
          </a:bodyPr>
          <a:lstStyle/>
          <a:p>
            <a:pPr>
              <a:defRPr sz="2600" b="1">
                <a:solidFill>
                  <a:srgbClr val="1A2332"/>
                </a:solidFill>
                <a:latin typeface="Calibri"/>
              </a:defRPr>
            </a:pPr>
            <a:r>
              <a:t>Next experiments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68680"/>
            <a:ext cx="10972800" cy="365760"/>
          </a:xfrm>
          <a:prstGeom prst="rect">
            <a:avLst/>
          </a:prstGeom>
          <a:noFill/>
        </p:spPr>
        <p:txBody>
          <a:bodyPr wrap="none">
            <a:spAutoFit/>
          </a:bodyPr>
          <a:lstStyle/>
          <a:p>
            <a:pPr>
              <a:defRPr sz="1300">
                <a:solidFill>
                  <a:srgbClr val="7F8C8D"/>
                </a:solidFill>
                <a:latin typeface="Calibri"/>
              </a:defRPr>
            </a:pPr>
            <a:r>
              <a:t>Direct follow-ons that reuse the source-profiled polish runner</a:t>
            </a:r>
          </a:p>
        </p:txBody>
      </p:sp>
      <p:sp>
        <p:nvSpPr>
          <p:cNvPr id="6" name="Rounded Rectangle 5"/>
          <p:cNvSpPr/>
          <p:nvPr/>
        </p:nvSpPr>
        <p:spPr>
          <a:xfrm>
            <a:off x="9357055" y="292608"/>
            <a:ext cx="2194560" cy="36576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332"/>
                </a:solidFill>
                <a:latin typeface="Calibri"/>
              </a:defRPr>
            </a:pPr>
            <a:r>
              <a:t>post-058 plan</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54</a:t>
            </a:r>
          </a:p>
        </p:txBody>
      </p:sp>
      <p:grpSp>
        <p:nvGrpSpPr>
          <p:cNvPr id="14" name="Group 13">
            <a:extLst>
              <a:ext uri="{FF2B5EF4-FFF2-40B4-BE49-F238E27FC236}">
                <a16:creationId xmlns:a16="http://schemas.microsoft.com/office/drawing/2014/main" id="{F23D929A-B2AE-430B-0445-4EFEC691F7B7}"/>
              </a:ext>
            </a:extLst>
          </p:cNvPr>
          <p:cNvGrpSpPr/>
          <p:nvPr/>
        </p:nvGrpSpPr>
        <p:grpSpPr>
          <a:xfrm>
            <a:off x="548640" y="1371600"/>
            <a:ext cx="5394960" cy="4572000"/>
            <a:chOff x="548640" y="1371600"/>
            <a:chExt cx="5394960" cy="4572000"/>
          </a:xfrm>
        </p:grpSpPr>
        <p:sp>
          <p:nvSpPr>
            <p:cNvPr id="8" name="Rounded Rectangle 7"/>
            <p:cNvSpPr/>
            <p:nvPr/>
          </p:nvSpPr>
          <p:spPr>
            <a:xfrm>
              <a:off x="548640" y="1371600"/>
              <a:ext cx="5394960" cy="4572000"/>
            </a:xfrm>
            <a:prstGeom prst="roundRect">
              <a:avLst/>
            </a:prstGeom>
            <a:solidFill>
              <a:srgbClr val="FDF1E0"/>
            </a:solidFill>
            <a:ln w="12700">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9" name="TextBox 8"/>
            <p:cNvSpPr txBox="1"/>
            <p:nvPr/>
          </p:nvSpPr>
          <p:spPr>
            <a:xfrm>
              <a:off x="548640" y="1508760"/>
              <a:ext cx="5394960" cy="461665"/>
            </a:xfrm>
            <a:prstGeom prst="rect">
              <a:avLst/>
            </a:prstGeom>
            <a:noFill/>
          </p:spPr>
          <p:txBody>
            <a:bodyPr wrap="square">
              <a:spAutoFit/>
            </a:bodyPr>
            <a:lstStyle/>
            <a:p>
              <a:pPr algn="ctr">
                <a:defRPr sz="1800" b="1" i="0">
                  <a:solidFill>
                    <a:srgbClr val="1A2332"/>
                  </a:solidFill>
                  <a:latin typeface="Calibri"/>
                </a:defRPr>
              </a:pPr>
              <a:r>
                <a:rPr sz="2400"/>
                <a:t>Replication matrix</a:t>
              </a:r>
            </a:p>
          </p:txBody>
        </p:sp>
        <p:sp>
          <p:nvSpPr>
            <p:cNvPr id="10" name="TextBox 9"/>
            <p:cNvSpPr txBox="1"/>
            <p:nvPr/>
          </p:nvSpPr>
          <p:spPr>
            <a:xfrm>
              <a:off x="822960" y="2103120"/>
              <a:ext cx="4846320" cy="1528624"/>
            </a:xfrm>
            <a:prstGeom prst="rect">
              <a:avLst/>
            </a:prstGeom>
            <a:noFill/>
          </p:spPr>
          <p:txBody>
            <a:bodyPr wrap="square">
              <a:spAutoFit/>
            </a:bodyPr>
            <a:lstStyle/>
            <a:p>
              <a:pPr>
                <a:spcAft>
                  <a:spcPts val="800"/>
                </a:spcAft>
                <a:defRPr sz="1300">
                  <a:solidFill>
                    <a:srgbClr val="2C3E50"/>
                  </a:solidFill>
                  <a:latin typeface="Calibri"/>
                </a:defRPr>
              </a:pPr>
              <a:r>
                <a:rPr sz="1600"/>
                <a:t>Run source-profiled polish across several noise seeds.</a:t>
              </a:r>
            </a:p>
            <a:p>
              <a:pPr>
                <a:spcAft>
                  <a:spcPts val="800"/>
                </a:spcAft>
                <a:defRPr sz="1300">
                  <a:solidFill>
                    <a:srgbClr val="2C3E50"/>
                  </a:solidFill>
                  <a:latin typeface="Calibri"/>
                </a:defRPr>
              </a:pPr>
              <a:r>
                <a:rPr sz="1600"/>
                <a:t>Run across several source-mismatch combinations (fc, shift, amp).</a:t>
              </a:r>
            </a:p>
            <a:p>
              <a:pPr>
                <a:spcAft>
                  <a:spcPts val="800"/>
                </a:spcAft>
                <a:defRPr sz="1300">
                  <a:solidFill>
                    <a:srgbClr val="2C3E50"/>
                  </a:solidFill>
                  <a:latin typeface="Calibri"/>
                </a:defRPr>
              </a:pPr>
              <a:r>
                <a:rPr sz="1600"/>
                <a:t>Stress with offset x/z/r seeds to map the basin where the polish still works.</a:t>
              </a:r>
            </a:p>
          </p:txBody>
        </p:sp>
      </p:grpSp>
      <p:grpSp>
        <p:nvGrpSpPr>
          <p:cNvPr id="15" name="Group 14">
            <a:extLst>
              <a:ext uri="{FF2B5EF4-FFF2-40B4-BE49-F238E27FC236}">
                <a16:creationId xmlns:a16="http://schemas.microsoft.com/office/drawing/2014/main" id="{F6251086-E2C8-81BB-CBE1-E0B304DECB63}"/>
              </a:ext>
            </a:extLst>
          </p:cNvPr>
          <p:cNvGrpSpPr/>
          <p:nvPr/>
        </p:nvGrpSpPr>
        <p:grpSpPr>
          <a:xfrm>
            <a:off x="6217920" y="1371600"/>
            <a:ext cx="5394960" cy="4572000"/>
            <a:chOff x="6217920" y="1371600"/>
            <a:chExt cx="5394960" cy="4572000"/>
          </a:xfrm>
        </p:grpSpPr>
        <p:sp>
          <p:nvSpPr>
            <p:cNvPr id="11" name="Rounded Rectangle 10"/>
            <p:cNvSpPr/>
            <p:nvPr/>
          </p:nvSpPr>
          <p:spPr>
            <a:xfrm>
              <a:off x="6217920" y="1371600"/>
              <a:ext cx="5394960" cy="4572000"/>
            </a:xfrm>
            <a:prstGeom prst="roundRect">
              <a:avLst/>
            </a:prstGeom>
            <a:solidFill>
              <a:srgbClr val="EBF5FB"/>
            </a:solidFill>
            <a:ln w="12700">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a:endParaRPr sz="2400"/>
            </a:p>
          </p:txBody>
        </p:sp>
        <p:sp>
          <p:nvSpPr>
            <p:cNvPr id="12" name="TextBox 11"/>
            <p:cNvSpPr txBox="1"/>
            <p:nvPr/>
          </p:nvSpPr>
          <p:spPr>
            <a:xfrm>
              <a:off x="6217920" y="1508760"/>
              <a:ext cx="5394960" cy="461665"/>
            </a:xfrm>
            <a:prstGeom prst="rect">
              <a:avLst/>
            </a:prstGeom>
            <a:noFill/>
          </p:spPr>
          <p:txBody>
            <a:bodyPr wrap="square">
              <a:spAutoFit/>
            </a:bodyPr>
            <a:lstStyle/>
            <a:p>
              <a:pPr algn="ctr">
                <a:defRPr sz="1800" b="1" i="0">
                  <a:solidFill>
                    <a:srgbClr val="1A2332"/>
                  </a:solidFill>
                  <a:latin typeface="Calibri"/>
                </a:defRPr>
              </a:pPr>
              <a:r>
                <a:rPr sz="2400"/>
                <a:t>Scaling out</a:t>
              </a:r>
            </a:p>
          </p:txBody>
        </p:sp>
        <p:sp>
          <p:nvSpPr>
            <p:cNvPr id="13" name="TextBox 12"/>
            <p:cNvSpPr txBox="1"/>
            <p:nvPr/>
          </p:nvSpPr>
          <p:spPr>
            <a:xfrm>
              <a:off x="6492240" y="2103120"/>
              <a:ext cx="4846320" cy="2021066"/>
            </a:xfrm>
            <a:prstGeom prst="rect">
              <a:avLst/>
            </a:prstGeom>
            <a:noFill/>
          </p:spPr>
          <p:txBody>
            <a:bodyPr wrap="square">
              <a:spAutoFit/>
            </a:bodyPr>
            <a:lstStyle/>
            <a:p>
              <a:pPr>
                <a:spcAft>
                  <a:spcPts val="800"/>
                </a:spcAft>
                <a:defRPr sz="1300">
                  <a:solidFill>
                    <a:srgbClr val="2C3E50"/>
                  </a:solidFill>
                  <a:latin typeface="Calibri"/>
                </a:defRPr>
              </a:pPr>
              <a:r>
                <a:rPr sz="1600"/>
                <a:t>Extend to two then three rebars: same forward model, same polish stage; the global stage becomes the load-bearing piece.</a:t>
              </a:r>
            </a:p>
            <a:p>
              <a:pPr>
                <a:spcAft>
                  <a:spcPts val="800"/>
                </a:spcAft>
                <a:defRPr sz="1300">
                  <a:solidFill>
                    <a:srgbClr val="2C3E50"/>
                  </a:solidFill>
                  <a:latin typeface="Calibri"/>
                </a:defRPr>
              </a:pPr>
              <a:r>
                <a:rPr sz="1600"/>
                <a:t>Introduce a hyperbola or migration baseline for a non-FWI cross-check.</a:t>
              </a:r>
            </a:p>
            <a:p>
              <a:pPr>
                <a:spcAft>
                  <a:spcPts val="800"/>
                </a:spcAft>
                <a:defRPr sz="1300">
                  <a:solidFill>
                    <a:srgbClr val="2C3E50"/>
                  </a:solidFill>
                  <a:latin typeface="Calibri"/>
                </a:defRPr>
              </a:pPr>
              <a:r>
                <a:rPr sz="1600"/>
                <a:t>Move toward field-style data with the source profile in place.</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582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12277</Words>
  <Application>Microsoft Macintosh PowerPoint</Application>
  <PresentationFormat>Widescreen</PresentationFormat>
  <Paragraphs>632</Paragraphs>
  <Slides>55</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Abdullah Maruf</cp:lastModifiedBy>
  <cp:revision>3</cp:revision>
  <dcterms:created xsi:type="dcterms:W3CDTF">2013-01-27T09:14:16Z</dcterms:created>
  <dcterms:modified xsi:type="dcterms:W3CDTF">2026-06-05T10:31:09Z</dcterms:modified>
  <cp:category/>
</cp:coreProperties>
</file>