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65" r:id="rId4"/>
    <p:sldId id="258" r:id="rId5"/>
    <p:sldId id="266" r:id="rId6"/>
    <p:sldId id="259" r:id="rId7"/>
    <p:sldId id="260" r:id="rId8"/>
    <p:sldId id="261" r:id="rId9"/>
    <p:sldId id="262" r:id="rId10"/>
    <p:sldId id="263" r:id="rId11"/>
    <p:sldId id="264" r:id="rId12"/>
    <p:sldId id="330" r:id="rId13"/>
    <p:sldId id="344" r:id="rId14"/>
    <p:sldId id="343" r:id="rId15"/>
    <p:sldId id="284" r:id="rId16"/>
    <p:sldId id="332" r:id="rId17"/>
    <p:sldId id="333" r:id="rId18"/>
    <p:sldId id="285" r:id="rId19"/>
    <p:sldId id="286" r:id="rId20"/>
    <p:sldId id="287" r:id="rId21"/>
    <p:sldId id="288" r:id="rId22"/>
    <p:sldId id="290" r:id="rId23"/>
    <p:sldId id="291" r:id="rId24"/>
    <p:sldId id="292" r:id="rId25"/>
    <p:sldId id="293" r:id="rId26"/>
    <p:sldId id="295" r:id="rId27"/>
    <p:sldId id="294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20"/>
    <p:restoredTop sz="94610"/>
  </p:normalViewPr>
  <p:slideViewPr>
    <p:cSldViewPr snapToGrid="0" snapToObjects="1">
      <p:cViewPr varScale="1">
        <p:scale>
          <a:sx n="125" d="100"/>
          <a:sy n="125" d="100"/>
        </p:scale>
        <p:origin x="16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Accepted %</c:v>
                </c:pt>
              </c:strCache>
            </c:strRef>
          </c:tx>
          <c:spPr>
            <a:solidFill>
              <a:srgbClr val="2C7A4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295-7E40-ABD9-77A7F64B96F9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4295-7E40-ABD9-77A7F64B96F9}"/>
              </c:ext>
            </c:extLst>
          </c:dPt>
          <c:dPt>
            <c:idx val="2"/>
            <c:invertIfNegative val="0"/>
            <c:bubble3D val="0"/>
            <c:spPr>
              <a:solidFill>
                <a:srgbClr val="D9770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295-7E40-ABD9-77A7F64B96F9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63238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target0
(shallow-left)</c:v>
                </c:pt>
                <c:pt idx="1">
                  <c:v>target1
(center)</c:v>
                </c:pt>
                <c:pt idx="2">
                  <c:v>target2
(deeper-right)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67.900000000000006</c:v>
                </c:pt>
                <c:pt idx="1">
                  <c:v>70.900000000000006</c:v>
                </c:pt>
                <c:pt idx="2">
                  <c:v>51.8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295-7E40-ABD9-77A7F64B96F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runs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7A4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777-C048-B2C4-FDE470F7FAC3}"/>
              </c:ext>
            </c:extLst>
          </c:dPt>
          <c:dPt>
            <c:idx val="1"/>
            <c:bubble3D val="0"/>
            <c:spPr>
              <a:solidFill>
                <a:srgbClr val="D9770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777-C048-B2C4-FDE470F7FAC3}"/>
              </c:ext>
            </c:extLst>
          </c:dPt>
          <c:cat>
            <c:strRef>
              <c:f>Sheet1!$A$2:$A$3</c:f>
              <c:strCache>
                <c:ptCount val="2"/>
                <c:pt idx="0">
                  <c:v>Accepted (clear)</c:v>
                </c:pt>
                <c:pt idx="1">
                  <c:v>Exact but weak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266</c:v>
                </c:pt>
                <c:pt idx="1">
                  <c:v>159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777-C048-B2C4-FDE470F7FA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63238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03080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D3B19-242D-2431-BCCE-970F9EB09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C10B6A-02C2-C0B4-EC3A-9966E59341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49E5ED-C485-AADD-7CFE-6A3AFD367A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2CD862-FB01-AEE0-C401-65683C31D5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1022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2B23D-7AE7-5465-E44C-AB93A5EF4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BEF527-CE28-9F52-AB46-B9225F6FE5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4242B-DF48-CEA5-166C-048A9E2FF9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C165F9-2C69-B151-6B71-3F96A15E02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0164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A074D-4732-C700-CD06-60EF6F514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ED4C8A-331E-23E0-7684-0C835A6ACC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4C17DA-550A-4DB8-2A92-9F7A50B2CB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2D2E0A-7714-5CC4-8998-1AA1AE1FFB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573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EFA2F-1EE1-7500-E6F2-7ED4C30E2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BC4401-2EAC-2437-4738-58F4AD6736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7AE792-513D-83DB-5BA2-0CA554E299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15CE2A-7E50-2A89-0899-6C466F048C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9653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2FAD0-DEFF-C389-281F-4832DC972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0F288E-6B06-8CD6-F057-B0B294A097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55FC91-931A-C38D-9458-09080B67C2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1B7865-0403-41A4-1218-5B5E274FFE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2163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85B75-5914-2B44-51DD-37212769F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AAD44A-2ACC-0A54-AD54-24D0988357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4813C7-D409-E058-BCB8-CDB16FB2EB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30B89F-BE75-1295-55D6-7159FD74DC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6183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99075-1FF9-23FC-B751-D1E83AA77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61A345-4707-6CCE-3F0A-FC50AD771B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57D22E-28BB-AF06-D268-5CDEF0434E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F2EFBF-B0BC-B855-CB48-46899816D8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9158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2D8CB-88AB-5638-EFF1-0EE61B64C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56CF7A-9947-72A2-89FC-7EBE1DC749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4E0C4E-6CE9-4305-83B2-33F4967FF1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DB919-CC66-C0F3-1782-323ABC3561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5124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D8EFE-2F2B-D59C-3D4E-3C801623F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D7200B-DEDB-5A1B-7BE2-4980A463B6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E11328-B84B-EED5-5FED-521061AF38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F90C9D-963D-5A07-2860-F62F73486E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4491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5D311-DF9E-A4DF-DD4F-7C0214218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152799-B6AE-3B7C-905C-28DC2FF5E7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7570BE-BAAB-C83D-CB37-3B6974D631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61BC27-99B0-532C-AB87-12381B5AD2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9952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5BAC8-15C7-C0CC-7BC6-51EC51061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12A4D3-415F-64C5-7CFB-274D1828A9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191FC7-4410-2055-E5F3-323A3CEE90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C35EAF-463A-8F5A-D949-832022A7A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2940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CE7BA-23AA-F6B8-6F22-3FBAA9E96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19B0F8-1193-D407-2FD0-5702A3616C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FDE442-B6F1-5896-95BC-7BD36FE331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C48FA-57EB-2071-565B-68BE015995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94569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6917-28FB-E402-4594-542D3ECCE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330FDC-44F4-6A9B-FF89-D13037A3E6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002D58-AAC9-6EE9-E7EA-EDE3182A8D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3DADC-6A3B-71A1-97EB-DD9EB27BF1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95812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1890F-8D5A-9B2C-FF3B-82D45452E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F84879-9648-1207-4E91-FD8267E16F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FA5A31-DD08-91CE-2699-10BDCB2EE2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587706-1941-59F3-6986-5D8F807C96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9078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4F75F-A2A5-1D82-393B-7C74BE8BD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520899-3E1F-17B2-D162-BF8F315519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92AED0-0A87-5F90-F17A-1855AFC569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6C4FFD-9976-2BF9-D630-B46FE4A159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95936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5BFECD-0A4A-554D-A0E8-94907FFFF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86B809-227F-3E83-1651-5A700EE1FC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837339-A7D7-A435-4C41-DFE389AE80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EE5E33-1D9B-0366-3612-A97CEE2B12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28785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5B6AA-6C88-725B-BA88-CD5312A02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222CC6-B8C3-3A57-190D-402E6E518B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AF04D4-F1C0-A48E-3042-ACEC46ECA0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3981B-B113-8765-0DDC-F0F8EF6CB2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02881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0BF85-7E18-36E7-94B0-B8CE42BF5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76771B-06E4-C341-B916-ED00D6B90F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6D56D6-2BDE-FFA2-18DA-35762AAAF8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00572-70A8-1D3D-8C6C-98B6C03687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7128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9365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gi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gi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gif"/><Relationship Id="rId5" Type="http://schemas.openxmlformats.org/officeDocument/2006/relationships/image" Target="../media/image28.gif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gif"/><Relationship Id="rId5" Type="http://schemas.openxmlformats.org/officeDocument/2006/relationships/image" Target="../media/image35.gif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0" y="5212080"/>
            <a:ext cx="502920" cy="502920"/>
          </a:xfrm>
          <a:prstGeom prst="ellipse">
            <a:avLst/>
          </a:prstGeom>
          <a:solidFill>
            <a:srgbClr val="B85042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291840" y="5669280"/>
            <a:ext cx="640080" cy="640080"/>
          </a:xfrm>
          <a:prstGeom prst="ellipse">
            <a:avLst/>
          </a:prstGeom>
          <a:solidFill>
            <a:srgbClr val="B85042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332720" y="1280160"/>
            <a:ext cx="731520" cy="731520"/>
          </a:xfrm>
          <a:prstGeom prst="ellipse">
            <a:avLst/>
          </a:prstGeom>
          <a:solidFill>
            <a:srgbClr val="B85042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338560" y="2103120"/>
            <a:ext cx="457200" cy="457200"/>
          </a:xfrm>
          <a:prstGeom prst="ellipse">
            <a:avLst/>
          </a:prstGeom>
          <a:solidFill>
            <a:srgbClr val="B85042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784080" y="5852160"/>
            <a:ext cx="411480" cy="411480"/>
          </a:xfrm>
          <a:prstGeom prst="ellipse">
            <a:avLst/>
          </a:prstGeom>
          <a:solidFill>
            <a:srgbClr val="B85042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1554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FC9C2"/>
                </a:solidFill>
              </a:rPr>
              <a:t>SYNTHETIC GPR REBAR INVERSION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Recovering rebar geometry from radar waveforms</a:t>
            </a:r>
          </a:p>
          <a:p>
            <a:pPr marL="0" indent="0">
              <a:lnSpc>
                <a:spcPct val="95000"/>
              </a:lnSpc>
              <a:buNone/>
            </a:pPr>
            <a:endParaRPr lang="en-US" sz="1200" b="1" dirty="0">
              <a:solidFill>
                <a:srgbClr val="FFFFFF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>
              <a:lnSpc>
                <a:spcPct val="95000"/>
              </a:lnSpc>
              <a:buNone/>
            </a:pPr>
            <a:r>
              <a:rPr lang="en-US" b="1" dirty="0">
                <a:solidFill>
                  <a:schemeClr val="bg1">
                    <a:lumMod val="85000"/>
                  </a:schemeClr>
                </a:solidFill>
                <a:latin typeface="Cambria" pitchFamily="34" charset="0"/>
              </a:rPr>
              <a:t>By Abdullah Maruf – Inframind Labs</a:t>
            </a:r>
            <a:endParaRPr lang="en-US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731520" y="352044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FC9C2"/>
                </a:solidFill>
              </a:rPr>
              <a:t>A mature FDTD / full-waveform-inversion pipeline that recovers a 3-rebar variable-depth, variable-radius scene under noise, source mismatch and ringdown stress — </a:t>
            </a:r>
            <a:r>
              <a:rPr lang="en-US" sz="1550" dirty="0">
                <a:solidFill>
                  <a:srgbClr val="F4C9A3"/>
                </a:solidFill>
              </a:rPr>
              <a:t>with confidence reporting.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31520" y="4892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C7A4B"/>
                </a:solidFill>
              </a:rPr>
              <a:t>425/425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31520" y="5440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FC9C2"/>
                </a:solidFill>
              </a:rPr>
              <a:t>exact geometry recovered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0" y="4892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7C86"/>
                </a:solidFill>
              </a:rPr>
              <a:t>740–1218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114800" y="5440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FC9C2"/>
                </a:solidFill>
              </a:rPr>
              <a:t>experiments presented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498080" y="4892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97706"/>
                </a:solidFill>
              </a:rPr>
              <a:t>synthetic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498080" y="5440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FC9C2"/>
                </a:solidFill>
              </a:rPr>
              <a:t>not yet field-validated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042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hidden rebar from a single radar trace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63238"/>
                </a:solidFill>
              </a:rPr>
              <a:t>Ground-penetrating radar sees concrete from the surface. We want each rebar's horizontal position (x), depth (z) and radius (r) — but the only measurement is the reflected waveform.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64008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97180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2825496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63238"/>
                </a:solidFill>
              </a:rPr>
              <a:t>Forward model: FDTD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463040" y="3154680"/>
            <a:ext cx="5349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80"/>
                </a:solidFill>
              </a:rPr>
              <a:t>Finite-difference time-domain simulation turns any candidate concrete/rebar scene into a synthetic radar waveform.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3913632"/>
            <a:ext cx="64008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187952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404164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63238"/>
                </a:solidFill>
              </a:rPr>
              <a:t>Inverse model: FWI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463040" y="4370832"/>
            <a:ext cx="5349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80"/>
                </a:solidFill>
              </a:rPr>
              <a:t>The optimizer never sees the truth. It proposes scenes and keeps the one whose simulated waveform best matches the reference.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5129784"/>
            <a:ext cx="64008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404104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63040" y="52578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63238"/>
                </a:solidFill>
              </a:rPr>
              <a:t>Three synthetic rebars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1463040" y="5586984"/>
            <a:ext cx="5349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80"/>
                </a:solidFill>
              </a:rPr>
              <a:t>target0 (150, 80, r5) · target1 (250, 100, r6) · target2 (350, 120, r8), in millimetres.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7269480" y="1600200"/>
            <a:ext cx="4343400" cy="4572000"/>
          </a:xfrm>
          <a:prstGeom prst="roundRect">
            <a:avLst>
              <a:gd name="adj" fmla="val 1684"/>
            </a:avLst>
          </a:prstGeom>
          <a:solidFill>
            <a:srgbClr val="263238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/>
          <p:nvPr/>
        </p:nvSpPr>
        <p:spPr>
          <a:xfrm>
            <a:off x="7498080" y="18288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4C9A3"/>
                </a:solidFill>
              </a:rPr>
              <a:t>THE OPTIMIZER LOOP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7498080" y="2331720"/>
            <a:ext cx="457200" cy="457200"/>
          </a:xfrm>
          <a:prstGeom prst="ellipse">
            <a:avLst/>
          </a:prstGeom>
          <a:solidFill>
            <a:srgbClr val="0D7C8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749808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8092440" y="23134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Propose a candidate scene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8092440" y="26334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FC9C2"/>
                </a:solidFill>
              </a:rPr>
              <a:t>guess x, z, r in bounded windows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7498080" y="3264408"/>
            <a:ext cx="457200" cy="457200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/>
          <p:nvPr/>
        </p:nvSpPr>
        <p:spPr>
          <a:xfrm>
            <a:off x="7498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8092440" y="32461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Simulate its waveform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8092440" y="35661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FC9C2"/>
                </a:solidFill>
              </a:rPr>
              <a:t>run FDTD forward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7498080" y="4197096"/>
            <a:ext cx="457200" cy="45720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3"/>
          <p:cNvSpPr/>
          <p:nvPr/>
        </p:nvSpPr>
        <p:spPr>
          <a:xfrm>
            <a:off x="7498080" y="4197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9" name="Text 24"/>
          <p:cNvSpPr/>
          <p:nvPr/>
        </p:nvSpPr>
        <p:spPr>
          <a:xfrm>
            <a:off x="8092440" y="41788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Score the misfit</a:t>
            </a:r>
            <a:endParaRPr lang="en-US" sz="1350" dirty="0"/>
          </a:p>
        </p:txBody>
      </p:sp>
      <p:sp>
        <p:nvSpPr>
          <p:cNvPr id="30" name="Text 25"/>
          <p:cNvSpPr/>
          <p:nvPr/>
        </p:nvSpPr>
        <p:spPr>
          <a:xfrm>
            <a:off x="8092440" y="44988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FC9C2"/>
                </a:solidFill>
              </a:rPr>
              <a:t>candidate vs reference (lower is better)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7498080" y="5129784"/>
            <a:ext cx="457200" cy="457200"/>
          </a:xfrm>
          <a:prstGeom prst="ellipse">
            <a:avLst/>
          </a:prstGeom>
          <a:solidFill>
            <a:srgbClr val="2C7A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/>
          <p:nvPr/>
        </p:nvSpPr>
        <p:spPr>
          <a:xfrm>
            <a:off x="7498080" y="5129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8092440" y="511149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Pick the best, report margin</a:t>
            </a:r>
            <a:endParaRPr lang="en-US" sz="1350" dirty="0"/>
          </a:p>
        </p:txBody>
      </p:sp>
      <p:sp>
        <p:nvSpPr>
          <p:cNvPr id="34" name="Text 29"/>
          <p:cNvSpPr/>
          <p:nvPr/>
        </p:nvSpPr>
        <p:spPr>
          <a:xfrm>
            <a:off x="8092440" y="54315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FC9C2"/>
                </a:solidFill>
              </a:rPr>
              <a:t>best radius vs runner-up radius</a:t>
            </a:r>
            <a:endParaRPr lang="en-US" sz="1050" dirty="0"/>
          </a:p>
        </p:txBody>
      </p:sp>
      <p:sp>
        <p:nvSpPr>
          <p:cNvPr id="35" name="Text 30"/>
          <p:cNvSpPr/>
          <p:nvPr/>
        </p:nvSpPr>
        <p:spPr>
          <a:xfrm>
            <a:off x="7498080" y="6080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9AA0A6"/>
                </a:solidFill>
              </a:rPr>
              <a:t>loops until the misfit stops improving</a:t>
            </a:r>
            <a:endParaRPr lang="en-US" sz="1050" dirty="0"/>
          </a:p>
        </p:txBody>
      </p:sp>
      <p:sp>
        <p:nvSpPr>
          <p:cNvPr id="36" name="Text 31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</a:rPr>
              <a:t>Synthetic GPR-FDTD-FWI rebar inversion  ·  status as of June 2026</a:t>
            </a:r>
            <a:endParaRPr lang="en-US" sz="850" dirty="0"/>
          </a:p>
        </p:txBody>
      </p:sp>
      <p:sp>
        <p:nvSpPr>
          <p:cNvPr id="37" name="Text 32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DE63A3-7FAB-4997-3736-8E5D88F51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664BFC4-FC69-04B0-FDAC-2746C6C83BEB}"/>
              </a:ext>
            </a:extLst>
          </p:cNvPr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D7C86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0A31D01-06CC-7A2F-0317-6BB25C966255}"/>
              </a:ext>
            </a:extLst>
          </p:cNvPr>
          <p:cNvSpPr/>
          <p:nvPr/>
        </p:nvSpPr>
        <p:spPr>
          <a:xfrm>
            <a:off x="548640" y="749808"/>
            <a:ext cx="11064240" cy="642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Forward simulation and inverse recovery</a:t>
            </a:r>
            <a:endParaRPr lang="en-US" sz="30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55A5AF4-35E4-264F-1810-61D76308D27C}"/>
              </a:ext>
            </a:extLst>
          </p:cNvPr>
          <p:cNvSpPr/>
          <p:nvPr/>
        </p:nvSpPr>
        <p:spPr>
          <a:xfrm>
            <a:off x="548640" y="1591056"/>
            <a:ext cx="11064240" cy="4581144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22225">
            <a:solidFill>
              <a:srgbClr val="0D7C86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A024E69-6D1E-3452-DF93-543B118605DB}"/>
              </a:ext>
            </a:extLst>
          </p:cNvPr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</a:rPr>
              <a:t>Synthetic GPR-FDTD-FWI rebar inversion  ·  status as of June 2026</a:t>
            </a:r>
            <a:endParaRPr lang="en-US" sz="85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1D514BF-B46E-8532-ACD0-AD9CFE384C3C}"/>
              </a:ext>
            </a:extLst>
          </p:cNvPr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3</a:t>
            </a:r>
            <a:endParaRPr lang="en-US" sz="85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9768D6-A478-FF92-16B9-CD5C382A3D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4852" y="1727200"/>
            <a:ext cx="8315919" cy="4380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5317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D7C86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4222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Forward simulation and inverse recovery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</a:rPr>
              <a:t>Synthetic GPR-FDTD-FWI rebar inversion  ·  status as of June 2026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3</a:t>
            </a:r>
            <a:endParaRPr lang="en-US" sz="85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9AE978A-862B-D6A0-0A94-73329058E8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85"/>
          <a:stretch>
            <a:fillRect/>
          </a:stretch>
        </p:blipFill>
        <p:spPr>
          <a:xfrm>
            <a:off x="2225040" y="1340534"/>
            <a:ext cx="7741920" cy="49649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111534-8E27-39DD-AED7-F7CF8EC5A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1F62BEA-0200-5F5B-8662-588906893FA4}"/>
              </a:ext>
            </a:extLst>
          </p:cNvPr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D7C86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7C3026E-3269-BE9E-9336-E530851A1898}"/>
              </a:ext>
            </a:extLst>
          </p:cNvPr>
          <p:cNvSpPr/>
          <p:nvPr/>
        </p:nvSpPr>
        <p:spPr>
          <a:xfrm>
            <a:off x="548640" y="749808"/>
            <a:ext cx="11064240" cy="39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Radius ambiguity &amp; confidence margin</a:t>
            </a:r>
            <a:endParaRPr lang="en-US" sz="3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B2B4285-A5E2-D14B-2FC9-0D4A59073595}"/>
              </a:ext>
            </a:extLst>
          </p:cNvPr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</a:rPr>
              <a:t>Synthetic GPR-FDTD-FWI rebar inversion  ·  status as of June 2026</a:t>
            </a:r>
            <a:endParaRPr lang="en-US" sz="85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5E43666-AE49-BDD1-1A7C-41EE68D6605A}"/>
              </a:ext>
            </a:extLst>
          </p:cNvPr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3</a:t>
            </a:r>
            <a:endParaRPr lang="en-US" sz="85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52F10B-82EC-CDC4-E727-8F4D464C2C0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72"/>
          <a:stretch>
            <a:fillRect/>
          </a:stretch>
        </p:blipFill>
        <p:spPr>
          <a:xfrm>
            <a:off x="1498600" y="1314313"/>
            <a:ext cx="9108440" cy="4987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8199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042"/>
                </a:solidFill>
              </a:rPr>
              <a:t>THE PIPELINE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workflow levels, one mature 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93592" cy="4434840"/>
          </a:xfrm>
          <a:prstGeom prst="roundRect">
            <a:avLst>
              <a:gd name="adj" fmla="val 2036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2024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938528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85042"/>
                </a:solidFill>
              </a:rPr>
              <a:t>1 · Single-rebar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2578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63238"/>
                </a:solidFill>
              </a:rPr>
              <a:t>Detector-seeded local sizing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22960" y="3154680"/>
            <a:ext cx="3090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B7280"/>
                </a:solidFill>
              </a:rPr>
              <a:t>Detects one rebar, seeds an x/z/r refinement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B7280"/>
                </a:solidFill>
              </a:rPr>
              <a:t>Handles synthetic noise &amp; source mismatch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B7280"/>
                </a:solidFill>
              </a:rPr>
              <a:t>Mature for local sizing — not a field claim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" y="5532120"/>
            <a:ext cx="3044952" cy="365760"/>
          </a:xfrm>
          <a:prstGeom prst="roundRect">
            <a:avLst>
              <a:gd name="adj" fmla="val 15000"/>
            </a:avLst>
          </a:prstGeom>
          <a:solidFill>
            <a:srgbClr val="2C7A4B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22960" y="553212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2C7A4B"/>
                </a:solidFill>
              </a:rPr>
              <a:t>MATURE (LOCAL)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06824" y="1645920"/>
            <a:ext cx="3593592" cy="4434840"/>
          </a:xfrm>
          <a:prstGeom prst="roundRect">
            <a:avLst>
              <a:gd name="adj" fmla="val 2036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1144" y="192024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66944" y="1938528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D7C86"/>
                </a:solidFill>
              </a:rPr>
              <a:t>2 · Multi-rebar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581144" y="2578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63238"/>
                </a:solidFill>
              </a:rPr>
              <a:t>Coordinate optimizer (the core)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581144" y="3154680"/>
            <a:ext cx="3090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B7280"/>
                </a:solidFill>
              </a:rPr>
              <a:t>3-rebar variable depth &amp; radius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B7280"/>
                </a:solidFill>
              </a:rPr>
              <a:t>Bounded x/z/r search vs reference waveform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B7280"/>
                </a:solidFill>
              </a:rPr>
              <a:t>Reports geometry, radius, margin, diagnostics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4581144" y="5532120"/>
            <a:ext cx="3044952" cy="365760"/>
          </a:xfrm>
          <a:prstGeom prst="roundRect">
            <a:avLst>
              <a:gd name="adj" fmla="val 15000"/>
            </a:avLst>
          </a:prstGeom>
          <a:solidFill>
            <a:srgbClr val="2C7A4B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4581144" y="553212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2C7A4B"/>
                </a:solidFill>
              </a:rPr>
              <a:t>MATURE CORE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8065008" y="1645920"/>
            <a:ext cx="3593592" cy="4434840"/>
          </a:xfrm>
          <a:prstGeom prst="roundRect">
            <a:avLst>
              <a:gd name="adj" fmla="val 2036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9328" y="1920240"/>
            <a:ext cx="548640" cy="5486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025128" y="1938528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B7280"/>
                </a:solidFill>
              </a:rPr>
              <a:t>3 · Field-data QC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339328" y="2578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63238"/>
                </a:solidFill>
              </a:rPr>
              <a:t>Real GSSI data — import only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8339328" y="3154680"/>
            <a:ext cx="3090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B7280"/>
                </a:solidFill>
              </a:rPr>
              <a:t>DZT import, metadata audit, sanity checks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B7280"/>
                </a:solidFill>
              </a:rPr>
              <a:t>Kept separate from synthetic experiments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B7280"/>
                </a:solidFill>
              </a:rPr>
              <a:t>No validated field inversion yet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339328" y="5532120"/>
            <a:ext cx="3044952" cy="365760"/>
          </a:xfrm>
          <a:prstGeom prst="roundRect">
            <a:avLst>
              <a:gd name="adj" fmla="val 15000"/>
            </a:avLst>
          </a:prstGeom>
          <a:solidFill>
            <a:srgbClr val="D97706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/>
          <p:nvPr/>
        </p:nvSpPr>
        <p:spPr>
          <a:xfrm>
            <a:off x="8339328" y="553212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D97706"/>
                </a:solidFill>
              </a:rPr>
              <a:t>QC STAGE ONLY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</a:rPr>
              <a:t>Synthetic GPR-FDTD-FWI rebar inversion  ·  status as of June 2026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C7A4B"/>
                </a:solidFill>
              </a:rPr>
              <a:t>STRONGEST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 geometry every time, across 425 runs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7373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D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425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95528" y="245059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coordinate-optimizer runs parsed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70248" y="160020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498848" y="17373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C7A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425/425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17136" y="245059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selected the exact x / z / 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91856" y="160020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20456" y="17373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266/425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238744" y="245059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also cleared the strict cutoff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649224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33375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63238"/>
                </a:solidFill>
              </a:rPr>
              <a:t>Acceptance fraction by target</a:t>
            </a:r>
            <a:endParaRPr lang="en-US" sz="1400" dirty="0"/>
          </a:p>
        </p:txBody>
      </p:sp>
      <p:graphicFrame>
        <p:nvGraphicFramePr>
          <p:cNvPr id="15" name="Chart 0"/>
          <p:cNvGraphicFramePr/>
          <p:nvPr/>
        </p:nvGraphicFramePr>
        <p:xfrm>
          <a:off x="640080" y="3749040"/>
          <a:ext cx="63093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Shape 13"/>
          <p:cNvSpPr/>
          <p:nvPr/>
        </p:nvSpPr>
        <p:spPr>
          <a:xfrm>
            <a:off x="7223760" y="3200400"/>
            <a:ext cx="4389120" cy="3017520"/>
          </a:xfrm>
          <a:prstGeom prst="roundRect">
            <a:avLst>
              <a:gd name="adj" fmla="val 2424"/>
            </a:avLst>
          </a:prstGeom>
          <a:solidFill>
            <a:srgbClr val="263238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0" y="340156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001000" y="341985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What the numbers mean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7452360" y="3977640"/>
            <a:ext cx="3977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4C9A3"/>
                </a:solidFill>
              </a:rPr>
              <a:t>Localization is solved. 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FC9C2"/>
                </a:solidFill>
              </a:rPr>
              <a:t>Every run picked the correct rebar geometry in the tested windows.
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</a:rPr>
              <a:t>target2 is the most fragile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FC9C2"/>
                </a:solidFill>
              </a:rPr>
              <a:t>by confidence (51.8% accepted) even though its geometry is still exact.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</a:rPr>
              <a:t>Synthetic GPR-FDTD-FWI rebar inversion  ·  status as of June 2026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97706"/>
                </a:solidFill>
              </a:rPr>
              <a:t>THE OPEN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issue isn't location — it's confidence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63238"/>
                </a:solidFill>
              </a:rPr>
              <a:t>159 of 425 exact-geometry runs stayed below the strict 5.0e-4 margin. The right rebar is found, but the best radius is sometimes only slightly better than the next competing radius.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2651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63238"/>
                </a:solidFill>
              </a:rPr>
              <a:t>Exact-geometry runs</a:t>
            </a:r>
            <a:endParaRPr lang="en-US" sz="135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685800" y="2926080"/>
          <a:ext cx="393192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4983480" y="2514600"/>
            <a:ext cx="662940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0" y="2825496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852160" y="2660904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63238"/>
                </a:solidFill>
              </a:rPr>
              <a:t>Why it happens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5852160" y="2990088"/>
            <a:ext cx="5623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80"/>
                </a:solidFill>
              </a:rPr>
              <a:t>Two scenes that differ only slightly in radius can produce almost identical waveforms. The optimizer must separate them on a tiny misfit difference.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983480" y="3758184"/>
            <a:ext cx="662940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0" y="406908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852160" y="390448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63238"/>
                </a:solidFill>
              </a:rPr>
              <a:t>Why it's good practice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5852160" y="4233672"/>
            <a:ext cx="5623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80"/>
                </a:solidFill>
              </a:rPr>
              <a:t>Confidence reporting flags the 159 weak rows instead of overstating certainty — it distinguishes exact-and-clear from exact-but-ambiguous.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983480" y="5001768"/>
            <a:ext cx="662940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2080" y="5312664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852160" y="514807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63238"/>
                </a:solidFill>
              </a:rPr>
              <a:t>Where it bites most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5852160" y="5477256"/>
            <a:ext cx="5623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80"/>
                </a:solidFill>
              </a:rPr>
              <a:t>target2 (deeper, larger) is the most acceptance-fragile; target1 has exact-but-weak branches that resist simple escalation.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</a:rPr>
              <a:t>Synthetic GPR-FDTD-FWI rebar inversion  ·  status as of June 2026</a:t>
            </a:r>
            <a:endParaRPr lang="en-US" sz="850" dirty="0"/>
          </a:p>
        </p:txBody>
      </p:sp>
      <p:sp>
        <p:nvSpPr>
          <p:cNvPr id="21" name="Text 15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042"/>
                </a:solidFill>
              </a:rPr>
              <a:t>RESCUE INTERVENTIONS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rescues a weak run — and what doesn't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63238"/>
                </a:solidFill>
              </a:rPr>
              <a:t>117 multi-run series tested three intervention families. The lesson: rescues are real but not monotonic — more is not always better.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593592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24688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24505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06"/>
                </a:solidFill>
              </a:rPr>
              <a:t>Source-density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417320" y="27797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</a:rPr>
              <a:t>62 series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4672" y="32004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63238"/>
                </a:solidFill>
              </a:rPr>
              <a:t>Often helps target2, but more sources can also worsen the margin.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06824" y="2240280"/>
            <a:ext cx="3593592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2856" y="246888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75504" y="24505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7C86"/>
                </a:solidFill>
              </a:rPr>
              <a:t>Tx / Rx offset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175504" y="27797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</a:rPr>
              <a:t>33 series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4562856" y="32004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63238"/>
                </a:solidFill>
              </a:rPr>
              <a:t>Bracketing rescues acquisition-sensitive cases, especially target0.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065008" y="2240280"/>
            <a:ext cx="3593592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2468880"/>
            <a:ext cx="502920" cy="5029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33688" y="24505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85042"/>
                </a:solidFill>
              </a:rPr>
              <a:t>Ringdown tuning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933688" y="27797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</a:rPr>
              <a:t>22 series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8321040" y="32004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63238"/>
                </a:solidFill>
              </a:rPr>
              <a:t>Stable when already in the right regime — not a universal rescue.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48640" y="4343400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263238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822960" y="4526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F4C9A3"/>
                </a:solidFill>
              </a:rPr>
              <a:t>CONCRETE EXAMPLE  ·  target2 source-density rescue (runs 1207–1209)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822960" y="4983480"/>
            <a:ext cx="2926080" cy="960120"/>
          </a:xfrm>
          <a:prstGeom prst="roundRect">
            <a:avLst>
              <a:gd name="adj" fmla="val 6667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4A2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1005840" y="50749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 sources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1005840" y="54406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FC9C2"/>
                </a:solidFill>
              </a:rPr>
              <a:t>margin 4.24e-4   </a:t>
            </a:r>
            <a:r>
              <a:rPr lang="en-US" sz="1150" b="1" dirty="0">
                <a:solidFill>
                  <a:srgbClr val="F4A23C"/>
                </a:solidFill>
              </a:rPr>
              <a:t>weak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3730752" y="507492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AA0A6"/>
                </a:solidFill>
              </a:rPr>
              <a:t>→</a:t>
            </a:r>
            <a:endParaRPr lang="en-US" sz="2400" dirty="0"/>
          </a:p>
        </p:txBody>
      </p:sp>
      <p:sp>
        <p:nvSpPr>
          <p:cNvPr id="26" name="Shape 21"/>
          <p:cNvSpPr/>
          <p:nvPr/>
        </p:nvSpPr>
        <p:spPr>
          <a:xfrm>
            <a:off x="4224528" y="4983480"/>
            <a:ext cx="2926080" cy="960120"/>
          </a:xfrm>
          <a:prstGeom prst="roundRect">
            <a:avLst>
              <a:gd name="adj" fmla="val 6667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4A2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2"/>
          <p:cNvSpPr/>
          <p:nvPr/>
        </p:nvSpPr>
        <p:spPr>
          <a:xfrm>
            <a:off x="4407408" y="50749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 sources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4407408" y="54406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FC9C2"/>
                </a:solidFill>
              </a:rPr>
              <a:t>margin 4.94e-4   </a:t>
            </a:r>
            <a:r>
              <a:rPr lang="en-US" sz="1150" b="1" dirty="0">
                <a:solidFill>
                  <a:srgbClr val="F4A23C"/>
                </a:solidFill>
              </a:rPr>
              <a:t>near cutoff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7132320" y="507492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AA0A6"/>
                </a:solidFill>
              </a:rPr>
              <a:t>→</a:t>
            </a:r>
            <a:endParaRPr lang="en-US" sz="2400" dirty="0"/>
          </a:p>
        </p:txBody>
      </p:sp>
      <p:sp>
        <p:nvSpPr>
          <p:cNvPr id="30" name="Shape 25"/>
          <p:cNvSpPr/>
          <p:nvPr/>
        </p:nvSpPr>
        <p:spPr>
          <a:xfrm>
            <a:off x="7626096" y="4983480"/>
            <a:ext cx="2926080" cy="960120"/>
          </a:xfrm>
          <a:prstGeom prst="roundRect">
            <a:avLst>
              <a:gd name="adj" fmla="val 6667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5BBE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6"/>
          <p:cNvSpPr/>
          <p:nvPr/>
        </p:nvSpPr>
        <p:spPr>
          <a:xfrm>
            <a:off x="7808976" y="50749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 sources</a:t>
            </a:r>
            <a:endParaRPr lang="en-US" sz="1500" dirty="0"/>
          </a:p>
        </p:txBody>
      </p:sp>
      <p:sp>
        <p:nvSpPr>
          <p:cNvPr id="32" name="Text 27"/>
          <p:cNvSpPr/>
          <p:nvPr/>
        </p:nvSpPr>
        <p:spPr>
          <a:xfrm>
            <a:off x="7808976" y="54406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FC9C2"/>
                </a:solidFill>
              </a:rPr>
              <a:t>margin 5.60e-4   </a:t>
            </a:r>
            <a:r>
              <a:rPr lang="en-US" sz="1150" b="1" dirty="0">
                <a:solidFill>
                  <a:srgbClr val="5BBE84"/>
                </a:solidFill>
              </a:rPr>
              <a:t>accepted</a:t>
            </a:r>
            <a:endParaRPr lang="en-US" sz="1150" dirty="0"/>
          </a:p>
        </p:txBody>
      </p:sp>
      <p:sp>
        <p:nvSpPr>
          <p:cNvPr id="33" name="Text 28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</a:rPr>
              <a:t>Synthetic GPR-FDTD-FWI rebar inversion  ·  status as of June 2026</a:t>
            </a:r>
            <a:endParaRPr lang="en-US" sz="850" dirty="0"/>
          </a:p>
        </p:txBody>
      </p:sp>
      <p:sp>
        <p:nvSpPr>
          <p:cNvPr id="34" name="Text 29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D7C86"/>
                </a:solidFill>
              </a:rPr>
              <a:t>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Confirmed, partial, and still open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93592" cy="4526280"/>
          </a:xfrm>
          <a:prstGeom prst="roundRect">
            <a:avLst>
              <a:gd name="adj" fmla="val 2036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593592" cy="777240"/>
          </a:xfrm>
          <a:prstGeom prst="roundRect">
            <a:avLst>
              <a:gd name="adj" fmla="val 9412"/>
            </a:avLst>
          </a:prstGeom>
          <a:solidFill>
            <a:srgbClr val="2C7A4B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82880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8288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2C7A4B"/>
                </a:solidFill>
              </a:rPr>
              <a:t>CONFIRMED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" y="2697480"/>
            <a:ext cx="3154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Synthetic FDTD forward modeling</a:t>
            </a:r>
            <a:endParaRPr lang="en-US" sz="1200" dirty="0"/>
          </a:p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Single-rebar local refinement</a:t>
            </a:r>
            <a:endParaRPr lang="en-US" sz="1200" dirty="0"/>
          </a:p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3-rebar bounded coordinate optimization</a:t>
            </a:r>
            <a:endParaRPr lang="en-US" sz="1200" dirty="0"/>
          </a:p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Meaningful confidence reporting</a:t>
            </a:r>
            <a:endParaRPr lang="en-US" sz="1200" dirty="0"/>
          </a:p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Objective-variant diagnostics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06824" y="1645920"/>
            <a:ext cx="3593592" cy="4526280"/>
          </a:xfrm>
          <a:prstGeom prst="roundRect">
            <a:avLst>
              <a:gd name="adj" fmla="val 2036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306824" y="1645920"/>
            <a:ext cx="3593592" cy="777240"/>
          </a:xfrm>
          <a:prstGeom prst="roundRect">
            <a:avLst>
              <a:gd name="adj" fmla="val 9412"/>
            </a:avLst>
          </a:prstGeom>
          <a:solidFill>
            <a:srgbClr val="D97706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1144" y="182880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29784" y="18288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D97706"/>
                </a:solidFill>
              </a:rPr>
              <a:t>PARTIAL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599432" y="2697480"/>
            <a:ext cx="3154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Source-density rescue policies</a:t>
            </a:r>
            <a:endParaRPr lang="en-US" sz="1200" dirty="0"/>
          </a:p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Tx/Rx-offset rescue policies</a:t>
            </a:r>
            <a:endParaRPr lang="en-US" sz="1200" dirty="0"/>
          </a:p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Ringdown050 replication near cutoff</a:t>
            </a:r>
            <a:endParaRPr lang="en-US" sz="1200" dirty="0"/>
          </a:p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target1 exact-but-weak handling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65008" y="1645920"/>
            <a:ext cx="3593592" cy="4526280"/>
          </a:xfrm>
          <a:prstGeom prst="roundRect">
            <a:avLst>
              <a:gd name="adj" fmla="val 2036"/>
            </a:avLst>
          </a:prstGeom>
          <a:solidFill>
            <a:srgbClr val="FFFFFF"/>
          </a:solidFill>
          <a:ln w="12700">
            <a:solidFill>
              <a:srgbClr val="D8D3C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065008" y="1645920"/>
            <a:ext cx="3593592" cy="777240"/>
          </a:xfrm>
          <a:prstGeom prst="roundRect">
            <a:avLst>
              <a:gd name="adj" fmla="val 9412"/>
            </a:avLst>
          </a:prstGeom>
          <a:solidFill>
            <a:srgbClr val="B85042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9328" y="182880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887968" y="18288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B85042"/>
                </a:solidFill>
              </a:rPr>
              <a:t>UNRESOLVED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357616" y="2697480"/>
            <a:ext cx="3154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Real GSSI field-data inversion</a:t>
            </a:r>
            <a:endParaRPr lang="en-US" sz="1200" dirty="0"/>
          </a:p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3D FDTD / FWI &amp; 3D acquisition</a:t>
            </a:r>
            <a:endParaRPr lang="en-US" sz="1200" dirty="0"/>
          </a:p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Universal global optimizer</a:t>
            </a:r>
            <a:endParaRPr lang="en-US" sz="1200" dirty="0"/>
          </a:p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Synthetic → field threshold transfer</a:t>
            </a:r>
            <a:endParaRPr lang="en-US" sz="1200" dirty="0"/>
          </a:p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</a:rPr>
              <a:t>Coverage of older special cases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</a:rPr>
              <a:t>Synthetic GPR-FDTD-FWI rebar inversion  ·  status as of June 2026</a:t>
            </a:r>
            <a:endParaRPr lang="en-US" sz="850" dirty="0"/>
          </a:p>
        </p:txBody>
      </p:sp>
      <p:sp>
        <p:nvSpPr>
          <p:cNvPr id="20" name="Text 15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9296" y="5212080"/>
            <a:ext cx="502920" cy="502920"/>
          </a:xfrm>
          <a:prstGeom prst="ellipse">
            <a:avLst/>
          </a:prstGeom>
          <a:solidFill>
            <a:srgbClr val="B85042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985248" y="5669280"/>
            <a:ext cx="640080" cy="640080"/>
          </a:xfrm>
          <a:prstGeom prst="ellipse">
            <a:avLst/>
          </a:prstGeom>
          <a:solidFill>
            <a:srgbClr val="B85042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872984" y="1280160"/>
            <a:ext cx="731520" cy="731520"/>
          </a:xfrm>
          <a:prstGeom prst="ellipse">
            <a:avLst/>
          </a:prstGeom>
          <a:solidFill>
            <a:srgbClr val="B85042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571232" y="2103120"/>
            <a:ext cx="457200" cy="457200"/>
          </a:xfrm>
          <a:prstGeom prst="ellipse">
            <a:avLst/>
          </a:prstGeom>
          <a:solidFill>
            <a:srgbClr val="B85042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037576" y="5852160"/>
            <a:ext cx="411480" cy="411480"/>
          </a:xfrm>
          <a:prstGeom prst="ellipse">
            <a:avLst/>
          </a:prstGeom>
          <a:solidFill>
            <a:srgbClr val="B85042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777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F4C9A3"/>
                </a:solidFill>
              </a:rPr>
              <a:t>RECOMMENDED NEXT STEP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2344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narrow decision pass — not another long marathon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31520" y="22860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CFC9C2"/>
                </a:solidFill>
              </a:rPr>
              <a:t>The project is at a genuine stop-and-evaluate point. The next GPU run should answer one specific policy question, not broadly continue replication.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31520" y="320040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4A5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611880"/>
            <a:ext cx="502920" cy="502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645920" y="34015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</a:rPr>
              <a:t>target1 weak branches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1645920" y="380390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FC9C2"/>
                </a:solidFill>
              </a:rPr>
              <a:t>Decide when to use Tx/Rx bracketing instead of adding sources.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20040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4A5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9672" y="361188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78040" y="34015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</a:rPr>
              <a:t>target2 near-misses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7178040" y="380390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FC9C2"/>
                </a:solidFill>
              </a:rPr>
              <a:t>Decide when to escalate 5 → 7 → 9 source density.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731520" y="470916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4A5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512064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45920" y="49103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</a:rPr>
              <a:t>Two cutoffs</a:t>
            </a:r>
            <a:endParaRPr lang="en-US" sz="1550" dirty="0"/>
          </a:p>
        </p:txBody>
      </p:sp>
      <p:sp>
        <p:nvSpPr>
          <p:cNvPr id="21" name="Text 16"/>
          <p:cNvSpPr/>
          <p:nvPr/>
        </p:nvSpPr>
        <p:spPr>
          <a:xfrm>
            <a:off x="1645920" y="531266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FC9C2"/>
                </a:solidFill>
              </a:rPr>
              <a:t>Separate strict research confidence from practical reporting confidence.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263640" y="470916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4A5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9672" y="5120640"/>
            <a:ext cx="502920" cy="5029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78040" y="49103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</a:rPr>
              <a:t>Keep field data apart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7178040" y="531266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FC9C2"/>
                </a:solidFill>
              </a:rPr>
              <a:t>Field-data experiments and trackers stay separate from synthetic.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9AA0A6"/>
                </a:solidFill>
              </a:rPr>
              <a:t>Strongest result today: a mature synthetic inversion-and-reporting pipeline — not yet field-validated, not yet 3D.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C4809-EA64-84DD-8EF6-625D77847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45263F-C3B6-3D99-2B14-95285AA33A2C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FDC5A86-628F-1684-3B08-8D6B8F989F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6970" y="414096"/>
            <a:ext cx="10273030" cy="6172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1672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BD8A6-FA3B-7997-E557-E840B0E12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0952893-3243-C57C-4BED-431EFA8FEB21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7C5737-7BD0-74E6-D5BB-E2C2F350DA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008" y="279577"/>
            <a:ext cx="10569984" cy="6298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340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971D2-26E7-D52E-042E-0D26C1B3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92BF557-B5BE-773E-5AFF-C0B7EB6B4001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7C098E7-C044-BE4E-097A-BEFD921992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5164" y="3670946"/>
            <a:ext cx="5311757" cy="318705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F7ADC3E-FFA2-0FA8-8BBD-5EB3BBF344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079" y="3931317"/>
            <a:ext cx="4520799" cy="287181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FD67BC9-2198-80AA-EB4B-8BC241AC70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496" y="156162"/>
            <a:ext cx="6125811" cy="367385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DCF43FE-B3CC-898E-7AFA-C2B71FA19A6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36497"/>
          <a:stretch>
            <a:fillRect/>
          </a:stretch>
        </p:blipFill>
        <p:spPr>
          <a:xfrm>
            <a:off x="6543323" y="346885"/>
            <a:ext cx="5544316" cy="268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9505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EBCCE-FFEE-15CE-C871-D7A7BDE68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9B43FB1-7F1A-5D83-663D-036FDA2D0302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8497A45-5F24-6CD8-5A25-6D9E8D9222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87624"/>
            <a:ext cx="8553000" cy="6367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6729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5AD98-AABE-CC6E-F55C-0152E2762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0182AED-5778-837A-57C8-D588CFB07E5F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822A04F-9A32-F887-5FFA-C7596BF77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360" y="586274"/>
            <a:ext cx="10711279" cy="5424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261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6C8C4-B179-52FD-18A7-FABF793B0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1E54078-25F0-4DDF-6362-DB7932AEC8F8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6DCE2C-FE38-395B-A942-6044E904FB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41" y="1496313"/>
            <a:ext cx="9947964" cy="3658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5514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DF52E-4A75-0397-CBD6-985D18F61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1574E2-FA09-D75E-EF5A-962013700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810" y="223520"/>
            <a:ext cx="5177422" cy="311751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99C66FD-A119-E611-9076-43AA34211BE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6993"/>
          <a:stretch>
            <a:fillRect/>
          </a:stretch>
        </p:blipFill>
        <p:spPr>
          <a:xfrm>
            <a:off x="6323596" y="223520"/>
            <a:ext cx="5630074" cy="270099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1595967-83FD-6081-5A08-902458385C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090" y="3532769"/>
            <a:ext cx="5095142" cy="32366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4B655B-80A1-C86A-BF92-E9DF2B9FCE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7479" y="3528053"/>
            <a:ext cx="5402308" cy="3241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54822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39311-7874-DB6B-005C-A0B458363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976414B-A093-E4FE-D2BB-EDDF516DBAC1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378585-3A34-FD19-84A7-B684096899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7160" y="224816"/>
            <a:ext cx="8380280" cy="6238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7660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4FA9C-8C20-CF3E-5ADB-EB56A515C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4EF7F07-1C48-17F7-F629-200C78325214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FF1E64-CEF8-0CB0-9E48-11FBB94EEB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949" y="697357"/>
            <a:ext cx="10788102" cy="5463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827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A6B6C-7739-0365-F274-10461FB7F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B464CD3-BDC6-F494-CF12-5282FFAA6362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08E0ED-D813-692A-58AE-787905FD33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400810"/>
            <a:ext cx="10047408" cy="3695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5611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44DBB-C652-1BDC-6854-AD975FF33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5856E4B-D75A-2FF0-0F5F-B9D97ACEB56F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8D4398-32CE-5DE9-D9DB-AA76E2B274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226" y="189740"/>
            <a:ext cx="5040462" cy="303504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0E5168D-E266-45FB-BA8D-674BF577D29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6577"/>
          <a:stretch>
            <a:fillRect/>
          </a:stretch>
        </p:blipFill>
        <p:spPr>
          <a:xfrm>
            <a:off x="6268720" y="189740"/>
            <a:ext cx="5705454" cy="275520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2414C0-0DED-CF7C-9C2B-521FECBC07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746" y="3429000"/>
            <a:ext cx="5192862" cy="32987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4654F49-8838-895C-59E4-D52CE47FE5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5847" y="3304472"/>
            <a:ext cx="5705454" cy="3423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8427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4B3E2-F8D1-EF88-BF2F-B3CB77591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E44844-5868-8A56-A82F-FBB77EAA385A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072313-D03D-92D8-2642-226ACDEB76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560" y="283201"/>
            <a:ext cx="8451400" cy="6291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664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3334D-643E-5578-AFD0-80272470C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5B3E53F-DD7C-8AFF-4E6C-8D94B0673523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AB76EB-5AE1-EBBB-1A57-57239F303C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250" y="670700"/>
            <a:ext cx="10432910" cy="5283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2223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1BF1A-BDD9-F51E-D67C-272B3E574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E4A04F3-EF6F-C4F8-FEAE-B2885B3438BE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4CB8FF-605E-3BE0-8C19-C7F7AA124A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40" y="1467844"/>
            <a:ext cx="9890760" cy="363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9801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1243F-08B2-F912-959A-A635A05E5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8938027-FE3C-A460-17BC-4793FFD28098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1AB6946-A69A-56EC-FAA4-C64B55F91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996" y="1092200"/>
            <a:ext cx="11696007" cy="4288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0961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137F7-2E4F-6B33-7349-AE9FCEB9B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C7DFE2D-DBBD-27AF-D5E6-497FA8D1E614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B03089-1481-168E-A39F-DE7065D78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64" y="1074496"/>
            <a:ext cx="11229436" cy="4022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22489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956</Words>
  <Application>Microsoft Macintosh PowerPoint</Application>
  <PresentationFormat>Widescreen</PresentationFormat>
  <Paragraphs>165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GPR Rebar Inversion</dc:title>
  <dc:subject>PptxGenJS Presentation</dc:subject>
  <dc:creator>GPR-FWI project</dc:creator>
  <cp:lastModifiedBy>Abdullah Maruf</cp:lastModifiedBy>
  <cp:revision>6</cp:revision>
  <dcterms:created xsi:type="dcterms:W3CDTF">2026-06-12T13:05:29Z</dcterms:created>
  <dcterms:modified xsi:type="dcterms:W3CDTF">2026-07-01T09:49:49Z</dcterms:modified>
</cp:coreProperties>
</file>