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58" r:id="rId5"/>
    <p:sldId id="266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0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Accepted %</c:v>
                </c:pt>
              </c:strCache>
            </c:strRef>
          </c:tx>
          <c:spPr>
            <a:solidFill>
              <a:srgbClr val="2C7A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95-7E40-ABD9-77A7F64B96F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295-7E40-ABD9-77A7F64B96F9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95-7E40-ABD9-77A7F64B96F9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632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target0
(shallow-left)</c:v>
                </c:pt>
                <c:pt idx="1">
                  <c:v>target1
(center)</c:v>
                </c:pt>
                <c:pt idx="2">
                  <c:v>target2
(deeper-right)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67.900000000000006</c:v>
                </c:pt>
                <c:pt idx="1">
                  <c:v>70.900000000000006</c:v>
                </c:pt>
                <c:pt idx="2">
                  <c:v>51.8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295-7E40-ABD9-77A7F64B96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7A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777-C048-B2C4-FDE470F7FAC3}"/>
              </c:ext>
            </c:extLst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77-C048-B2C4-FDE470F7FAC3}"/>
              </c:ext>
            </c:extLst>
          </c:dPt>
          <c:cat>
            <c:strRef>
              <c:f>Sheet1!$A$2:$A$3</c:f>
              <c:strCache>
                <c:ptCount val="2"/>
                <c:pt idx="0">
                  <c:v>Accepted (clear)</c:v>
                </c:pt>
                <c:pt idx="1">
                  <c:v>Exact but weak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266</c:v>
                </c:pt>
                <c:pt idx="1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777-C048-B2C4-FDE470F7FA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632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0308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D3B19-242D-2431-BCCE-970F9EB0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C10B6A-02C2-C0B4-EC3A-9966E5934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9E5ED-C485-AADD-7CFE-6A3AFD367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CD862-FB01-AEE0-C401-65683C31D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102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2B23D-7AE7-5465-E44C-AB93A5EF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BEF527-CE28-9F52-AB46-B9225F6FE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242B-DF48-CEA5-166C-048A9E2F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165F9-2C69-B151-6B71-3F96A15E0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016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5212080"/>
            <a:ext cx="502920" cy="50292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91840" y="5669280"/>
            <a:ext cx="640080" cy="64008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332720" y="1280160"/>
            <a:ext cx="731520" cy="73152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38560" y="2103120"/>
            <a:ext cx="457200" cy="45720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0" y="5852160"/>
            <a:ext cx="411480" cy="41148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FC9C2"/>
                </a:solidFill>
              </a:rPr>
              <a:t>SYNTHETIC GPR REBAR INVERSION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rebar geometry from radar waveforms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FC9C2"/>
                </a:solidFill>
              </a:rPr>
              <a:t>A mature FDTD / full-waveform-inversion pipeline that recovers a 3-rebar variable-depth, variable-radius scene under noise, source mismatch and ringdown stress — </a:t>
            </a:r>
            <a:r>
              <a:rPr lang="en-US" sz="1550" dirty="0">
                <a:solidFill>
                  <a:srgbClr val="F4C9A3"/>
                </a:solidFill>
              </a:rPr>
              <a:t>with honest confidence reporting.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7A4B"/>
                </a:solidFill>
              </a:rPr>
              <a:t>425/425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exact geometry recovered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7C86"/>
                </a:solidFill>
              </a:rPr>
              <a:t>740–1218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11480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output runs evaluated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97706"/>
                </a:solidFill>
              </a:rPr>
              <a:t>synthetic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49808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not yet field-validated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hidden rebar from a single radar trace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63238"/>
                </a:solidFill>
              </a:rPr>
              <a:t>Ground-penetrating radar sees concrete from the surface. We want each rebar's horizontal position (x), depth (z) and radius (r) — but the only measurement is the reflected waveform.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718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82549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Forward model: FDTD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315468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Finite-difference time-domain simulation turns any candidate concrete/rebar scene into a synthetic radar waveform.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913632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187952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40416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Inverse model: FWI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63040" y="4370832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The optimizer never sees the truth. It proposes scenes and keeps the one whose simulated waveform best matches the reference.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5129784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04104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5257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Three synthetic rebars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63040" y="5586984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target0 (150, 80, r5) · target1 (250, 100, r6) · target2 (350, 120, r8), in millimetres.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269480" y="1600200"/>
            <a:ext cx="4343400" cy="4572000"/>
          </a:xfrm>
          <a:prstGeom prst="roundRect">
            <a:avLst>
              <a:gd name="adj" fmla="val 1684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498080" y="1828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C9A3"/>
                </a:solidFill>
              </a:rPr>
              <a:t>THE OPTIMIZER LOOP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498080" y="2331720"/>
            <a:ext cx="457200" cy="457200"/>
          </a:xfrm>
          <a:prstGeom prst="ellipse">
            <a:avLst/>
          </a:prstGeom>
          <a:solidFill>
            <a:srgbClr val="0D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7498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092440" y="2313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Propose a candidate scene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092440" y="26334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guess x, z, r in bounded windows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498080" y="326440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7498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09244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Simulate its waveform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809244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run FDTD forward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498080" y="4197096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74980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8092440" y="4178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Score the misfit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8092440" y="44988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candidate vs reference (lower is better)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7498080" y="5129784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74980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8092440" y="51114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Pick the best, report margin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8092440" y="54315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best radius vs runner-up radius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7498080" y="6080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AA0A6"/>
                </a:solidFill>
              </a:rPr>
              <a:t>loops until the misfit stops improving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DE63A3-7FAB-4997-3736-8E5D88F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4BFC4-FC69-04B0-FDAC-2746C6C83BEB}"/>
              </a:ext>
            </a:extLst>
          </p:cNvPr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A31D01-06CC-7A2F-0317-6BB25C966255}"/>
              </a:ext>
            </a:extLst>
          </p:cNvPr>
          <p:cNvSpPr/>
          <p:nvPr/>
        </p:nvSpPr>
        <p:spPr>
          <a:xfrm>
            <a:off x="548640" y="749808"/>
            <a:ext cx="11064240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simulation and inverse recovery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55A5AF4-35E4-264F-1810-61D76308D27C}"/>
              </a:ext>
            </a:extLst>
          </p:cNvPr>
          <p:cNvSpPr/>
          <p:nvPr/>
        </p:nvSpPr>
        <p:spPr>
          <a:xfrm>
            <a:off x="548640" y="1591056"/>
            <a:ext cx="11064240" cy="458114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2225">
            <a:solidFill>
              <a:srgbClr val="0D7C8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A024E69-6D1E-3452-DF93-543B118605DB}"/>
              </a:ext>
            </a:extLst>
          </p:cNvPr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1D514BF-B46E-8532-ACD0-AD9CFE384C3C}"/>
              </a:ext>
            </a:extLst>
          </p:cNvPr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9768D6-A478-FF92-16B9-CD5C382A3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852" y="1727200"/>
            <a:ext cx="8315919" cy="438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531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422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simulation and inverse recovery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AE978A-862B-D6A0-0A94-73329058E8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5"/>
          <a:stretch>
            <a:fillRect/>
          </a:stretch>
        </p:blipFill>
        <p:spPr>
          <a:xfrm>
            <a:off x="2225040" y="1340534"/>
            <a:ext cx="7741920" cy="49649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11534-8E27-39DD-AED7-F7CF8EC5A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F62BEA-0200-5F5B-8662-588906893FA4}"/>
              </a:ext>
            </a:extLst>
          </p:cNvPr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C3026E-3269-BE9E-9336-E530851A1898}"/>
              </a:ext>
            </a:extLst>
          </p:cNvPr>
          <p:cNvSpPr/>
          <p:nvPr/>
        </p:nvSpPr>
        <p:spPr>
          <a:xfrm>
            <a:off x="548640" y="749808"/>
            <a:ext cx="11064240" cy="39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Radius ambiguity &amp; confidence margin</a:t>
            </a:r>
            <a:endParaRPr lang="en-US" sz="3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2B4285-A5E2-D14B-2FC9-0D4A59073595}"/>
              </a:ext>
            </a:extLst>
          </p:cNvPr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5E43666-AE49-BDD1-1A7C-41EE68D6605A}"/>
              </a:ext>
            </a:extLst>
          </p:cNvPr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52F10B-82EC-CDC4-E727-8F4D464C2C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72"/>
          <a:stretch>
            <a:fillRect/>
          </a:stretch>
        </p:blipFill>
        <p:spPr>
          <a:xfrm>
            <a:off x="1498600" y="1314313"/>
            <a:ext cx="9108440" cy="498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819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THE PIPELINE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workflow levels, one mature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85042"/>
                </a:solidFill>
              </a:rPr>
              <a:t>1 · Single-rebar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Detector-seeded local sizing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Detects one rebar, seeds an x/z/r refinement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Handles synthetic noise &amp; source mismatch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Mature for local sizing — not a field claim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2C7A4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C7A4B"/>
                </a:solidFill>
              </a:rPr>
              <a:t>MATURE (LOCAL)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06824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92024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7C86"/>
                </a:solidFill>
              </a:rPr>
              <a:t>2 · Multi-rebar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581144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Coordinate optimizer (the core)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81144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3-rebar variable depth &amp; radius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Bounded x/z/r search vs reference waveform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Reports geometry, radius, margin, diagnostics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81144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2C7A4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581144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C7A4B"/>
                </a:solidFill>
              </a:rPr>
              <a:t>MATURE CORE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065008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192024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25128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7280"/>
                </a:solidFill>
              </a:rPr>
              <a:t>3 · Field-data QC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339328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Real GSSI data — import only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339328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DZT import, metadata audit, sanity checks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Kept separate from synthetic experiments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No validated field inversion yet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339328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D97706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8339328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D97706"/>
                </a:solidFill>
              </a:rPr>
              <a:t>QC STAGE ONLY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C7A4B"/>
                </a:solidFill>
              </a:rPr>
              <a:t>STRONGEST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geometry every time, across 425 runs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95528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coordinate-optimizer runs parsed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0248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498848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425/425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17136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selected the exact x / z / 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1856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0456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266/425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38744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also cleared the strict cutoff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64922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3238"/>
                </a:solidFill>
              </a:rPr>
              <a:t>Acceptance fraction by target</a:t>
            </a:r>
            <a:endParaRPr lang="en-US" sz="14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40080" y="3749040"/>
          <a:ext cx="6309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223760" y="3200400"/>
            <a:ext cx="4389120" cy="3017520"/>
          </a:xfrm>
          <a:prstGeom prst="roundRect">
            <a:avLst>
              <a:gd name="adj" fmla="val 2424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340156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01000" y="341985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What the numbers mean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452360" y="3977640"/>
            <a:ext cx="3977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4C9A3"/>
                </a:solidFill>
              </a:rPr>
              <a:t>Localization is solved. 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FC9C2"/>
                </a:solidFill>
              </a:rPr>
              <a:t>Every run picked the correct rebar geometry in the tested windows.
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target2 is the most fragile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FC9C2"/>
                </a:solidFill>
              </a:rPr>
              <a:t>by confidence (51.8% accepted) even though its geometry is still exact.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706"/>
                </a:solidFill>
              </a:rPr>
              <a:t>THE OPEN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issue isn't location — it's confidence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63238"/>
                </a:solidFill>
              </a:rPr>
              <a:t>159 of 425 exact-geometry runs stayed below the strict 5.0e-4 margin. The right rebar is found, but the best radius is sometimes only slightly better than the next competing radius.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</a:rPr>
              <a:t>Exact-geometry runs</a:t>
            </a:r>
            <a:endParaRPr lang="en-US" sz="13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85800" y="2926080"/>
          <a:ext cx="39319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2514600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25496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852160" y="266090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Why it happens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852160" y="2990088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Two scenes that differ only slightly in radius can produce almost identical waveforms. The optimizer must separate them on a tiny misfit difference.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983480" y="3758184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40690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852160" y="39044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Why it's good practice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852160" y="4233672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Confidence reporting flags the 159 weak rows instead of overstating certainty — it distinguishes exact-and-clear from exact-but-ambiguous.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83480" y="5001768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5312664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852160" y="514807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Where it bites most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852160" y="5477256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target2 (deeper, larger) is the most acceptance-fragile; target1 has exact-but-weak branches that resist simple escalation.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RESCUE INTERVENTIONS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rescues a weak run — and what doesn't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63238"/>
                </a:solidFill>
              </a:rPr>
              <a:t>117 multi-run series tested three intervention families. The lesson: rescues are real but not monotonic — more is not always better.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4688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</a:rPr>
              <a:t>Source-density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62 series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Often helps target2, but more sources can also worsen the margin.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06824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56" y="246888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75504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7C86"/>
                </a:solidFill>
              </a:rPr>
              <a:t>Tx / Rx offset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175504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33 series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562856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Bracketing rescues acquisition-sensitive cases, especially target0.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65008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4688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33688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042"/>
                </a:solidFill>
              </a:rPr>
              <a:t>Ringdown tuning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933688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22 series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32104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Stable when already in the right regime — not a universal rescue.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4340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822960" y="4526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4C9A3"/>
                </a:solidFill>
              </a:rPr>
              <a:t>CONCRETE EXAMPLE  ·  target2 source-density rescue (runs 1207–1209)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22960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4A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0584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 sources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005840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4.24e-4   </a:t>
            </a:r>
            <a:r>
              <a:rPr lang="en-US" sz="1150" b="1" dirty="0">
                <a:solidFill>
                  <a:srgbClr val="F4A23C"/>
                </a:solidFill>
              </a:rPr>
              <a:t>weak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3730752" y="50749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AA0A6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Shape 21"/>
          <p:cNvSpPr/>
          <p:nvPr/>
        </p:nvSpPr>
        <p:spPr>
          <a:xfrm>
            <a:off x="4224528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4A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4407408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 sources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4407408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4.94e-4   </a:t>
            </a:r>
            <a:r>
              <a:rPr lang="en-US" sz="1150" b="1" dirty="0">
                <a:solidFill>
                  <a:srgbClr val="F4A23C"/>
                </a:solidFill>
              </a:rPr>
              <a:t>near cutoff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7132320" y="50749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AA0A6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Shape 25"/>
          <p:cNvSpPr/>
          <p:nvPr/>
        </p:nvSpPr>
        <p:spPr>
          <a:xfrm>
            <a:off x="7626096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5BBE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/>
          <p:nvPr/>
        </p:nvSpPr>
        <p:spPr>
          <a:xfrm>
            <a:off x="7808976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 sources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7808976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5.60e-4   </a:t>
            </a:r>
            <a:r>
              <a:rPr lang="en-US" sz="1150" b="1" dirty="0">
                <a:solidFill>
                  <a:srgbClr val="5BBE84"/>
                </a:solidFill>
              </a:rPr>
              <a:t>accepted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Confirmed, partial, and still open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2C7A4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2C7A4B"/>
                </a:solidFill>
              </a:rPr>
              <a:t>CONFIRMED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Synthetic FDTD forward modeling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Single-rebar local refinement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3-rebar bounded coordinate optimization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Meaningful confidence reporting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Objective-variant diagnostics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06824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06824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D9770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8288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9784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D97706"/>
                </a:solidFill>
              </a:rPr>
              <a:t>PARTIAL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99432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Source-density rescue policies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Tx/Rx-offset rescue policies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Ringdown050 replication near cutoff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target1 exact-but-weak handling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65008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65008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B85042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18288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87968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B85042"/>
                </a:solidFill>
              </a:rPr>
              <a:t>UNRESOLVED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57616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Real GSSI field-data inversion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3D FDTD / FWI &amp; 3D acquisition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Universal global optimizer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Synthetic → field threshold transfer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Coverage of older special cases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9296" y="5212080"/>
            <a:ext cx="502920" cy="50292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985248" y="5669280"/>
            <a:ext cx="640080" cy="64008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872984" y="1280160"/>
            <a:ext cx="731520" cy="73152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71232" y="2103120"/>
            <a:ext cx="457200" cy="45720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037576" y="5852160"/>
            <a:ext cx="411480" cy="41148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F4C9A3"/>
                </a:solidFill>
              </a:rPr>
              <a:t>RECOMMENDED NEXT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narrow decision pass — not another long marathon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FC9C2"/>
                </a:solidFill>
              </a:rPr>
              <a:t>The project is at a genuine stop-and-evaluate point. The next GPU run should answer one specific policy question, not broadly continue replication.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2004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611880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45920" y="3401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target1 weak branches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64592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Decide when to use Tx/Rx bracketing instead of adding sources.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2004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1188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3401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target2 near-misses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717804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Decide when to escalate 5 → 7 → 9 source density.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31520" y="470916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12064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910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Two cutoffs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645920" y="5312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Separate strict research confidence from practical reporting confidence.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263640" y="470916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9672" y="512064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910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Keep field data apart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7178040" y="5312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Field-data experiments and trackers stay separate from synthetic.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AA0A6"/>
                </a:solidFill>
              </a:rPr>
              <a:t>Strongest result today: a mature synthetic inversion-and-reporting pipeline — not yet field-validated, not yet 3D.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952</Words>
  <Application>Microsoft Macintosh PowerPoint</Application>
  <PresentationFormat>Widescreen</PresentationFormat>
  <Paragraphs>163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GPR Rebar Inversion</dc:title>
  <dc:subject>PptxGenJS Presentation</dc:subject>
  <dc:creator>GPR-FWI project</dc:creator>
  <cp:lastModifiedBy>Abdullah Maruf</cp:lastModifiedBy>
  <cp:revision>4</cp:revision>
  <dcterms:created xsi:type="dcterms:W3CDTF">2026-06-12T13:05:29Z</dcterms:created>
  <dcterms:modified xsi:type="dcterms:W3CDTF">2026-06-13T18:29:21Z</dcterms:modified>
</cp:coreProperties>
</file>