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2"/>
  </p:normalViewPr>
  <p:slideViewPr>
    <p:cSldViewPr snapToGrid="0" snapToObjects="1">
      <p:cViewPr varScale="1">
        <p:scale>
          <a:sx n="119" d="100"/>
          <a:sy n="119" d="100"/>
        </p:scale>
        <p:origin x="5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490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yourself. This is a complete from-scratch implementation in Python — no external EM solvers used.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GPR used in bridge deck inspection, concrete assessment. Current practice relies on manual interpretation. FWI automates this.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sections, ~20 min talk.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Yee's 1966 innovation. Staggering gives 2nd-order accuracy for free and automatically satisfies div B = 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parameter has a physical justification. 2mm grid = 16 pts/wavelength at max Ricker frequency in concrete.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we aim to recover. Concrete eps_r=6, rebar PEC (sigma=1e7). 3 rebars at 50mm cover, 100mm spacing.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rebar produces a characteristic hyperbola. Apex = lateral position, curvature = concrete velocity.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GIF animation live if possible. Wavefront refracts at air-concrete, reflects off rebars, CPML absorbs at edges.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detective problem: we have the clues (B-scan) and want to find the culprit (rebar positions). The challenge is that checking every possible change is prohibitively expensive — 50K forward simulations just to know which direction to step.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adjoint method computes the full gradient with only 2 simulations per source: one forward, one adjoint.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critical for trusting inversion results.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evidence that motivated the pivot. The gradient is correct but the step size is severely limited by the dimensionality. We also tested pseudo-Hessian preconditioning (Experiment 06) — negligible improvement for this well-illuminated domain.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know rebars are circular. Exploit this prior knowledge.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3 rebars recovered with sub-grid accuracy. Grid spacing is 2mm, so &lt;3mm error is within 1-2 cells.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convergence shows two phases: rapid coarse localisation in the first ~50 evaluations, then gradual refinement of positions and radii.</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trace comparison confirms that the inverted model reproduces the observed waveforms well. The 5 positions sample the full scan aperture.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proof: the inverted model reproduces the observed B-scan well.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MEASURED benchmarks, not estimates. 5 grid sizes from 50K to 3.2M cells, each timed with 2 runs averaged. Speedup peaks at 7x for 806K cells. For 3D problems with millions of cells, speedup would be 30-100x.</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GPU CPML adds correctness (complete absorbing boundaries on GPU) but the performance gain at this small 2D grid is modest. The thin PML strips (15x280 or 180x15) don't saturate GPU parallelism. For production 3D grids the CPML overhead is proportionally much smaller.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Debye dispersion causes frequency-dependent velocity and attenuation.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source is omnidirectional; dipole has directional pattern. 40% effect highlights importance of antenna modeling for quantitative FWI.</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Low frequencies have smooth misfit landscape — optimizer escapes local minima. Each stage inherits the previous result as starting point.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Entire codebase from scratch. No external EM solver libraries.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for questions. Mention: dual-parameter adjoint and 3D extension as natural next steps.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A5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2286000"/>
          </a:xfrm>
          <a:prstGeom prst="rect">
            <a:avLst/>
          </a:prstGeom>
          <a:noFill/>
        </p:spPr>
        <p:txBody>
          <a:bodyPr wrap="square">
            <a:spAutoFit/>
          </a:bodyPr>
          <a:lstStyle/>
          <a:p>
            <a:pPr algn="ctr">
              <a:defRPr sz="3200" b="1">
                <a:solidFill>
                  <a:srgbClr val="FFFFFF"/>
                </a:solidFill>
                <a:latin typeface="Calibri"/>
              </a:defRPr>
            </a:pPr>
            <a:r>
              <a:t>2D FDTD Forward Modeling &amp; Full-Waveform</a:t>
            </a:r>
            <a:br/>
            <a:r>
              <a:t>Inversion for Ground-Penetrating Radar</a:t>
            </a:r>
          </a:p>
        </p:txBody>
      </p:sp>
      <p:sp>
        <p:nvSpPr>
          <p:cNvPr id="4" name="TextBox 3"/>
          <p:cNvSpPr txBox="1"/>
          <p:nvPr/>
        </p:nvSpPr>
        <p:spPr>
          <a:xfrm>
            <a:off x="914400" y="3474720"/>
            <a:ext cx="10058400" cy="914400"/>
          </a:xfrm>
          <a:prstGeom prst="rect">
            <a:avLst/>
          </a:prstGeom>
          <a:noFill/>
        </p:spPr>
        <p:txBody>
          <a:bodyPr wrap="square">
            <a:spAutoFit/>
          </a:bodyPr>
          <a:lstStyle/>
          <a:p>
            <a:pPr algn="ctr">
              <a:defRPr sz="2200" b="0">
                <a:solidFill>
                  <a:srgbClr val="BBCCDD"/>
                </a:solidFill>
                <a:latin typeface="Calibri"/>
              </a:defRPr>
            </a:pPr>
            <a:r>
              <a:t>Rebar Detection in Reinforced Concrete</a:t>
            </a:r>
          </a:p>
        </p:txBody>
      </p:sp>
      <p:sp>
        <p:nvSpPr>
          <p:cNvPr id="5" name="TextBox 4"/>
          <p:cNvSpPr txBox="1"/>
          <p:nvPr/>
        </p:nvSpPr>
        <p:spPr>
          <a:xfrm>
            <a:off x="914400" y="4754880"/>
            <a:ext cx="10058400" cy="548640"/>
          </a:xfrm>
          <a:prstGeom prst="rect">
            <a:avLst/>
          </a:prstGeom>
          <a:noFill/>
        </p:spPr>
        <p:txBody>
          <a:bodyPr wrap="square">
            <a:spAutoFit/>
          </a:bodyPr>
          <a:lstStyle/>
          <a:p>
            <a:pPr algn="ctr">
              <a:defRPr sz="2000" b="1">
                <a:solidFill>
                  <a:srgbClr val="FFFFFF"/>
                </a:solidFill>
                <a:latin typeface="Calibri"/>
              </a:defRPr>
            </a:pPr>
            <a:r>
              <a:t>Abdullah Maruf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Motivation: GPR for Concrete Inspection</a:t>
            </a:r>
          </a:p>
        </p:txBody>
      </p:sp>
      <p:sp>
        <p:nvSpPr>
          <p:cNvPr id="4" name="TextBox 3"/>
          <p:cNvSpPr txBox="1"/>
          <p:nvPr/>
        </p:nvSpPr>
        <p:spPr>
          <a:xfrm>
            <a:off x="457200" y="1280160"/>
            <a:ext cx="5029200" cy="4572000"/>
          </a:xfrm>
          <a:prstGeom prst="rect">
            <a:avLst/>
          </a:prstGeom>
          <a:noFill/>
        </p:spPr>
        <p:txBody>
          <a:bodyPr wrap="square">
            <a:spAutoFit/>
          </a:bodyPr>
          <a:lstStyle/>
          <a:p>
            <a:pPr>
              <a:spcAft>
                <a:spcPts val="600"/>
              </a:spcAft>
              <a:defRPr sz="1600">
                <a:solidFill>
                  <a:srgbClr val="333333"/>
                </a:solidFill>
                <a:latin typeface="Calibri"/>
              </a:defRPr>
            </a:pPr>
            <a:r>
              <a:t>Ground-Penetrating Radar (GPR) is the standard</a:t>
            </a:r>
          </a:p>
          <a:p>
            <a:pPr>
              <a:spcAft>
                <a:spcPts val="600"/>
              </a:spcAft>
              <a:defRPr sz="1600">
                <a:solidFill>
                  <a:srgbClr val="333333"/>
                </a:solidFill>
                <a:latin typeface="Calibri"/>
              </a:defRPr>
            </a:pPr>
            <a:r>
              <a:t>  non-destructive method for imaging rebars</a:t>
            </a:r>
          </a:p>
          <a:p>
            <a:pPr>
              <a:spcAft>
                <a:spcPts val="600"/>
              </a:spcAft>
              <a:defRPr sz="1600">
                <a:solidFill>
                  <a:srgbClr val="333333"/>
                </a:solidFill>
                <a:latin typeface="Calibri"/>
              </a:defRPr>
            </a:pPr>
            <a:endParaRPr/>
          </a:p>
          <a:p>
            <a:pPr>
              <a:spcAft>
                <a:spcPts val="600"/>
              </a:spcAft>
              <a:defRPr sz="1600">
                <a:solidFill>
                  <a:srgbClr val="333333"/>
                </a:solidFill>
                <a:latin typeface="Calibri"/>
              </a:defRPr>
            </a:pPr>
            <a:r>
              <a:t>Challenge: B-scan hyperbolas give qualitative</a:t>
            </a:r>
          </a:p>
          <a:p>
            <a:pPr>
              <a:spcAft>
                <a:spcPts val="600"/>
              </a:spcAft>
              <a:defRPr sz="1600">
                <a:solidFill>
                  <a:srgbClr val="333333"/>
                </a:solidFill>
                <a:latin typeface="Calibri"/>
              </a:defRPr>
            </a:pPr>
            <a:r>
              <a:t>  locations — not quantitative geometry</a:t>
            </a:r>
          </a:p>
          <a:p>
            <a:pPr>
              <a:spcAft>
                <a:spcPts val="600"/>
              </a:spcAft>
              <a:defRPr sz="1600">
                <a:solidFill>
                  <a:srgbClr val="333333"/>
                </a:solidFill>
                <a:latin typeface="Calibri"/>
              </a:defRPr>
            </a:pPr>
            <a:endParaRPr/>
          </a:p>
          <a:p>
            <a:pPr>
              <a:spcAft>
                <a:spcPts val="600"/>
              </a:spcAft>
              <a:defRPr sz="1600">
                <a:solidFill>
                  <a:srgbClr val="333333"/>
                </a:solidFill>
                <a:latin typeface="Calibri"/>
              </a:defRPr>
            </a:pPr>
            <a:r>
              <a:t>Goal: Recover rebar positions &amp; sizes from</a:t>
            </a:r>
          </a:p>
          <a:p>
            <a:pPr>
              <a:spcAft>
                <a:spcPts val="600"/>
              </a:spcAft>
              <a:defRPr sz="1600">
                <a:solidFill>
                  <a:srgbClr val="333333"/>
                </a:solidFill>
                <a:latin typeface="Calibri"/>
              </a:defRPr>
            </a:pPr>
            <a:r>
              <a:t>  waveform data using physics-based inversion</a:t>
            </a:r>
          </a:p>
          <a:p>
            <a:pPr>
              <a:spcAft>
                <a:spcPts val="600"/>
              </a:spcAft>
              <a:defRPr sz="1600">
                <a:solidFill>
                  <a:srgbClr val="333333"/>
                </a:solidFill>
                <a:latin typeface="Calibri"/>
              </a:defRPr>
            </a:pPr>
            <a:endParaRPr/>
          </a:p>
          <a:p>
            <a:pPr>
              <a:spcAft>
                <a:spcPts val="600"/>
              </a:spcAft>
              <a:defRPr sz="1600">
                <a:solidFill>
                  <a:srgbClr val="333333"/>
                </a:solidFill>
                <a:latin typeface="Calibri"/>
              </a:defRPr>
            </a:pPr>
            <a:r>
              <a:t>From scratch: ~2,500 lines of Python</a:t>
            </a:r>
          </a:p>
        </p:txBody>
      </p:sp>
      <p:pic>
        <p:nvPicPr>
          <p:cNvPr id="5" name="Picture 4" descr="scanning_geometry.png"/>
          <p:cNvPicPr>
            <a:picLocks noChangeAspect="1"/>
          </p:cNvPicPr>
          <p:nvPr/>
        </p:nvPicPr>
        <p:blipFill>
          <a:blip r:embed="rId3"/>
          <a:stretch>
            <a:fillRect/>
          </a:stretch>
        </p:blipFill>
        <p:spPr>
          <a:xfrm>
            <a:off x="5669280" y="1188720"/>
            <a:ext cx="5943600" cy="41164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Outline</a:t>
            </a:r>
          </a:p>
        </p:txBody>
      </p:sp>
      <p:sp>
        <p:nvSpPr>
          <p:cNvPr id="4" name="TextBox 3"/>
          <p:cNvSpPr txBox="1"/>
          <p:nvPr/>
        </p:nvSpPr>
        <p:spPr>
          <a:xfrm>
            <a:off x="1371600" y="1463040"/>
            <a:ext cx="914400" cy="457200"/>
          </a:xfrm>
          <a:prstGeom prst="rect">
            <a:avLst/>
          </a:prstGeom>
          <a:noFill/>
        </p:spPr>
        <p:txBody>
          <a:bodyPr wrap="square">
            <a:spAutoFit/>
          </a:bodyPr>
          <a:lstStyle/>
          <a:p>
            <a:pPr algn="l">
              <a:defRPr sz="2400" b="1">
                <a:solidFill>
                  <a:srgbClr val="2E7D32"/>
                </a:solidFill>
                <a:latin typeface="Calibri"/>
              </a:defRPr>
            </a:pPr>
            <a:r>
              <a:t>1.</a:t>
            </a:r>
          </a:p>
        </p:txBody>
      </p:sp>
      <p:sp>
        <p:nvSpPr>
          <p:cNvPr id="5" name="TextBox 4"/>
          <p:cNvSpPr txBox="1"/>
          <p:nvPr/>
        </p:nvSpPr>
        <p:spPr>
          <a:xfrm>
            <a:off x="2103120" y="1463040"/>
            <a:ext cx="3657600" cy="457200"/>
          </a:xfrm>
          <a:prstGeom prst="rect">
            <a:avLst/>
          </a:prstGeom>
          <a:noFill/>
        </p:spPr>
        <p:txBody>
          <a:bodyPr wrap="square">
            <a:spAutoFit/>
          </a:bodyPr>
          <a:lstStyle/>
          <a:p>
            <a:pPr algn="l">
              <a:defRPr sz="2200" b="1">
                <a:solidFill>
                  <a:srgbClr val="1B3A5C"/>
                </a:solidFill>
                <a:latin typeface="Calibri"/>
              </a:defRPr>
            </a:pPr>
            <a:r>
              <a:t>Forward Modeling</a:t>
            </a:r>
          </a:p>
        </p:txBody>
      </p:sp>
      <p:sp>
        <p:nvSpPr>
          <p:cNvPr id="6" name="TextBox 5"/>
          <p:cNvSpPr txBox="1"/>
          <p:nvPr/>
        </p:nvSpPr>
        <p:spPr>
          <a:xfrm>
            <a:off x="5943600" y="1463040"/>
            <a:ext cx="5029200" cy="457200"/>
          </a:xfrm>
          <a:prstGeom prst="rect">
            <a:avLst/>
          </a:prstGeom>
          <a:noFill/>
        </p:spPr>
        <p:txBody>
          <a:bodyPr wrap="square">
            <a:spAutoFit/>
          </a:bodyPr>
          <a:lstStyle/>
          <a:p>
            <a:pPr algn="l">
              <a:defRPr sz="1600" b="0">
                <a:solidFill>
                  <a:srgbClr val="333333"/>
                </a:solidFill>
                <a:latin typeface="Calibri"/>
              </a:defRPr>
            </a:pPr>
            <a:r>
              <a:t>2D TMz FDTD with CPML boundaries</a:t>
            </a:r>
          </a:p>
        </p:txBody>
      </p:sp>
      <p:sp>
        <p:nvSpPr>
          <p:cNvPr id="7" name="TextBox 6"/>
          <p:cNvSpPr txBox="1"/>
          <p:nvPr/>
        </p:nvSpPr>
        <p:spPr>
          <a:xfrm>
            <a:off x="1371600" y="2423160"/>
            <a:ext cx="914400" cy="457200"/>
          </a:xfrm>
          <a:prstGeom prst="rect">
            <a:avLst/>
          </a:prstGeom>
          <a:noFill/>
        </p:spPr>
        <p:txBody>
          <a:bodyPr wrap="square">
            <a:spAutoFit/>
          </a:bodyPr>
          <a:lstStyle/>
          <a:p>
            <a:pPr algn="l">
              <a:defRPr sz="2400" b="1">
                <a:solidFill>
                  <a:srgbClr val="2E7D32"/>
                </a:solidFill>
                <a:latin typeface="Calibri"/>
              </a:defRPr>
            </a:pPr>
            <a:r>
              <a:t>2.</a:t>
            </a:r>
          </a:p>
        </p:txBody>
      </p:sp>
      <p:sp>
        <p:nvSpPr>
          <p:cNvPr id="8" name="TextBox 7"/>
          <p:cNvSpPr txBox="1"/>
          <p:nvPr/>
        </p:nvSpPr>
        <p:spPr>
          <a:xfrm>
            <a:off x="2103120" y="2423160"/>
            <a:ext cx="3657600" cy="457200"/>
          </a:xfrm>
          <a:prstGeom prst="rect">
            <a:avLst/>
          </a:prstGeom>
          <a:noFill/>
        </p:spPr>
        <p:txBody>
          <a:bodyPr wrap="square">
            <a:spAutoFit/>
          </a:bodyPr>
          <a:lstStyle/>
          <a:p>
            <a:pPr algn="l">
              <a:defRPr sz="2200" b="1">
                <a:solidFill>
                  <a:srgbClr val="1B3A5C"/>
                </a:solidFill>
                <a:latin typeface="Calibri"/>
              </a:defRPr>
            </a:pPr>
            <a:r>
              <a:t>Inversion</a:t>
            </a:r>
          </a:p>
        </p:txBody>
      </p:sp>
      <p:sp>
        <p:nvSpPr>
          <p:cNvPr id="9" name="TextBox 8"/>
          <p:cNvSpPr txBox="1"/>
          <p:nvPr/>
        </p:nvSpPr>
        <p:spPr>
          <a:xfrm>
            <a:off x="5943600" y="2423160"/>
            <a:ext cx="5029200" cy="457200"/>
          </a:xfrm>
          <a:prstGeom prst="rect">
            <a:avLst/>
          </a:prstGeom>
          <a:noFill/>
        </p:spPr>
        <p:txBody>
          <a:bodyPr wrap="square">
            <a:spAutoFit/>
          </a:bodyPr>
          <a:lstStyle/>
          <a:p>
            <a:pPr algn="l">
              <a:defRPr sz="1600" b="0">
                <a:solidFill>
                  <a:srgbClr val="333333"/>
                </a:solidFill>
                <a:latin typeface="Calibri"/>
              </a:defRPr>
            </a:pPr>
            <a:r>
              <a:t>Adjoint-state gradient + geometry-based FWI</a:t>
            </a:r>
          </a:p>
        </p:txBody>
      </p:sp>
      <p:sp>
        <p:nvSpPr>
          <p:cNvPr id="10" name="TextBox 9"/>
          <p:cNvSpPr txBox="1"/>
          <p:nvPr/>
        </p:nvSpPr>
        <p:spPr>
          <a:xfrm>
            <a:off x="1371600" y="3383280"/>
            <a:ext cx="914400" cy="457200"/>
          </a:xfrm>
          <a:prstGeom prst="rect">
            <a:avLst/>
          </a:prstGeom>
          <a:noFill/>
        </p:spPr>
        <p:txBody>
          <a:bodyPr wrap="square">
            <a:spAutoFit/>
          </a:bodyPr>
          <a:lstStyle/>
          <a:p>
            <a:pPr algn="l">
              <a:defRPr sz="2400" b="1">
                <a:solidFill>
                  <a:srgbClr val="2E7D32"/>
                </a:solidFill>
                <a:latin typeface="Calibri"/>
              </a:defRPr>
            </a:pPr>
            <a:r>
              <a:t>3.</a:t>
            </a:r>
          </a:p>
        </p:txBody>
      </p:sp>
      <p:sp>
        <p:nvSpPr>
          <p:cNvPr id="11" name="TextBox 10"/>
          <p:cNvSpPr txBox="1"/>
          <p:nvPr/>
        </p:nvSpPr>
        <p:spPr>
          <a:xfrm>
            <a:off x="2103120" y="3383280"/>
            <a:ext cx="3657600" cy="457200"/>
          </a:xfrm>
          <a:prstGeom prst="rect">
            <a:avLst/>
          </a:prstGeom>
          <a:noFill/>
        </p:spPr>
        <p:txBody>
          <a:bodyPr wrap="square">
            <a:spAutoFit/>
          </a:bodyPr>
          <a:lstStyle/>
          <a:p>
            <a:pPr algn="l">
              <a:defRPr sz="2200" b="1">
                <a:solidFill>
                  <a:srgbClr val="1B3A5C"/>
                </a:solidFill>
                <a:latin typeface="Calibri"/>
              </a:defRPr>
            </a:pPr>
            <a:r>
              <a:t>GPU Acceleration</a:t>
            </a:r>
          </a:p>
        </p:txBody>
      </p:sp>
      <p:sp>
        <p:nvSpPr>
          <p:cNvPr id="12" name="TextBox 11"/>
          <p:cNvSpPr txBox="1"/>
          <p:nvPr/>
        </p:nvSpPr>
        <p:spPr>
          <a:xfrm>
            <a:off x="5943600" y="3383280"/>
            <a:ext cx="5029200" cy="457200"/>
          </a:xfrm>
          <a:prstGeom prst="rect">
            <a:avLst/>
          </a:prstGeom>
          <a:noFill/>
        </p:spPr>
        <p:txBody>
          <a:bodyPr wrap="square">
            <a:spAutoFit/>
          </a:bodyPr>
          <a:lstStyle/>
          <a:p>
            <a:pPr algn="l">
              <a:defRPr sz="1600" b="0">
                <a:solidFill>
                  <a:srgbClr val="333333"/>
                </a:solidFill>
                <a:latin typeface="Calibri"/>
              </a:defRPr>
            </a:pPr>
            <a:r>
              <a:t>CuPy-based speedup (3-7x)</a:t>
            </a:r>
          </a:p>
        </p:txBody>
      </p:sp>
      <p:sp>
        <p:nvSpPr>
          <p:cNvPr id="13" name="TextBox 12"/>
          <p:cNvSpPr txBox="1"/>
          <p:nvPr/>
        </p:nvSpPr>
        <p:spPr>
          <a:xfrm>
            <a:off x="1371600" y="4343400"/>
            <a:ext cx="914400" cy="457200"/>
          </a:xfrm>
          <a:prstGeom prst="rect">
            <a:avLst/>
          </a:prstGeom>
          <a:noFill/>
        </p:spPr>
        <p:txBody>
          <a:bodyPr wrap="square">
            <a:spAutoFit/>
          </a:bodyPr>
          <a:lstStyle/>
          <a:p>
            <a:pPr algn="l">
              <a:defRPr sz="2400" b="1">
                <a:solidFill>
                  <a:srgbClr val="2E7D32"/>
                </a:solidFill>
                <a:latin typeface="Calibri"/>
              </a:defRPr>
            </a:pPr>
            <a:r>
              <a:t>4.</a:t>
            </a:r>
          </a:p>
        </p:txBody>
      </p:sp>
      <p:sp>
        <p:nvSpPr>
          <p:cNvPr id="14" name="TextBox 13"/>
          <p:cNvSpPr txBox="1"/>
          <p:nvPr/>
        </p:nvSpPr>
        <p:spPr>
          <a:xfrm>
            <a:off x="2103120" y="4343400"/>
            <a:ext cx="3657600" cy="457200"/>
          </a:xfrm>
          <a:prstGeom prst="rect">
            <a:avLst/>
          </a:prstGeom>
          <a:noFill/>
        </p:spPr>
        <p:txBody>
          <a:bodyPr wrap="square">
            <a:spAutoFit/>
          </a:bodyPr>
          <a:lstStyle/>
          <a:p>
            <a:pPr algn="l">
              <a:defRPr sz="2200" b="1">
                <a:solidFill>
                  <a:srgbClr val="1B3A5C"/>
                </a:solidFill>
                <a:latin typeface="Calibri"/>
              </a:defRPr>
            </a:pPr>
            <a:r>
              <a:t>Extensions</a:t>
            </a:r>
          </a:p>
        </p:txBody>
      </p:sp>
      <p:sp>
        <p:nvSpPr>
          <p:cNvPr id="15" name="TextBox 14"/>
          <p:cNvSpPr txBox="1"/>
          <p:nvPr/>
        </p:nvSpPr>
        <p:spPr>
          <a:xfrm>
            <a:off x="5943600" y="4343400"/>
            <a:ext cx="5029200" cy="457200"/>
          </a:xfrm>
          <a:prstGeom prst="rect">
            <a:avLst/>
          </a:prstGeom>
          <a:noFill/>
        </p:spPr>
        <p:txBody>
          <a:bodyPr wrap="square">
            <a:spAutoFit/>
          </a:bodyPr>
          <a:lstStyle/>
          <a:p>
            <a:pPr algn="l">
              <a:defRPr sz="1600" b="0">
                <a:solidFill>
                  <a:srgbClr val="333333"/>
                </a:solidFill>
                <a:latin typeface="Calibri"/>
              </a:defRPr>
            </a:pPr>
            <a:r>
              <a:t>Dispersion, antenna, multi-scale</a:t>
            </a:r>
          </a:p>
        </p:txBody>
      </p:sp>
      <p:sp>
        <p:nvSpPr>
          <p:cNvPr id="16" name="TextBox 15"/>
          <p:cNvSpPr txBox="1"/>
          <p:nvPr/>
        </p:nvSpPr>
        <p:spPr>
          <a:xfrm>
            <a:off x="1371600" y="5303520"/>
            <a:ext cx="914400" cy="457200"/>
          </a:xfrm>
          <a:prstGeom prst="rect">
            <a:avLst/>
          </a:prstGeom>
          <a:noFill/>
        </p:spPr>
        <p:txBody>
          <a:bodyPr wrap="square">
            <a:spAutoFit/>
          </a:bodyPr>
          <a:lstStyle/>
          <a:p>
            <a:pPr algn="l">
              <a:defRPr sz="2400" b="1">
                <a:solidFill>
                  <a:srgbClr val="2E7D32"/>
                </a:solidFill>
                <a:latin typeface="Calibri"/>
              </a:defRPr>
            </a:pPr>
            <a:r>
              <a:t>5.</a:t>
            </a:r>
          </a:p>
        </p:txBody>
      </p:sp>
      <p:sp>
        <p:nvSpPr>
          <p:cNvPr id="17" name="TextBox 16"/>
          <p:cNvSpPr txBox="1"/>
          <p:nvPr/>
        </p:nvSpPr>
        <p:spPr>
          <a:xfrm>
            <a:off x="2103120" y="5303520"/>
            <a:ext cx="3657600" cy="457200"/>
          </a:xfrm>
          <a:prstGeom prst="rect">
            <a:avLst/>
          </a:prstGeom>
          <a:noFill/>
        </p:spPr>
        <p:txBody>
          <a:bodyPr wrap="square">
            <a:spAutoFit/>
          </a:bodyPr>
          <a:lstStyle/>
          <a:p>
            <a:pPr algn="l">
              <a:defRPr sz="2200" b="1">
                <a:solidFill>
                  <a:srgbClr val="1B3A5C"/>
                </a:solidFill>
                <a:latin typeface="Calibri"/>
              </a:defRPr>
            </a:pPr>
            <a:r>
              <a:t>Conclusions</a:t>
            </a:r>
          </a:p>
        </p:txBody>
      </p:sp>
      <p:sp>
        <p:nvSpPr>
          <p:cNvPr id="18" name="TextBox 17"/>
          <p:cNvSpPr txBox="1"/>
          <p:nvPr/>
        </p:nvSpPr>
        <p:spPr>
          <a:xfrm>
            <a:off x="5943600" y="5303520"/>
            <a:ext cx="5029200" cy="457200"/>
          </a:xfrm>
          <a:prstGeom prst="rect">
            <a:avLst/>
          </a:prstGeom>
          <a:noFill/>
        </p:spPr>
        <p:txBody>
          <a:bodyPr wrap="square">
            <a:spAutoFit/>
          </a:bodyPr>
          <a:lstStyle/>
          <a:p>
            <a:pPr algn="l">
              <a:defRPr sz="1600" b="0">
                <a:solidFill>
                  <a:srgbClr val="333333"/>
                </a:solidFill>
                <a:latin typeface="Calibri"/>
              </a:defRPr>
            </a:pPr>
            <a:r>
              <a:t>Key results and future 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FDTD Method: The Yee Staggered Grid</a:t>
            </a:r>
          </a:p>
        </p:txBody>
      </p:sp>
      <p:sp>
        <p:nvSpPr>
          <p:cNvPr id="4" name="TextBox 3"/>
          <p:cNvSpPr txBox="1"/>
          <p:nvPr/>
        </p:nvSpPr>
        <p:spPr>
          <a:xfrm>
            <a:off x="457200" y="1280160"/>
            <a:ext cx="4572000" cy="4572000"/>
          </a:xfrm>
          <a:prstGeom prst="rect">
            <a:avLst/>
          </a:prstGeom>
          <a:noFill/>
        </p:spPr>
        <p:txBody>
          <a:bodyPr wrap="square">
            <a:spAutoFit/>
          </a:bodyPr>
          <a:lstStyle/>
          <a:p>
            <a:pPr>
              <a:spcAft>
                <a:spcPts val="600"/>
              </a:spcAft>
              <a:defRPr sz="1600">
                <a:solidFill>
                  <a:srgbClr val="333333"/>
                </a:solidFill>
                <a:latin typeface="Calibri"/>
              </a:defRPr>
            </a:pPr>
            <a:r>
              <a:t>TMz polarisation: Ez, Hx, Hy</a:t>
            </a:r>
          </a:p>
          <a:p>
            <a:pPr>
              <a:spcAft>
                <a:spcPts val="600"/>
              </a:spcAft>
              <a:defRPr sz="1600">
                <a:solidFill>
                  <a:srgbClr val="333333"/>
                </a:solidFill>
                <a:latin typeface="Calibri"/>
              </a:defRPr>
            </a:pPr>
            <a:r>
              <a:t>E and H staggered by half a grid cell</a:t>
            </a:r>
          </a:p>
          <a:p>
            <a:pPr>
              <a:spcAft>
                <a:spcPts val="600"/>
              </a:spcAft>
              <a:defRPr sz="1600">
                <a:solidFill>
                  <a:srgbClr val="333333"/>
                </a:solidFill>
                <a:latin typeface="Calibri"/>
              </a:defRPr>
            </a:pPr>
            <a:r>
              <a:t>Leapfrog time-stepping: H → E → H → ...</a:t>
            </a:r>
          </a:p>
          <a:p>
            <a:pPr>
              <a:spcAft>
                <a:spcPts val="600"/>
              </a:spcAft>
              <a:defRPr sz="1600">
                <a:solidFill>
                  <a:srgbClr val="333333"/>
                </a:solidFill>
                <a:latin typeface="Calibri"/>
              </a:defRPr>
            </a:pPr>
            <a:r>
              <a:t>Second-order accurate, energy-conserving</a:t>
            </a:r>
          </a:p>
          <a:p>
            <a:pPr>
              <a:spcAft>
                <a:spcPts val="600"/>
              </a:spcAft>
              <a:defRPr sz="1600">
                <a:solidFill>
                  <a:srgbClr val="333333"/>
                </a:solidFill>
                <a:latin typeface="Calibri"/>
              </a:defRPr>
            </a:pPr>
            <a:r>
              <a:t>No matrix inversions (fully explicit)</a:t>
            </a:r>
          </a:p>
        </p:txBody>
      </p:sp>
      <p:pic>
        <p:nvPicPr>
          <p:cNvPr id="5" name="Picture 4" descr="yee_grid_diagram.png"/>
          <p:cNvPicPr>
            <a:picLocks noChangeAspect="1"/>
          </p:cNvPicPr>
          <p:nvPr/>
        </p:nvPicPr>
        <p:blipFill>
          <a:blip r:embed="rId3"/>
          <a:stretch>
            <a:fillRect/>
          </a:stretch>
        </p:blipFill>
        <p:spPr>
          <a:xfrm>
            <a:off x="5303520" y="1188720"/>
            <a:ext cx="6217920" cy="6556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Simulation Parameters</a:t>
            </a:r>
          </a:p>
        </p:txBody>
      </p:sp>
      <p:graphicFrame>
        <p:nvGraphicFramePr>
          <p:cNvPr id="4" name="Table 3"/>
          <p:cNvGraphicFramePr>
            <a:graphicFrameLocks noGrp="1"/>
          </p:cNvGraphicFramePr>
          <p:nvPr/>
        </p:nvGraphicFramePr>
        <p:xfrm>
          <a:off x="1371600" y="1371600"/>
          <a:ext cx="9144000" cy="41148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514350">
                <a:tc>
                  <a:txBody>
                    <a:bodyPr/>
                    <a:lstStyle/>
                    <a:p>
                      <a:pPr>
                        <a:defRPr sz="1600" b="1">
                          <a:solidFill>
                            <a:srgbClr val="FFFFFF"/>
                          </a:solidFill>
                        </a:defRPr>
                      </a:pPr>
                      <a:r>
                        <a:t>Parameter</a:t>
                      </a:r>
                    </a:p>
                  </a:txBody>
                  <a:tcPr>
                    <a:solidFill>
                      <a:srgbClr val="1B3A5C"/>
                    </a:solidFill>
                  </a:tcPr>
                </a:tc>
                <a:tc>
                  <a:txBody>
                    <a:bodyPr/>
                    <a:lstStyle/>
                    <a:p>
                      <a:pPr>
                        <a:defRPr sz="1600" b="1">
                          <a:solidFill>
                            <a:srgbClr val="FFFFFF"/>
                          </a:solidFill>
                        </a:defRPr>
                      </a:pPr>
                      <a:r>
                        <a:t>Value</a:t>
                      </a:r>
                    </a:p>
                  </a:txBody>
                  <a:tcPr>
                    <a:solidFill>
                      <a:srgbClr val="1B3A5C"/>
                    </a:solidFill>
                  </a:tcPr>
                </a:tc>
                <a:tc>
                  <a:txBody>
                    <a:bodyPr/>
                    <a:lstStyle/>
                    <a:p>
                      <a:pPr>
                        <a:defRPr sz="1600" b="1">
                          <a:solidFill>
                            <a:srgbClr val="FFFFFF"/>
                          </a:solidFill>
                        </a:defRPr>
                      </a:pPr>
                      <a:r>
                        <a:t>Justification</a:t>
                      </a:r>
                    </a:p>
                  </a:txBody>
                  <a:tcPr>
                    <a:solidFill>
                      <a:srgbClr val="1B3A5C"/>
                    </a:solidFill>
                  </a:tcPr>
                </a:tc>
                <a:extLst>
                  <a:ext uri="{0D108BD9-81ED-4DB2-BD59-A6C34878D82A}">
                    <a16:rowId xmlns:a16="http://schemas.microsoft.com/office/drawing/2014/main" val="10000"/>
                  </a:ext>
                </a:extLst>
              </a:tr>
              <a:tr h="514350">
                <a:tc>
                  <a:txBody>
                    <a:bodyPr/>
                    <a:lstStyle/>
                    <a:p>
                      <a:pPr>
                        <a:defRPr sz="1400"/>
                      </a:pPr>
                      <a:r>
                        <a:t>Grid spacing</a:t>
                      </a:r>
                    </a:p>
                  </a:txBody>
                  <a:tcPr/>
                </a:tc>
                <a:tc>
                  <a:txBody>
                    <a:bodyPr/>
                    <a:lstStyle/>
                    <a:p>
                      <a:pPr>
                        <a:defRPr sz="1400"/>
                      </a:pPr>
                      <a:r>
                        <a:t>2 mm</a:t>
                      </a:r>
                    </a:p>
                  </a:txBody>
                  <a:tcPr/>
                </a:tc>
                <a:tc>
                  <a:txBody>
                    <a:bodyPr/>
                    <a:lstStyle/>
                    <a:p>
                      <a:pPr>
                        <a:defRPr sz="1400"/>
                      </a:pPr>
                      <a:r>
                        <a:t>&gt;=16 pts/wavelength</a:t>
                      </a:r>
                    </a:p>
                  </a:txBody>
                  <a:tcPr/>
                </a:tc>
                <a:extLst>
                  <a:ext uri="{0D108BD9-81ED-4DB2-BD59-A6C34878D82A}">
                    <a16:rowId xmlns:a16="http://schemas.microsoft.com/office/drawing/2014/main" val="10001"/>
                  </a:ext>
                </a:extLst>
              </a:tr>
              <a:tr h="514350">
                <a:tc>
                  <a:txBody>
                    <a:bodyPr/>
                    <a:lstStyle/>
                    <a:p>
                      <a:pPr>
                        <a:defRPr sz="1400"/>
                      </a:pPr>
                      <a:r>
                        <a:t>Time step</a:t>
                      </a:r>
                    </a:p>
                  </a:txBody>
                  <a:tcPr/>
                </a:tc>
                <a:tc>
                  <a:txBody>
                    <a:bodyPr/>
                    <a:lstStyle/>
                    <a:p>
                      <a:pPr>
                        <a:defRPr sz="1400"/>
                      </a:pPr>
                      <a:r>
                        <a:t>4.24 ps</a:t>
                      </a:r>
                    </a:p>
                  </a:txBody>
                  <a:tcPr/>
                </a:tc>
                <a:tc>
                  <a:txBody>
                    <a:bodyPr/>
                    <a:lstStyle/>
                    <a:p>
                      <a:pPr>
                        <a:defRPr sz="1400"/>
                      </a:pPr>
                      <a:r>
                        <a:t>90% of CFL limit</a:t>
                      </a:r>
                    </a:p>
                  </a:txBody>
                  <a:tcPr/>
                </a:tc>
                <a:extLst>
                  <a:ext uri="{0D108BD9-81ED-4DB2-BD59-A6C34878D82A}">
                    <a16:rowId xmlns:a16="http://schemas.microsoft.com/office/drawing/2014/main" val="10002"/>
                  </a:ext>
                </a:extLst>
              </a:tr>
              <a:tr h="514350">
                <a:tc>
                  <a:txBody>
                    <a:bodyPr/>
                    <a:lstStyle/>
                    <a:p>
                      <a:pPr>
                        <a:defRPr sz="1400"/>
                      </a:pPr>
                      <a:r>
                        <a:t>Domain</a:t>
                      </a:r>
                    </a:p>
                  </a:txBody>
                  <a:tcPr/>
                </a:tc>
                <a:tc>
                  <a:txBody>
                    <a:bodyPr/>
                    <a:lstStyle/>
                    <a:p>
                      <a:pPr>
                        <a:defRPr sz="1400"/>
                      </a:pPr>
                      <a:r>
                        <a:t>500 x 300 mm</a:t>
                      </a:r>
                    </a:p>
                  </a:txBody>
                  <a:tcPr/>
                </a:tc>
                <a:tc>
                  <a:txBody>
                    <a:bodyPr/>
                    <a:lstStyle/>
                    <a:p>
                      <a:pPr>
                        <a:defRPr sz="1400"/>
                      </a:pPr>
                      <a:r>
                        <a:t>280 x 180 cells + PML</a:t>
                      </a:r>
                    </a:p>
                  </a:txBody>
                  <a:tcPr/>
                </a:tc>
                <a:extLst>
                  <a:ext uri="{0D108BD9-81ED-4DB2-BD59-A6C34878D82A}">
                    <a16:rowId xmlns:a16="http://schemas.microsoft.com/office/drawing/2014/main" val="10003"/>
                  </a:ext>
                </a:extLst>
              </a:tr>
              <a:tr h="514350">
                <a:tc>
                  <a:txBody>
                    <a:bodyPr/>
                    <a:lstStyle/>
                    <a:p>
                      <a:pPr>
                        <a:defRPr sz="1400"/>
                      </a:pPr>
                      <a:r>
                        <a:t>Source</a:t>
                      </a:r>
                    </a:p>
                  </a:txBody>
                  <a:tcPr/>
                </a:tc>
                <a:tc>
                  <a:txBody>
                    <a:bodyPr/>
                    <a:lstStyle/>
                    <a:p>
                      <a:pPr>
                        <a:defRPr sz="1400"/>
                      </a:pPr>
                      <a:r>
                        <a:t>1.5 GHz Ricker</a:t>
                      </a:r>
                    </a:p>
                  </a:txBody>
                  <a:tcPr/>
                </a:tc>
                <a:tc>
                  <a:txBody>
                    <a:bodyPr/>
                    <a:lstStyle/>
                    <a:p>
                      <a:pPr>
                        <a:defRPr sz="1400"/>
                      </a:pPr>
                      <a:r>
                        <a:t>Standard for concrete GPR</a:t>
                      </a:r>
                    </a:p>
                  </a:txBody>
                  <a:tcPr/>
                </a:tc>
                <a:extLst>
                  <a:ext uri="{0D108BD9-81ED-4DB2-BD59-A6C34878D82A}">
                    <a16:rowId xmlns:a16="http://schemas.microsoft.com/office/drawing/2014/main" val="10004"/>
                  </a:ext>
                </a:extLst>
              </a:tr>
              <a:tr h="514350">
                <a:tc>
                  <a:txBody>
                    <a:bodyPr/>
                    <a:lstStyle/>
                    <a:p>
                      <a:pPr>
                        <a:defRPr sz="1400"/>
                      </a:pPr>
                      <a:r>
                        <a:t>Rebars</a:t>
                      </a:r>
                    </a:p>
                  </a:txBody>
                  <a:tcPr/>
                </a:tc>
                <a:tc>
                  <a:txBody>
                    <a:bodyPr/>
                    <a:lstStyle/>
                    <a:p>
                      <a:pPr>
                        <a:defRPr sz="1400"/>
                      </a:pPr>
                      <a:r>
                        <a:t>3 x 12 mm dia</a:t>
                      </a:r>
                    </a:p>
                  </a:txBody>
                  <a:tcPr/>
                </a:tc>
                <a:tc>
                  <a:txBody>
                    <a:bodyPr/>
                    <a:lstStyle/>
                    <a:p>
                      <a:pPr>
                        <a:defRPr sz="1400"/>
                      </a:pPr>
                      <a:r>
                        <a:t>50 mm cover, 100 mm spacing</a:t>
                      </a:r>
                    </a:p>
                  </a:txBody>
                  <a:tcPr/>
                </a:tc>
                <a:extLst>
                  <a:ext uri="{0D108BD9-81ED-4DB2-BD59-A6C34878D82A}">
                    <a16:rowId xmlns:a16="http://schemas.microsoft.com/office/drawing/2014/main" val="10005"/>
                  </a:ext>
                </a:extLst>
              </a:tr>
              <a:tr h="514350">
                <a:tc>
                  <a:txBody>
                    <a:bodyPr/>
                    <a:lstStyle/>
                    <a:p>
                      <a:pPr>
                        <a:defRPr sz="1400"/>
                      </a:pPr>
                      <a:r>
                        <a:t>CPML</a:t>
                      </a:r>
                    </a:p>
                  </a:txBody>
                  <a:tcPr/>
                </a:tc>
                <a:tc>
                  <a:txBody>
                    <a:bodyPr/>
                    <a:lstStyle/>
                    <a:p>
                      <a:pPr>
                        <a:defRPr sz="1400"/>
                      </a:pPr>
                      <a:r>
                        <a:t>15 layers, cubic</a:t>
                      </a:r>
                    </a:p>
                  </a:txBody>
                  <a:tcPr/>
                </a:tc>
                <a:tc>
                  <a:txBody>
                    <a:bodyPr/>
                    <a:lstStyle/>
                    <a:p>
                      <a:pPr>
                        <a:defRPr sz="1400"/>
                      </a:pPr>
                      <a:r>
                        <a:t>~60 dB absorption</a:t>
                      </a:r>
                    </a:p>
                  </a:txBody>
                  <a:tcPr/>
                </a:tc>
                <a:extLst>
                  <a:ext uri="{0D108BD9-81ED-4DB2-BD59-A6C34878D82A}">
                    <a16:rowId xmlns:a16="http://schemas.microsoft.com/office/drawing/2014/main" val="10006"/>
                  </a:ext>
                </a:extLst>
              </a:tr>
              <a:tr h="514350">
                <a:tc>
                  <a:txBody>
                    <a:bodyPr/>
                    <a:lstStyle/>
                    <a:p>
                      <a:pPr>
                        <a:defRPr sz="1400"/>
                      </a:pPr>
                      <a:r>
                        <a:t>Scan</a:t>
                      </a:r>
                    </a:p>
                  </a:txBody>
                  <a:tcPr/>
                </a:tc>
                <a:tc>
                  <a:txBody>
                    <a:bodyPr/>
                    <a:lstStyle/>
                    <a:p>
                      <a:pPr>
                        <a:defRPr sz="1400"/>
                      </a:pPr>
                      <a:r>
                        <a:t>101 positions</a:t>
                      </a:r>
                    </a:p>
                  </a:txBody>
                  <a:tcPr/>
                </a:tc>
                <a:tc>
                  <a:txBody>
                    <a:bodyPr/>
                    <a:lstStyle/>
                    <a:p>
                      <a:pPr>
                        <a:defRPr sz="1400"/>
                      </a:pPr>
                      <a:r>
                        <a:t>50-450 mm, 4 mm step</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Ground-Truth Model</a:t>
            </a:r>
          </a:p>
        </p:txBody>
      </p:sp>
      <p:pic>
        <p:nvPicPr>
          <p:cNvPr id="4" name="Picture 3" descr="ground_truth.png"/>
          <p:cNvPicPr>
            <a:picLocks noChangeAspect="1"/>
          </p:cNvPicPr>
          <p:nvPr/>
        </p:nvPicPr>
        <p:blipFill>
          <a:blip r:embed="rId3"/>
          <a:stretch>
            <a:fillRect/>
          </a:stretch>
        </p:blipFill>
        <p:spPr>
          <a:xfrm>
            <a:off x="1371600" y="1188720"/>
            <a:ext cx="9144000" cy="52325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Forward Result: B-Scan Radargram</a:t>
            </a:r>
          </a:p>
        </p:txBody>
      </p:sp>
      <p:pic>
        <p:nvPicPr>
          <p:cNvPr id="4" name="Picture 3" descr="bscan.png"/>
          <p:cNvPicPr>
            <a:picLocks noChangeAspect="1"/>
          </p:cNvPicPr>
          <p:nvPr/>
        </p:nvPicPr>
        <p:blipFill>
          <a:blip r:embed="rId3"/>
          <a:stretch>
            <a:fillRect/>
          </a:stretch>
        </p:blipFill>
        <p:spPr>
          <a:xfrm>
            <a:off x="457200" y="1097280"/>
            <a:ext cx="7772400" cy="5532531"/>
          </a:xfrm>
          <a:prstGeom prst="rect">
            <a:avLst/>
          </a:prstGeom>
        </p:spPr>
      </p:pic>
      <p:sp>
        <p:nvSpPr>
          <p:cNvPr id="5" name="TextBox 4"/>
          <p:cNvSpPr txBox="1"/>
          <p:nvPr/>
        </p:nvSpPr>
        <p:spPr>
          <a:xfrm>
            <a:off x="8686800" y="1828800"/>
            <a:ext cx="2743200" cy="1097280"/>
          </a:xfrm>
          <a:prstGeom prst="rect">
            <a:avLst/>
          </a:prstGeom>
          <a:noFill/>
        </p:spPr>
        <p:txBody>
          <a:bodyPr wrap="square">
            <a:spAutoFit/>
          </a:bodyPr>
          <a:lstStyle/>
          <a:p>
            <a:pPr algn="ctr">
              <a:defRPr sz="3600" b="1">
                <a:solidFill>
                  <a:srgbClr val="2E7D32"/>
                </a:solidFill>
                <a:latin typeface="Calibri"/>
              </a:defRPr>
            </a:pPr>
            <a:r>
              <a:t>3</a:t>
            </a:r>
          </a:p>
          <a:p>
            <a:pPr algn="ctr">
              <a:defRPr sz="1400">
                <a:solidFill>
                  <a:srgbClr val="333333"/>
                </a:solidFill>
                <a:latin typeface="Calibri"/>
              </a:defRPr>
            </a:pPr>
            <a:r>
              <a:t>rebar hyperbolas</a:t>
            </a:r>
          </a:p>
        </p:txBody>
      </p:sp>
      <p:sp>
        <p:nvSpPr>
          <p:cNvPr id="6" name="TextBox 5"/>
          <p:cNvSpPr txBox="1"/>
          <p:nvPr/>
        </p:nvSpPr>
        <p:spPr>
          <a:xfrm>
            <a:off x="8686800" y="3657600"/>
            <a:ext cx="2743200" cy="1097280"/>
          </a:xfrm>
          <a:prstGeom prst="rect">
            <a:avLst/>
          </a:prstGeom>
          <a:noFill/>
        </p:spPr>
        <p:txBody>
          <a:bodyPr wrap="square">
            <a:spAutoFit/>
          </a:bodyPr>
          <a:lstStyle/>
          <a:p>
            <a:pPr algn="ctr">
              <a:defRPr sz="3600" b="1">
                <a:solidFill>
                  <a:srgbClr val="2E7D32"/>
                </a:solidFill>
                <a:latin typeface="Calibri"/>
              </a:defRPr>
            </a:pPr>
            <a:r>
              <a:t>6/6</a:t>
            </a:r>
          </a:p>
          <a:p>
            <a:pPr algn="ctr">
              <a:defRPr sz="1400">
                <a:solidFill>
                  <a:srgbClr val="333333"/>
                </a:solidFill>
                <a:latin typeface="Calibri"/>
              </a:defRPr>
            </a:pPr>
            <a:r>
              <a:t>tests pass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Wave Propagation Through Concrete</a:t>
            </a:r>
          </a:p>
        </p:txBody>
      </p:sp>
      <p:pic>
        <p:nvPicPr>
          <p:cNvPr id="4" name="Picture 3" descr="wave_frame.png"/>
          <p:cNvPicPr>
            <a:picLocks noChangeAspect="1"/>
          </p:cNvPicPr>
          <p:nvPr/>
        </p:nvPicPr>
        <p:blipFill>
          <a:blip r:embed="rId3"/>
          <a:stretch>
            <a:fillRect/>
          </a:stretch>
        </p:blipFill>
        <p:spPr>
          <a:xfrm>
            <a:off x="1371600" y="1188720"/>
            <a:ext cx="9144000" cy="5486400"/>
          </a:xfrm>
          <a:prstGeom prst="rect">
            <a:avLst/>
          </a:prstGeom>
        </p:spPr>
      </p:pic>
      <p:sp>
        <p:nvSpPr>
          <p:cNvPr id="5" name="TextBox 4"/>
          <p:cNvSpPr txBox="1"/>
          <p:nvPr/>
        </p:nvSpPr>
        <p:spPr>
          <a:xfrm>
            <a:off x="914400" y="5943600"/>
            <a:ext cx="10058400" cy="457200"/>
          </a:xfrm>
          <a:prstGeom prst="rect">
            <a:avLst/>
          </a:prstGeom>
          <a:noFill/>
        </p:spPr>
        <p:txBody>
          <a:bodyPr wrap="square">
            <a:spAutoFit/>
          </a:bodyPr>
          <a:lstStyle/>
          <a:p>
            <a:pPr algn="ctr">
              <a:defRPr sz="1400" b="0">
                <a:solidFill>
                  <a:srgbClr val="999999"/>
                </a:solidFill>
                <a:latin typeface="Calibri"/>
              </a:defRPr>
            </a:pPr>
            <a:r>
              <a:t>Full animation available: outputs/animations/wave_propagation.gif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The Inverse Problem: From Data to Model</a:t>
            </a:r>
          </a:p>
        </p:txBody>
      </p:sp>
      <p:sp>
        <p:nvSpPr>
          <p:cNvPr id="4" name="TextBox 3"/>
          <p:cNvSpPr txBox="1"/>
          <p:nvPr/>
        </p:nvSpPr>
        <p:spPr>
          <a:xfrm>
            <a:off x="457200" y="1280160"/>
            <a:ext cx="5486400" cy="457200"/>
          </a:xfrm>
          <a:prstGeom prst="rect">
            <a:avLst/>
          </a:prstGeom>
          <a:noFill/>
        </p:spPr>
        <p:txBody>
          <a:bodyPr wrap="square">
            <a:spAutoFit/>
          </a:bodyPr>
          <a:lstStyle/>
          <a:p>
            <a:pPr algn="l">
              <a:defRPr sz="2000" b="1">
                <a:solidFill>
                  <a:srgbClr val="1B3A5C"/>
                </a:solidFill>
                <a:latin typeface="Calibri"/>
              </a:defRPr>
            </a:pPr>
            <a:r>
              <a:t>We have:</a:t>
            </a:r>
          </a:p>
        </p:txBody>
      </p:sp>
      <p:sp>
        <p:nvSpPr>
          <p:cNvPr id="5" name="TextBox 4"/>
          <p:cNvSpPr txBox="1"/>
          <p:nvPr/>
        </p:nvSpPr>
        <p:spPr>
          <a:xfrm>
            <a:off x="731520" y="1737360"/>
            <a:ext cx="5029200" cy="1097280"/>
          </a:xfrm>
          <a:prstGeom prst="rect">
            <a:avLst/>
          </a:prstGeom>
          <a:noFill/>
        </p:spPr>
        <p:txBody>
          <a:bodyPr wrap="square">
            <a:spAutoFit/>
          </a:bodyPr>
          <a:lstStyle/>
          <a:p>
            <a:pPr>
              <a:spcAft>
                <a:spcPts val="600"/>
              </a:spcAft>
              <a:defRPr sz="1700">
                <a:solidFill>
                  <a:srgbClr val="333333"/>
                </a:solidFill>
                <a:latin typeface="Calibri"/>
              </a:defRPr>
            </a:pPr>
            <a:r>
              <a:t>A B-scan radargram (recorded radar signals)</a:t>
            </a:r>
          </a:p>
        </p:txBody>
      </p:sp>
      <p:sp>
        <p:nvSpPr>
          <p:cNvPr id="6" name="TextBox 5"/>
          <p:cNvSpPr txBox="1"/>
          <p:nvPr/>
        </p:nvSpPr>
        <p:spPr>
          <a:xfrm>
            <a:off x="457200" y="2560320"/>
            <a:ext cx="5486400" cy="457200"/>
          </a:xfrm>
          <a:prstGeom prst="rect">
            <a:avLst/>
          </a:prstGeom>
          <a:noFill/>
        </p:spPr>
        <p:txBody>
          <a:bodyPr wrap="square">
            <a:spAutoFit/>
          </a:bodyPr>
          <a:lstStyle/>
          <a:p>
            <a:pPr algn="l">
              <a:defRPr sz="2000" b="1">
                <a:solidFill>
                  <a:srgbClr val="1B3A5C"/>
                </a:solidFill>
                <a:latin typeface="Calibri"/>
              </a:defRPr>
            </a:pPr>
            <a:r>
              <a:t>We want:</a:t>
            </a:r>
          </a:p>
        </p:txBody>
      </p:sp>
      <p:sp>
        <p:nvSpPr>
          <p:cNvPr id="7" name="TextBox 6"/>
          <p:cNvSpPr txBox="1"/>
          <p:nvPr/>
        </p:nvSpPr>
        <p:spPr>
          <a:xfrm>
            <a:off x="731520" y="3017520"/>
            <a:ext cx="5029200" cy="1097280"/>
          </a:xfrm>
          <a:prstGeom prst="rect">
            <a:avLst/>
          </a:prstGeom>
          <a:noFill/>
        </p:spPr>
        <p:txBody>
          <a:bodyPr wrap="square">
            <a:spAutoFit/>
          </a:bodyPr>
          <a:lstStyle/>
          <a:p>
            <a:pPr>
              <a:spcAft>
                <a:spcPts val="600"/>
              </a:spcAft>
              <a:defRPr sz="1700">
                <a:solidFill>
                  <a:srgbClr val="333333"/>
                </a:solidFill>
                <a:latin typeface="Calibri"/>
              </a:defRPr>
            </a:pPr>
            <a:r>
              <a:t>The underground model (where are the rebars?)</a:t>
            </a:r>
          </a:p>
        </p:txBody>
      </p:sp>
      <p:sp>
        <p:nvSpPr>
          <p:cNvPr id="8" name="TextBox 7"/>
          <p:cNvSpPr txBox="1"/>
          <p:nvPr/>
        </p:nvSpPr>
        <p:spPr>
          <a:xfrm>
            <a:off x="457200" y="3840480"/>
            <a:ext cx="5486400" cy="457200"/>
          </a:xfrm>
          <a:prstGeom prst="rect">
            <a:avLst/>
          </a:prstGeom>
          <a:noFill/>
        </p:spPr>
        <p:txBody>
          <a:bodyPr wrap="square">
            <a:spAutoFit/>
          </a:bodyPr>
          <a:lstStyle/>
          <a:p>
            <a:pPr algn="l">
              <a:defRPr sz="2000" b="1">
                <a:solidFill>
                  <a:srgbClr val="1B3A5C"/>
                </a:solidFill>
                <a:latin typeface="Calibri"/>
              </a:defRPr>
            </a:pPr>
            <a:r>
              <a:t>How:</a:t>
            </a:r>
          </a:p>
        </p:txBody>
      </p:sp>
      <p:sp>
        <p:nvSpPr>
          <p:cNvPr id="9" name="TextBox 8"/>
          <p:cNvSpPr txBox="1"/>
          <p:nvPr/>
        </p:nvSpPr>
        <p:spPr>
          <a:xfrm>
            <a:off x="731520" y="4297680"/>
            <a:ext cx="5029200" cy="1828800"/>
          </a:xfrm>
          <a:prstGeom prst="rect">
            <a:avLst/>
          </a:prstGeom>
          <a:noFill/>
        </p:spPr>
        <p:txBody>
          <a:bodyPr wrap="square">
            <a:spAutoFit/>
          </a:bodyPr>
          <a:lstStyle/>
          <a:p>
            <a:pPr>
              <a:spcAft>
                <a:spcPts val="600"/>
              </a:spcAft>
              <a:defRPr sz="1700">
                <a:solidFill>
                  <a:srgbClr val="333333"/>
                </a:solidFill>
                <a:latin typeface="Calibri"/>
              </a:defRPr>
            </a:pPr>
            <a:r>
              <a:t>Adjust the model until simulated signals match observed ones</a:t>
            </a:r>
          </a:p>
          <a:p>
            <a:pPr>
              <a:spcAft>
                <a:spcPts val="600"/>
              </a:spcAft>
              <a:defRPr sz="1700">
                <a:solidFill>
                  <a:srgbClr val="333333"/>
                </a:solidFill>
                <a:latin typeface="Calibri"/>
              </a:defRPr>
            </a:pPr>
            <a:r>
              <a:t>Measure mismatch with a "misfit" score — then minimise it</a:t>
            </a:r>
          </a:p>
        </p:txBody>
      </p:sp>
      <p:sp>
        <p:nvSpPr>
          <p:cNvPr id="10" name="TextBox 9"/>
          <p:cNvSpPr txBox="1"/>
          <p:nvPr/>
        </p:nvSpPr>
        <p:spPr>
          <a:xfrm>
            <a:off x="6400800" y="1280160"/>
            <a:ext cx="5029200" cy="457200"/>
          </a:xfrm>
          <a:prstGeom prst="rect">
            <a:avLst/>
          </a:prstGeom>
          <a:noFill/>
        </p:spPr>
        <p:txBody>
          <a:bodyPr wrap="square">
            <a:spAutoFit/>
          </a:bodyPr>
          <a:lstStyle/>
          <a:p>
            <a:pPr algn="l">
              <a:defRPr sz="2000" b="1">
                <a:solidFill>
                  <a:srgbClr val="C62828"/>
                </a:solidFill>
                <a:latin typeface="Calibri"/>
              </a:defRPr>
            </a:pPr>
            <a:r>
              <a:t>The cost problem:</a:t>
            </a:r>
          </a:p>
        </p:txBody>
      </p:sp>
      <p:sp>
        <p:nvSpPr>
          <p:cNvPr id="11" name="TextBox 10"/>
          <p:cNvSpPr txBox="1"/>
          <p:nvPr/>
        </p:nvSpPr>
        <p:spPr>
          <a:xfrm>
            <a:off x="6675120" y="1828800"/>
            <a:ext cx="4754880" cy="2286000"/>
          </a:xfrm>
          <a:prstGeom prst="rect">
            <a:avLst/>
          </a:prstGeom>
          <a:noFill/>
        </p:spPr>
        <p:txBody>
          <a:bodyPr wrap="square">
            <a:spAutoFit/>
          </a:bodyPr>
          <a:lstStyle/>
          <a:p>
            <a:pPr>
              <a:spcAft>
                <a:spcPts val="600"/>
              </a:spcAft>
              <a:defRPr sz="1600">
                <a:solidFill>
                  <a:srgbClr val="333333"/>
                </a:solidFill>
                <a:latin typeface="Calibri"/>
              </a:defRPr>
            </a:pPr>
            <a:r>
              <a:t>To know which direction to adjust,</a:t>
            </a:r>
          </a:p>
          <a:p>
            <a:pPr>
              <a:spcAft>
                <a:spcPts val="600"/>
              </a:spcAft>
              <a:defRPr sz="1600">
                <a:solidFill>
                  <a:srgbClr val="333333"/>
                </a:solidFill>
                <a:latin typeface="Calibri"/>
              </a:defRPr>
            </a:pPr>
            <a:r>
              <a:t>we need a "gradient" — how does each</a:t>
            </a:r>
          </a:p>
          <a:p>
            <a:pPr>
              <a:spcAft>
                <a:spcPts val="600"/>
              </a:spcAft>
              <a:defRPr sz="1600">
                <a:solidFill>
                  <a:srgbClr val="333333"/>
                </a:solidFill>
                <a:latin typeface="Calibri"/>
              </a:defRPr>
            </a:pPr>
            <a:r>
              <a:t>pixel affect the misfit?</a:t>
            </a:r>
          </a:p>
          <a:p>
            <a:pPr>
              <a:spcAft>
                <a:spcPts val="600"/>
              </a:spcAft>
              <a:defRPr sz="1600">
                <a:solidFill>
                  <a:srgbClr val="333333"/>
                </a:solidFill>
                <a:latin typeface="Calibri"/>
              </a:defRPr>
            </a:pPr>
            <a:endParaRPr/>
          </a:p>
          <a:p>
            <a:pPr>
              <a:spcAft>
                <a:spcPts val="600"/>
              </a:spcAft>
              <a:defRPr sz="1600">
                <a:solidFill>
                  <a:srgbClr val="333333"/>
                </a:solidFill>
                <a:latin typeface="Calibri"/>
              </a:defRPr>
            </a:pPr>
            <a:r>
              <a:t>Brute force: tweak one pixel, re-run</a:t>
            </a:r>
          </a:p>
          <a:p>
            <a:pPr>
              <a:spcAft>
                <a:spcPts val="600"/>
              </a:spcAft>
              <a:defRPr sz="1600">
                <a:solidFill>
                  <a:srgbClr val="333333"/>
                </a:solidFill>
                <a:latin typeface="Calibri"/>
              </a:defRPr>
            </a:pPr>
            <a:r>
              <a:t>the simulation, repeat for every pixel</a:t>
            </a:r>
          </a:p>
        </p:txBody>
      </p:sp>
      <p:sp>
        <p:nvSpPr>
          <p:cNvPr id="12" name="TextBox 11"/>
          <p:cNvSpPr txBox="1"/>
          <p:nvPr/>
        </p:nvSpPr>
        <p:spPr>
          <a:xfrm>
            <a:off x="7315200" y="4114800"/>
            <a:ext cx="2743200" cy="1097280"/>
          </a:xfrm>
          <a:prstGeom prst="rect">
            <a:avLst/>
          </a:prstGeom>
          <a:noFill/>
        </p:spPr>
        <p:txBody>
          <a:bodyPr wrap="square">
            <a:spAutoFit/>
          </a:bodyPr>
          <a:lstStyle/>
          <a:p>
            <a:pPr algn="ctr">
              <a:defRPr sz="3600" b="1">
                <a:solidFill>
                  <a:srgbClr val="2E7D32"/>
                </a:solidFill>
                <a:latin typeface="Calibri"/>
              </a:defRPr>
            </a:pPr>
            <a:r>
              <a:t>50,000</a:t>
            </a:r>
          </a:p>
          <a:p>
            <a:pPr algn="ctr">
              <a:defRPr sz="1400">
                <a:solidFill>
                  <a:srgbClr val="333333"/>
                </a:solidFill>
                <a:latin typeface="Calibri"/>
              </a:defRPr>
            </a:pPr>
            <a:r>
              <a:t>pixels to check</a:t>
            </a:r>
          </a:p>
        </p:txBody>
      </p:sp>
      <p:sp>
        <p:nvSpPr>
          <p:cNvPr id="13" name="TextBox 12"/>
          <p:cNvSpPr txBox="1"/>
          <p:nvPr/>
        </p:nvSpPr>
        <p:spPr>
          <a:xfrm>
            <a:off x="7315200" y="5303520"/>
            <a:ext cx="2743200" cy="1097280"/>
          </a:xfrm>
          <a:prstGeom prst="rect">
            <a:avLst/>
          </a:prstGeom>
          <a:noFill/>
        </p:spPr>
        <p:txBody>
          <a:bodyPr wrap="square">
            <a:spAutoFit/>
          </a:bodyPr>
          <a:lstStyle/>
          <a:p>
            <a:pPr algn="ctr">
              <a:defRPr sz="3600" b="1">
                <a:solidFill>
                  <a:srgbClr val="2E7D32"/>
                </a:solidFill>
                <a:latin typeface="Calibri"/>
              </a:defRPr>
            </a:pPr>
            <a:r>
              <a:t>~4 hours</a:t>
            </a:r>
          </a:p>
          <a:p>
            <a:pPr algn="ctr">
              <a:defRPr sz="1400">
                <a:solidFill>
                  <a:srgbClr val="333333"/>
                </a:solidFill>
                <a:latin typeface="Calibri"/>
              </a:defRPr>
            </a:pPr>
            <a:r>
              <a:t>per brute-force gradient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Adjoint-State Method: Efficient Gradients</a:t>
            </a:r>
          </a:p>
        </p:txBody>
      </p:sp>
      <p:pic>
        <p:nvPicPr>
          <p:cNvPr id="4" name="Picture 3" descr="inversion_workflow.png"/>
          <p:cNvPicPr>
            <a:picLocks noChangeAspect="1"/>
          </p:cNvPicPr>
          <p:nvPr/>
        </p:nvPicPr>
        <p:blipFill>
          <a:blip r:embed="rId3"/>
          <a:stretch>
            <a:fillRect/>
          </a:stretch>
        </p:blipFill>
        <p:spPr>
          <a:xfrm>
            <a:off x="457200" y="1097280"/>
            <a:ext cx="10972800" cy="3606864"/>
          </a:xfrm>
          <a:prstGeom prst="rect">
            <a:avLst/>
          </a:prstGeom>
        </p:spPr>
      </p:pic>
      <p:sp>
        <p:nvSpPr>
          <p:cNvPr id="5" name="TextBox 4"/>
          <p:cNvSpPr txBox="1"/>
          <p:nvPr/>
        </p:nvSpPr>
        <p:spPr>
          <a:xfrm>
            <a:off x="457200" y="4114800"/>
            <a:ext cx="7315200" cy="2286000"/>
          </a:xfrm>
          <a:prstGeom prst="rect">
            <a:avLst/>
          </a:prstGeom>
          <a:noFill/>
        </p:spPr>
        <p:txBody>
          <a:bodyPr wrap="square">
            <a:spAutoFit/>
          </a:bodyPr>
          <a:lstStyle/>
          <a:p>
            <a:pPr>
              <a:spcAft>
                <a:spcPts val="600"/>
              </a:spcAft>
              <a:defRPr sz="1600">
                <a:solidFill>
                  <a:srgbClr val="333333"/>
                </a:solidFill>
                <a:latin typeface="Calibri"/>
              </a:defRPr>
            </a:pPr>
            <a:r>
              <a:t>Forward: source at Tx → illumination of each grid cell</a:t>
            </a:r>
          </a:p>
          <a:p>
            <a:pPr>
              <a:spcAft>
                <a:spcPts val="600"/>
              </a:spcAft>
              <a:defRPr sz="1600">
                <a:solidFill>
                  <a:srgbClr val="333333"/>
                </a:solidFill>
                <a:latin typeface="Calibri"/>
              </a:defRPr>
            </a:pPr>
            <a:r>
              <a:t>Adjoint: time-reversed residual at Rx → sensitivity map</a:t>
            </a:r>
          </a:p>
          <a:p>
            <a:pPr>
              <a:spcAft>
                <a:spcPts val="600"/>
              </a:spcAft>
              <a:defRPr sz="1600">
                <a:solidFill>
                  <a:srgbClr val="333333"/>
                </a:solidFill>
                <a:latin typeface="Calibri"/>
              </a:defRPr>
            </a:pPr>
            <a:r>
              <a:t>Cross-correlate → gradient at every pixel simultaneously</a:t>
            </a:r>
          </a:p>
        </p:txBody>
      </p:sp>
      <p:sp>
        <p:nvSpPr>
          <p:cNvPr id="6" name="TextBox 5"/>
          <p:cNvSpPr txBox="1"/>
          <p:nvPr/>
        </p:nvSpPr>
        <p:spPr>
          <a:xfrm>
            <a:off x="8686800" y="4114800"/>
            <a:ext cx="2743200" cy="1097280"/>
          </a:xfrm>
          <a:prstGeom prst="rect">
            <a:avLst/>
          </a:prstGeom>
          <a:noFill/>
        </p:spPr>
        <p:txBody>
          <a:bodyPr wrap="square">
            <a:spAutoFit/>
          </a:bodyPr>
          <a:lstStyle/>
          <a:p>
            <a:pPr algn="ctr">
              <a:defRPr sz="3600" b="1">
                <a:solidFill>
                  <a:srgbClr val="2E7D32"/>
                </a:solidFill>
                <a:latin typeface="Calibri"/>
              </a:defRPr>
            </a:pPr>
            <a:r>
              <a:t>2 sims</a:t>
            </a:r>
          </a:p>
          <a:p>
            <a:pPr algn="ctr">
              <a:defRPr sz="1400">
                <a:solidFill>
                  <a:srgbClr val="333333"/>
                </a:solidFill>
                <a:latin typeface="Calibri"/>
              </a:defRPr>
            </a:pPr>
            <a:r>
              <a:t>not 50,000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Adjoint Gradient Validation</a:t>
            </a:r>
          </a:p>
        </p:txBody>
      </p:sp>
      <p:sp>
        <p:nvSpPr>
          <p:cNvPr id="4" name="TextBox 3"/>
          <p:cNvSpPr txBox="1"/>
          <p:nvPr/>
        </p:nvSpPr>
        <p:spPr>
          <a:xfrm>
            <a:off x="457200" y="1371600"/>
            <a:ext cx="6400800" cy="3657600"/>
          </a:xfrm>
          <a:prstGeom prst="rect">
            <a:avLst/>
          </a:prstGeom>
          <a:noFill/>
        </p:spPr>
        <p:txBody>
          <a:bodyPr wrap="square">
            <a:spAutoFit/>
          </a:bodyPr>
          <a:lstStyle/>
          <a:p>
            <a:pPr>
              <a:spcAft>
                <a:spcPts val="600"/>
              </a:spcAft>
              <a:defRPr sz="1700">
                <a:solidFill>
                  <a:srgbClr val="333333"/>
                </a:solidFill>
                <a:latin typeface="Calibri"/>
              </a:defRPr>
            </a:pPr>
            <a:r>
              <a:t>Gold standard: compare adjoint gradient vs finite differences</a:t>
            </a:r>
          </a:p>
          <a:p>
            <a:pPr>
              <a:spcAft>
                <a:spcPts val="600"/>
              </a:spcAft>
              <a:defRPr sz="1700">
                <a:solidFill>
                  <a:srgbClr val="333333"/>
                </a:solidFill>
                <a:latin typeface="Calibri"/>
              </a:defRPr>
            </a:pPr>
            <a:r>
              <a:t>Perturbed individual pixels, ran forward simulation</a:t>
            </a:r>
          </a:p>
          <a:p>
            <a:pPr>
              <a:spcAft>
                <a:spcPts val="600"/>
              </a:spcAft>
              <a:defRPr sz="1700">
                <a:solidFill>
                  <a:srgbClr val="333333"/>
                </a:solidFill>
                <a:latin typeface="Calibri"/>
              </a:defRPr>
            </a:pPr>
            <a:r>
              <a:t>Agreement at max-sensitivity pixel: 0.4% relative error</a:t>
            </a:r>
          </a:p>
          <a:p>
            <a:pPr>
              <a:spcAft>
                <a:spcPts val="600"/>
              </a:spcAft>
              <a:defRPr sz="1700">
                <a:solidFill>
                  <a:srgbClr val="333333"/>
                </a:solidFill>
                <a:latin typeface="Calibri"/>
              </a:defRPr>
            </a:pPr>
            <a:r>
              <a:t>Random pixels: 0.85-1.09 ratio (expected FD truncation error)</a:t>
            </a:r>
          </a:p>
          <a:p>
            <a:pPr>
              <a:spcAft>
                <a:spcPts val="600"/>
              </a:spcAft>
              <a:defRPr sz="1700">
                <a:solidFill>
                  <a:srgbClr val="333333"/>
                </a:solidFill>
                <a:latin typeface="Calibri"/>
              </a:defRPr>
            </a:pPr>
            <a:endParaRPr/>
          </a:p>
          <a:p>
            <a:pPr>
              <a:spcAft>
                <a:spcPts val="600"/>
              </a:spcAft>
              <a:defRPr sz="1700">
                <a:solidFill>
                  <a:srgbClr val="333333"/>
                </a:solidFill>
                <a:latin typeface="Calibri"/>
              </a:defRPr>
            </a:pPr>
            <a:r>
              <a:t>Conclusion: adjoint implementation is mathematically correct</a:t>
            </a:r>
          </a:p>
          <a:p>
            <a:pPr>
              <a:spcAft>
                <a:spcPts val="600"/>
              </a:spcAft>
              <a:defRPr sz="1700">
                <a:solidFill>
                  <a:srgbClr val="333333"/>
                </a:solidFill>
                <a:latin typeface="Calibri"/>
              </a:defRPr>
            </a:pPr>
            <a:r>
              <a:t>Any convergence issues are NOT gradient errors</a:t>
            </a:r>
          </a:p>
        </p:txBody>
      </p:sp>
      <p:sp>
        <p:nvSpPr>
          <p:cNvPr id="5" name="TextBox 4"/>
          <p:cNvSpPr txBox="1"/>
          <p:nvPr/>
        </p:nvSpPr>
        <p:spPr>
          <a:xfrm>
            <a:off x="8686800" y="2286000"/>
            <a:ext cx="2743200" cy="1097280"/>
          </a:xfrm>
          <a:prstGeom prst="rect">
            <a:avLst/>
          </a:prstGeom>
          <a:noFill/>
        </p:spPr>
        <p:txBody>
          <a:bodyPr wrap="square">
            <a:spAutoFit/>
          </a:bodyPr>
          <a:lstStyle/>
          <a:p>
            <a:pPr algn="ctr">
              <a:defRPr sz="3600" b="1">
                <a:solidFill>
                  <a:srgbClr val="2E7D32"/>
                </a:solidFill>
                <a:latin typeface="Calibri"/>
              </a:defRPr>
            </a:pPr>
            <a:r>
              <a:t>0.4%</a:t>
            </a:r>
          </a:p>
          <a:p>
            <a:pPr algn="ctr">
              <a:defRPr sz="1400">
                <a:solidFill>
                  <a:srgbClr val="333333"/>
                </a:solidFill>
                <a:latin typeface="Calibri"/>
              </a:defRPr>
            </a:pPr>
            <a:r>
              <a:t>FD agreement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Experiment: Pixel-Wise FWI Step-Size Analysis</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600"/>
              </a:spcAft>
              <a:defRPr sz="1500">
                <a:solidFill>
                  <a:srgbClr val="333333"/>
                </a:solidFill>
                <a:latin typeface="Calibri"/>
              </a:defRPr>
            </a:pPr>
            <a:r>
              <a:t>Gradient validated (0.4% vs FD) → ran systematic step-size sweep:</a:t>
            </a:r>
          </a:p>
          <a:p>
            <a:pPr>
              <a:spcAft>
                <a:spcPts val="600"/>
              </a:spcAft>
              <a:defRPr sz="1500">
                <a:solidFill>
                  <a:srgbClr val="333333"/>
                </a:solidFill>
                <a:latin typeface="Calibri"/>
              </a:defRPr>
            </a:pPr>
            <a:endParaRPr/>
          </a:p>
          <a:p>
            <a:pPr>
              <a:spcAft>
                <a:spcPts val="600"/>
              </a:spcAft>
              <a:defRPr sz="1500">
                <a:solidFill>
                  <a:srgbClr val="333333"/>
                </a:solidFill>
                <a:latin typeface="Calibri"/>
              </a:defRPr>
            </a:pPr>
            <a:r>
              <a:t>  alpha = 5e-5  :  dJ = -1.75e-5   (descent)</a:t>
            </a:r>
          </a:p>
          <a:p>
            <a:pPr>
              <a:spcAft>
                <a:spcPts val="600"/>
              </a:spcAft>
              <a:defRPr sz="1500">
                <a:solidFill>
                  <a:srgbClr val="333333"/>
                </a:solidFill>
                <a:latin typeface="Calibri"/>
              </a:defRPr>
            </a:pPr>
            <a:r>
              <a:t>  alpha = 1e-4  :  dJ = -1.70e-5   (descent)</a:t>
            </a:r>
          </a:p>
          <a:p>
            <a:pPr>
              <a:spcAft>
                <a:spcPts val="600"/>
              </a:spcAft>
              <a:defRPr sz="1500">
                <a:solidFill>
                  <a:srgbClr val="333333"/>
                </a:solidFill>
                <a:latin typeface="Calibri"/>
              </a:defRPr>
            </a:pPr>
            <a:r>
              <a:t>  alpha = 3e-4  :  dJ = -6.7e-6    (descent, marginal)</a:t>
            </a:r>
          </a:p>
          <a:p>
            <a:pPr>
              <a:spcAft>
                <a:spcPts val="600"/>
              </a:spcAft>
              <a:defRPr sz="1500">
                <a:solidFill>
                  <a:srgbClr val="333333"/>
                </a:solidFill>
                <a:latin typeface="Calibri"/>
              </a:defRPr>
            </a:pPr>
            <a:r>
              <a:t>  alpha = 5e-4  :  dJ = +6.4e-6    (ascent — overshooting!)</a:t>
            </a:r>
          </a:p>
          <a:p>
            <a:pPr>
              <a:spcAft>
                <a:spcPts val="600"/>
              </a:spcAft>
              <a:defRPr sz="1500">
                <a:solidFill>
                  <a:srgbClr val="333333"/>
                </a:solidFill>
                <a:latin typeface="Calibri"/>
              </a:defRPr>
            </a:pPr>
            <a:r>
              <a:t>  alpha = 1e-3  :  dJ = +4.5e-5    (ascent)</a:t>
            </a:r>
          </a:p>
          <a:p>
            <a:pPr>
              <a:spcAft>
                <a:spcPts val="600"/>
              </a:spcAft>
              <a:defRPr sz="1500">
                <a:solidFill>
                  <a:srgbClr val="333333"/>
                </a:solidFill>
                <a:latin typeface="Calibri"/>
              </a:defRPr>
            </a:pPr>
            <a:endParaRPr/>
          </a:p>
          <a:p>
            <a:pPr>
              <a:spcAft>
                <a:spcPts val="600"/>
              </a:spcAft>
              <a:defRPr sz="1500">
                <a:solidFill>
                  <a:srgbClr val="333333"/>
                </a:solidFill>
                <a:latin typeface="Calibri"/>
              </a:defRPr>
            </a:pPr>
            <a:r>
              <a:t>Only alpha &lt;= 3e-4 produces descent. At best step: -1.7e-5 per iter</a:t>
            </a:r>
          </a:p>
          <a:p>
            <a:pPr>
              <a:spcAft>
                <a:spcPts val="600"/>
              </a:spcAft>
              <a:defRPr sz="1500">
                <a:solidFill>
                  <a:srgbClr val="333333"/>
                </a:solidFill>
                <a:latin typeface="Calibri"/>
              </a:defRPr>
            </a:pPr>
            <a:r>
              <a:t>from J = 14 — would need ~50,000 iterations (impractical)</a:t>
            </a:r>
          </a:p>
          <a:p>
            <a:pPr>
              <a:spcAft>
                <a:spcPts val="600"/>
              </a:spcAft>
              <a:defRPr sz="1500">
                <a:solidFill>
                  <a:srgbClr val="333333"/>
                </a:solidFill>
                <a:latin typeface="Calibri"/>
              </a:defRPr>
            </a:pPr>
            <a:endParaRPr/>
          </a:p>
          <a:p>
            <a:pPr>
              <a:spcAft>
                <a:spcPts val="600"/>
              </a:spcAft>
              <a:defRPr sz="1500">
                <a:solidFill>
                  <a:srgbClr val="333333"/>
                </a:solidFill>
                <a:latin typeface="Calibri"/>
              </a:defRPr>
            </a:pPr>
            <a:r>
              <a:t>Root cause: 50K pixels changing simultaneously causes nonlinear overshoot</a:t>
            </a:r>
          </a:p>
          <a:p>
            <a:pPr>
              <a:spcAft>
                <a:spcPts val="600"/>
              </a:spcAft>
              <a:defRPr sz="1500">
                <a:solidFill>
                  <a:srgbClr val="333333"/>
                </a:solidFill>
                <a:latin typeface="Calibri"/>
              </a:defRPr>
            </a:pPr>
            <a:r>
              <a:t>Decision: pivot to geometry-based approach using prior knowledge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Key Insight: Geometry-Based Parameterisation</a:t>
            </a:r>
          </a:p>
        </p:txBody>
      </p:sp>
      <p:sp>
        <p:nvSpPr>
          <p:cNvPr id="4" name="TextBox 3"/>
          <p:cNvSpPr txBox="1"/>
          <p:nvPr/>
        </p:nvSpPr>
        <p:spPr>
          <a:xfrm>
            <a:off x="457200" y="1371600"/>
            <a:ext cx="5029200" cy="457200"/>
          </a:xfrm>
          <a:prstGeom prst="rect">
            <a:avLst/>
          </a:prstGeom>
          <a:noFill/>
        </p:spPr>
        <p:txBody>
          <a:bodyPr wrap="square">
            <a:spAutoFit/>
          </a:bodyPr>
          <a:lstStyle/>
          <a:p>
            <a:pPr algn="l">
              <a:defRPr sz="2200" b="1">
                <a:solidFill>
                  <a:srgbClr val="C62828"/>
                </a:solidFill>
                <a:latin typeface="Calibri"/>
              </a:defRPr>
            </a:pPr>
            <a:r>
              <a:t>Pixel-wise FWI</a:t>
            </a:r>
          </a:p>
        </p:txBody>
      </p:sp>
      <p:sp>
        <p:nvSpPr>
          <p:cNvPr id="5" name="TextBox 4"/>
          <p:cNvSpPr txBox="1"/>
          <p:nvPr/>
        </p:nvSpPr>
        <p:spPr>
          <a:xfrm>
            <a:off x="457200" y="2011680"/>
            <a:ext cx="5029200" cy="3657600"/>
          </a:xfrm>
          <a:prstGeom prst="rect">
            <a:avLst/>
          </a:prstGeom>
          <a:noFill/>
        </p:spPr>
        <p:txBody>
          <a:bodyPr wrap="square">
            <a:spAutoFit/>
          </a:bodyPr>
          <a:lstStyle/>
          <a:p>
            <a:pPr>
              <a:spcAft>
                <a:spcPts val="600"/>
              </a:spcAft>
              <a:defRPr sz="1600">
                <a:solidFill>
                  <a:srgbClr val="333333"/>
                </a:solidFill>
                <a:latin typeface="Calibri"/>
              </a:defRPr>
            </a:pPr>
            <a:r>
              <a:t>50,000 parameters</a:t>
            </a:r>
          </a:p>
          <a:p>
            <a:pPr>
              <a:spcAft>
                <a:spcPts val="600"/>
              </a:spcAft>
              <a:defRPr sz="1600">
                <a:solidFill>
                  <a:srgbClr val="333333"/>
                </a:solidFill>
                <a:latin typeface="Calibri"/>
              </a:defRPr>
            </a:pPr>
            <a:r>
              <a:t>Adjoint gradient (expensive)</a:t>
            </a:r>
          </a:p>
          <a:p>
            <a:pPr>
              <a:spcAft>
                <a:spcPts val="600"/>
              </a:spcAft>
              <a:defRPr sz="1600">
                <a:solidFill>
                  <a:srgbClr val="333333"/>
                </a:solidFill>
                <a:latin typeface="Calibri"/>
              </a:defRPr>
            </a:pPr>
            <a:r>
              <a:t>Extremely slow convergence</a:t>
            </a:r>
          </a:p>
          <a:p>
            <a:pPr>
              <a:spcAft>
                <a:spcPts val="600"/>
              </a:spcAft>
              <a:defRPr sz="1600">
                <a:solidFill>
                  <a:srgbClr val="333333"/>
                </a:solidFill>
                <a:latin typeface="Calibri"/>
              </a:defRPr>
            </a:pPr>
            <a:r>
              <a:t>Needs advanced preconditioning</a:t>
            </a:r>
          </a:p>
        </p:txBody>
      </p:sp>
      <p:sp>
        <p:nvSpPr>
          <p:cNvPr id="6" name="TextBox 5"/>
          <p:cNvSpPr txBox="1"/>
          <p:nvPr/>
        </p:nvSpPr>
        <p:spPr>
          <a:xfrm>
            <a:off x="6400800" y="1371600"/>
            <a:ext cx="5029200" cy="457200"/>
          </a:xfrm>
          <a:prstGeom prst="rect">
            <a:avLst/>
          </a:prstGeom>
          <a:noFill/>
        </p:spPr>
        <p:txBody>
          <a:bodyPr wrap="square">
            <a:spAutoFit/>
          </a:bodyPr>
          <a:lstStyle/>
          <a:p>
            <a:pPr algn="l">
              <a:defRPr sz="2200" b="1">
                <a:solidFill>
                  <a:srgbClr val="2E7D32"/>
                </a:solidFill>
                <a:latin typeface="Calibri"/>
              </a:defRPr>
            </a:pPr>
            <a:r>
              <a:t>Geometry-based FWI</a:t>
            </a:r>
          </a:p>
        </p:txBody>
      </p:sp>
      <p:sp>
        <p:nvSpPr>
          <p:cNvPr id="7" name="TextBox 6"/>
          <p:cNvSpPr txBox="1"/>
          <p:nvPr/>
        </p:nvSpPr>
        <p:spPr>
          <a:xfrm>
            <a:off x="6400800" y="2011680"/>
            <a:ext cx="5029200" cy="3657600"/>
          </a:xfrm>
          <a:prstGeom prst="rect">
            <a:avLst/>
          </a:prstGeom>
          <a:noFill/>
        </p:spPr>
        <p:txBody>
          <a:bodyPr wrap="square">
            <a:spAutoFit/>
          </a:bodyPr>
          <a:lstStyle/>
          <a:p>
            <a:pPr>
              <a:spcAft>
                <a:spcPts val="600"/>
              </a:spcAft>
              <a:defRPr sz="1600">
                <a:solidFill>
                  <a:srgbClr val="333333"/>
                </a:solidFill>
                <a:latin typeface="Calibri"/>
              </a:defRPr>
            </a:pPr>
            <a:r>
              <a:t>9 parameters (x, z, r per rebar)</a:t>
            </a:r>
          </a:p>
          <a:p>
            <a:pPr>
              <a:spcAft>
                <a:spcPts val="600"/>
              </a:spcAft>
              <a:defRPr sz="1600">
                <a:solidFill>
                  <a:srgbClr val="333333"/>
                </a:solidFill>
                <a:latin typeface="Calibri"/>
              </a:defRPr>
            </a:pPr>
            <a:r>
              <a:t>FD gradient (affordable at 9 params)</a:t>
            </a:r>
          </a:p>
          <a:p>
            <a:pPr>
              <a:spcAft>
                <a:spcPts val="600"/>
              </a:spcAft>
              <a:defRPr sz="1600">
                <a:solidFill>
                  <a:srgbClr val="333333"/>
                </a:solidFill>
                <a:latin typeface="Calibri"/>
              </a:defRPr>
            </a:pPr>
            <a:r>
              <a:t>Fast convergence (Nelder-Mead)</a:t>
            </a:r>
          </a:p>
          <a:p>
            <a:pPr>
              <a:spcAft>
                <a:spcPts val="600"/>
              </a:spcAft>
              <a:defRPr sz="1600">
                <a:solidFill>
                  <a:srgbClr val="333333"/>
                </a:solidFill>
                <a:latin typeface="Calibri"/>
              </a:defRPr>
            </a:pPr>
            <a:r>
              <a:t>GPU-accelerated forward sims</a:t>
            </a:r>
          </a:p>
        </p:txBody>
      </p:sp>
      <p:sp>
        <p:nvSpPr>
          <p:cNvPr id="8" name="TextBox 7"/>
          <p:cNvSpPr txBox="1"/>
          <p:nvPr/>
        </p:nvSpPr>
        <p:spPr>
          <a:xfrm>
            <a:off x="4572000" y="4572000"/>
            <a:ext cx="2743200" cy="1097280"/>
          </a:xfrm>
          <a:prstGeom prst="rect">
            <a:avLst/>
          </a:prstGeom>
          <a:noFill/>
        </p:spPr>
        <p:txBody>
          <a:bodyPr wrap="square">
            <a:spAutoFit/>
          </a:bodyPr>
          <a:lstStyle/>
          <a:p>
            <a:pPr algn="ctr">
              <a:defRPr sz="3600" b="1">
                <a:solidFill>
                  <a:srgbClr val="2E7D32"/>
                </a:solidFill>
                <a:latin typeface="Calibri"/>
              </a:defRPr>
            </a:pPr>
            <a:r>
              <a:t>50K → 9</a:t>
            </a:r>
          </a:p>
          <a:p>
            <a:pPr algn="ctr">
              <a:defRPr sz="1400">
                <a:solidFill>
                  <a:srgbClr val="333333"/>
                </a:solidFill>
                <a:latin typeface="Calibri"/>
              </a:defRPr>
            </a:pPr>
            <a:r>
              <a:t>parameters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Inversion Results: Rebar Recovery</a:t>
            </a:r>
          </a:p>
        </p:txBody>
      </p:sp>
      <p:pic>
        <p:nvPicPr>
          <p:cNvPr id="4" name="Picture 3" descr="inversion_comparison.png"/>
          <p:cNvPicPr>
            <a:picLocks noChangeAspect="1"/>
          </p:cNvPicPr>
          <p:nvPr/>
        </p:nvPicPr>
        <p:blipFill>
          <a:blip r:embed="rId3"/>
          <a:stretch>
            <a:fillRect/>
          </a:stretch>
        </p:blipFill>
        <p:spPr>
          <a:xfrm>
            <a:off x="274320" y="1097280"/>
            <a:ext cx="8229600" cy="2393787"/>
          </a:xfrm>
          <a:prstGeom prst="rect">
            <a:avLst/>
          </a:prstGeom>
        </p:spPr>
      </p:pic>
      <p:sp>
        <p:nvSpPr>
          <p:cNvPr id="5" name="TextBox 4"/>
          <p:cNvSpPr txBox="1"/>
          <p:nvPr/>
        </p:nvSpPr>
        <p:spPr>
          <a:xfrm>
            <a:off x="8686800" y="1371600"/>
            <a:ext cx="2743200" cy="1097280"/>
          </a:xfrm>
          <a:prstGeom prst="rect">
            <a:avLst/>
          </a:prstGeom>
          <a:noFill/>
        </p:spPr>
        <p:txBody>
          <a:bodyPr wrap="square">
            <a:spAutoFit/>
          </a:bodyPr>
          <a:lstStyle/>
          <a:p>
            <a:pPr algn="ctr">
              <a:defRPr sz="3600" b="1">
                <a:solidFill>
                  <a:srgbClr val="2E7D32"/>
                </a:solidFill>
                <a:latin typeface="Calibri"/>
              </a:defRPr>
            </a:pPr>
            <a:r>
              <a:t>&lt; 3 mm</a:t>
            </a:r>
          </a:p>
          <a:p>
            <a:pPr algn="ctr">
              <a:defRPr sz="1400">
                <a:solidFill>
                  <a:srgbClr val="333333"/>
                </a:solidFill>
                <a:latin typeface="Calibri"/>
              </a:defRPr>
            </a:pPr>
            <a:r>
              <a:t>position error</a:t>
            </a:r>
          </a:p>
        </p:txBody>
      </p:sp>
      <p:sp>
        <p:nvSpPr>
          <p:cNvPr id="6" name="TextBox 5"/>
          <p:cNvSpPr txBox="1"/>
          <p:nvPr/>
        </p:nvSpPr>
        <p:spPr>
          <a:xfrm>
            <a:off x="8686800" y="2926080"/>
            <a:ext cx="2743200" cy="1097280"/>
          </a:xfrm>
          <a:prstGeom prst="rect">
            <a:avLst/>
          </a:prstGeom>
          <a:noFill/>
        </p:spPr>
        <p:txBody>
          <a:bodyPr wrap="square">
            <a:spAutoFit/>
          </a:bodyPr>
          <a:lstStyle/>
          <a:p>
            <a:pPr algn="ctr">
              <a:defRPr sz="3600" b="1">
                <a:solidFill>
                  <a:srgbClr val="2E7D32"/>
                </a:solidFill>
                <a:latin typeface="Calibri"/>
              </a:defRPr>
            </a:pPr>
            <a:r>
              <a:t>&lt; 1 mm</a:t>
            </a:r>
          </a:p>
          <a:p>
            <a:pPr algn="ctr">
              <a:defRPr sz="1400">
                <a:solidFill>
                  <a:srgbClr val="333333"/>
                </a:solidFill>
                <a:latin typeface="Calibri"/>
              </a:defRPr>
            </a:pPr>
            <a:r>
              <a:t>depth error</a:t>
            </a:r>
          </a:p>
        </p:txBody>
      </p:sp>
      <p:sp>
        <p:nvSpPr>
          <p:cNvPr id="7" name="TextBox 6"/>
          <p:cNvSpPr txBox="1"/>
          <p:nvPr/>
        </p:nvSpPr>
        <p:spPr>
          <a:xfrm>
            <a:off x="8686800" y="4480560"/>
            <a:ext cx="2743200" cy="1097280"/>
          </a:xfrm>
          <a:prstGeom prst="rect">
            <a:avLst/>
          </a:prstGeom>
          <a:noFill/>
        </p:spPr>
        <p:txBody>
          <a:bodyPr wrap="square">
            <a:spAutoFit/>
          </a:bodyPr>
          <a:lstStyle/>
          <a:p>
            <a:pPr algn="ctr">
              <a:defRPr sz="3600" b="1">
                <a:solidFill>
                  <a:srgbClr val="2E7D32"/>
                </a:solidFill>
                <a:latin typeface="Calibri"/>
              </a:defRPr>
            </a:pPr>
            <a:r>
              <a:t>3.0%</a:t>
            </a:r>
          </a:p>
          <a:p>
            <a:pPr algn="ctr">
              <a:defRPr sz="1400">
                <a:solidFill>
                  <a:srgbClr val="333333"/>
                </a:solidFill>
                <a:latin typeface="Calibri"/>
              </a:defRPr>
            </a:pPr>
            <a:r>
              <a:t>NRMS model error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Inversion Convergence</a:t>
            </a:r>
          </a:p>
        </p:txBody>
      </p:sp>
      <p:pic>
        <p:nvPicPr>
          <p:cNvPr id="4" name="Picture 3" descr="convergence.png"/>
          <p:cNvPicPr>
            <a:picLocks noChangeAspect="1"/>
          </p:cNvPicPr>
          <p:nvPr/>
        </p:nvPicPr>
        <p:blipFill>
          <a:blip r:embed="rId3"/>
          <a:stretch>
            <a:fillRect/>
          </a:stretch>
        </p:blipFill>
        <p:spPr>
          <a:xfrm>
            <a:off x="457200" y="1097280"/>
            <a:ext cx="7772400" cy="1718070"/>
          </a:xfrm>
          <a:prstGeom prst="rect">
            <a:avLst/>
          </a:prstGeom>
        </p:spPr>
      </p:pic>
      <p:sp>
        <p:nvSpPr>
          <p:cNvPr id="5" name="TextBox 4"/>
          <p:cNvSpPr txBox="1"/>
          <p:nvPr/>
        </p:nvSpPr>
        <p:spPr>
          <a:xfrm>
            <a:off x="8503920" y="1371600"/>
            <a:ext cx="3474720" cy="4572000"/>
          </a:xfrm>
          <a:prstGeom prst="rect">
            <a:avLst/>
          </a:prstGeom>
          <a:noFill/>
        </p:spPr>
        <p:txBody>
          <a:bodyPr wrap="square">
            <a:spAutoFit/>
          </a:bodyPr>
          <a:lstStyle/>
          <a:p>
            <a:pPr>
              <a:spcAft>
                <a:spcPts val="600"/>
              </a:spcAft>
              <a:defRPr sz="1400">
                <a:solidFill>
                  <a:srgbClr val="333333"/>
                </a:solidFill>
                <a:latin typeface="Calibri"/>
              </a:defRPr>
            </a:pPr>
            <a:r>
              <a:t>275 function evaluations</a:t>
            </a:r>
          </a:p>
          <a:p>
            <a:pPr>
              <a:spcAft>
                <a:spcPts val="600"/>
              </a:spcAft>
              <a:defRPr sz="1400">
                <a:solidFill>
                  <a:srgbClr val="333333"/>
                </a:solidFill>
                <a:latin typeface="Calibri"/>
              </a:defRPr>
            </a:pPr>
            <a:r>
              <a:t>(Nelder-Mead simplex)</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43.5% misfit reduction</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Rapid initial decrease:</a:t>
            </a:r>
          </a:p>
          <a:p>
            <a:pPr>
              <a:spcAft>
                <a:spcPts val="600"/>
              </a:spcAft>
              <a:defRPr sz="1400">
                <a:solidFill>
                  <a:srgbClr val="333333"/>
                </a:solidFill>
                <a:latin typeface="Calibri"/>
              </a:defRPr>
            </a:pPr>
            <a:r>
              <a:t>optimizer quickly finds</a:t>
            </a:r>
          </a:p>
          <a:p>
            <a:pPr>
              <a:spcAft>
                <a:spcPts val="600"/>
              </a:spcAft>
              <a:defRPr sz="1400">
                <a:solidFill>
                  <a:srgbClr val="333333"/>
                </a:solidFill>
                <a:latin typeface="Calibri"/>
              </a:defRPr>
            </a:pPr>
            <a:r>
              <a:t>approximate rebar positions</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Gradual refinement:</a:t>
            </a:r>
          </a:p>
          <a:p>
            <a:pPr>
              <a:spcAft>
                <a:spcPts val="600"/>
              </a:spcAft>
              <a:defRPr sz="1400">
                <a:solidFill>
                  <a:srgbClr val="333333"/>
                </a:solidFill>
                <a:latin typeface="Calibri"/>
              </a:defRPr>
            </a:pPr>
            <a:r>
              <a:t>fine-tuning radii and</a:t>
            </a:r>
          </a:p>
          <a:p>
            <a:pPr>
              <a:spcAft>
                <a:spcPts val="600"/>
              </a:spcAft>
              <a:defRPr sz="1400">
                <a:solidFill>
                  <a:srgbClr val="333333"/>
                </a:solidFill>
                <a:latin typeface="Calibri"/>
              </a:defRPr>
            </a:pPr>
            <a:r>
              <a:t>sub-grid positioning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Signal Comparison: Observed vs Synthetic Traces</a:t>
            </a:r>
          </a:p>
        </p:txBody>
      </p:sp>
      <p:pic>
        <p:nvPicPr>
          <p:cNvPr id="4" name="Picture 3" descr="signal_comparison.png"/>
          <p:cNvPicPr>
            <a:picLocks noChangeAspect="1"/>
          </p:cNvPicPr>
          <p:nvPr/>
        </p:nvPicPr>
        <p:blipFill>
          <a:blip r:embed="rId3"/>
          <a:stretch>
            <a:fillRect/>
          </a:stretch>
        </p:blipFill>
        <p:spPr>
          <a:xfrm>
            <a:off x="274320" y="1097280"/>
            <a:ext cx="8229600" cy="3267527"/>
          </a:xfrm>
          <a:prstGeom prst="rect">
            <a:avLst/>
          </a:prstGeom>
        </p:spPr>
      </p:pic>
      <p:sp>
        <p:nvSpPr>
          <p:cNvPr id="5" name="TextBox 4"/>
          <p:cNvSpPr txBox="1"/>
          <p:nvPr/>
        </p:nvSpPr>
        <p:spPr>
          <a:xfrm>
            <a:off x="8686800" y="1371600"/>
            <a:ext cx="3200400" cy="4572000"/>
          </a:xfrm>
          <a:prstGeom prst="rect">
            <a:avLst/>
          </a:prstGeom>
          <a:noFill/>
        </p:spPr>
        <p:txBody>
          <a:bodyPr wrap="square">
            <a:spAutoFit/>
          </a:bodyPr>
          <a:lstStyle/>
          <a:p>
            <a:pPr>
              <a:spcAft>
                <a:spcPts val="600"/>
              </a:spcAft>
              <a:defRPr sz="1400">
                <a:solidFill>
                  <a:srgbClr val="333333"/>
                </a:solidFill>
                <a:latin typeface="Calibri"/>
              </a:defRPr>
            </a:pPr>
            <a:r>
              <a:t>Blue: observed data</a:t>
            </a:r>
          </a:p>
          <a:p>
            <a:pPr>
              <a:spcAft>
                <a:spcPts val="600"/>
              </a:spcAft>
              <a:defRPr sz="1400">
                <a:solidFill>
                  <a:srgbClr val="333333"/>
                </a:solidFill>
                <a:latin typeface="Calibri"/>
              </a:defRPr>
            </a:pPr>
            <a:r>
              <a:t>  (from true model)</a:t>
            </a:r>
          </a:p>
          <a:p>
            <a:pPr>
              <a:spcAft>
                <a:spcPts val="600"/>
              </a:spcAft>
              <a:defRPr sz="1400">
                <a:solidFill>
                  <a:srgbClr val="333333"/>
                </a:solidFill>
                <a:latin typeface="Calibri"/>
              </a:defRPr>
            </a:pPr>
            <a:r>
              <a:t>Red: synthetic data</a:t>
            </a:r>
          </a:p>
          <a:p>
            <a:pPr>
              <a:spcAft>
                <a:spcPts val="600"/>
              </a:spcAft>
              <a:defRPr sz="1400">
                <a:solidFill>
                  <a:srgbClr val="333333"/>
                </a:solidFill>
                <a:latin typeface="Calibri"/>
              </a:defRPr>
            </a:pPr>
            <a:r>
              <a:t>  (from inverted model)</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Good match at all 5</a:t>
            </a:r>
          </a:p>
          <a:p>
            <a:pPr>
              <a:spcAft>
                <a:spcPts val="600"/>
              </a:spcAft>
              <a:defRPr sz="1400">
                <a:solidFill>
                  <a:srgbClr val="333333"/>
                </a:solidFill>
                <a:latin typeface="Calibri"/>
              </a:defRPr>
            </a:pPr>
            <a:r>
              <a:t>scan positions, especially</a:t>
            </a:r>
          </a:p>
          <a:p>
            <a:pPr>
              <a:spcAft>
                <a:spcPts val="600"/>
              </a:spcAft>
              <a:defRPr sz="1400">
                <a:solidFill>
                  <a:srgbClr val="333333"/>
                </a:solidFill>
                <a:latin typeface="Calibri"/>
              </a:defRPr>
            </a:pPr>
            <a:r>
              <a:t>at rebar reflection times</a:t>
            </a:r>
          </a:p>
          <a:p>
            <a:pPr>
              <a:spcAft>
                <a:spcPts val="600"/>
              </a:spcAft>
              <a:defRPr sz="1400">
                <a:solidFill>
                  <a:srgbClr val="333333"/>
                </a:solidFill>
                <a:latin typeface="Calibri"/>
              </a:defRPr>
            </a:pPr>
            <a:r>
              <a:t>(1.5-4 ns)</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Residual mismatch at late</a:t>
            </a:r>
          </a:p>
          <a:p>
            <a:pPr>
              <a:spcAft>
                <a:spcPts val="600"/>
              </a:spcAft>
              <a:defRPr sz="1400">
                <a:solidFill>
                  <a:srgbClr val="333333"/>
                </a:solidFill>
                <a:latin typeface="Calibri"/>
              </a:defRPr>
            </a:pPr>
            <a:r>
              <a:t>times from multiple</a:t>
            </a:r>
          </a:p>
          <a:p>
            <a:pPr>
              <a:spcAft>
                <a:spcPts val="600"/>
              </a:spcAft>
              <a:defRPr sz="1400">
                <a:solidFill>
                  <a:srgbClr val="333333"/>
                </a:solidFill>
                <a:latin typeface="Calibri"/>
              </a:defRPr>
            </a:pPr>
            <a:r>
              <a:t>reflections not captured</a:t>
            </a:r>
          </a:p>
          <a:p>
            <a:pPr>
              <a:spcAft>
                <a:spcPts val="600"/>
              </a:spcAft>
              <a:defRPr sz="1400">
                <a:solidFill>
                  <a:srgbClr val="333333"/>
                </a:solidFill>
                <a:latin typeface="Calibri"/>
              </a:defRPr>
            </a:pPr>
            <a:r>
              <a:t>by 3-rebar parameterisation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B-Scan Data Fit: Observed vs Inverted</a:t>
            </a:r>
          </a:p>
        </p:txBody>
      </p:sp>
      <p:pic>
        <p:nvPicPr>
          <p:cNvPr id="4" name="Picture 3" descr="bscan_observed.png"/>
          <p:cNvPicPr>
            <a:picLocks noChangeAspect="1"/>
          </p:cNvPicPr>
          <p:nvPr/>
        </p:nvPicPr>
        <p:blipFill>
          <a:blip r:embed="rId3"/>
          <a:stretch>
            <a:fillRect/>
          </a:stretch>
        </p:blipFill>
        <p:spPr>
          <a:xfrm>
            <a:off x="274320" y="1371600"/>
            <a:ext cx="3749039" cy="2668632"/>
          </a:xfrm>
          <a:prstGeom prst="rect">
            <a:avLst/>
          </a:prstGeom>
        </p:spPr>
      </p:pic>
      <p:sp>
        <p:nvSpPr>
          <p:cNvPr id="5" name="TextBox 4"/>
          <p:cNvSpPr txBox="1"/>
          <p:nvPr/>
        </p:nvSpPr>
        <p:spPr>
          <a:xfrm>
            <a:off x="274320" y="1097280"/>
            <a:ext cx="3749039" cy="365760"/>
          </a:xfrm>
          <a:prstGeom prst="rect">
            <a:avLst/>
          </a:prstGeom>
          <a:noFill/>
        </p:spPr>
        <p:txBody>
          <a:bodyPr wrap="square">
            <a:spAutoFit/>
          </a:bodyPr>
          <a:lstStyle/>
          <a:p>
            <a:pPr algn="ctr">
              <a:defRPr sz="1600" b="1">
                <a:solidFill>
                  <a:srgbClr val="333333"/>
                </a:solidFill>
                <a:latin typeface="Calibri"/>
              </a:defRPr>
            </a:pPr>
            <a:r>
              <a:t>Observed</a:t>
            </a:r>
          </a:p>
        </p:txBody>
      </p:sp>
      <p:pic>
        <p:nvPicPr>
          <p:cNvPr id="6" name="Picture 5" descr="bscan_inverted.png"/>
          <p:cNvPicPr>
            <a:picLocks noChangeAspect="1"/>
          </p:cNvPicPr>
          <p:nvPr/>
        </p:nvPicPr>
        <p:blipFill>
          <a:blip r:embed="rId4"/>
          <a:stretch>
            <a:fillRect/>
          </a:stretch>
        </p:blipFill>
        <p:spPr>
          <a:xfrm>
            <a:off x="4206240" y="1371600"/>
            <a:ext cx="3749039" cy="2668632"/>
          </a:xfrm>
          <a:prstGeom prst="rect">
            <a:avLst/>
          </a:prstGeom>
        </p:spPr>
      </p:pic>
      <p:sp>
        <p:nvSpPr>
          <p:cNvPr id="7" name="TextBox 6"/>
          <p:cNvSpPr txBox="1"/>
          <p:nvPr/>
        </p:nvSpPr>
        <p:spPr>
          <a:xfrm>
            <a:off x="4206240" y="1097280"/>
            <a:ext cx="3749039" cy="365760"/>
          </a:xfrm>
          <a:prstGeom prst="rect">
            <a:avLst/>
          </a:prstGeom>
          <a:noFill/>
        </p:spPr>
        <p:txBody>
          <a:bodyPr wrap="square">
            <a:spAutoFit/>
          </a:bodyPr>
          <a:lstStyle/>
          <a:p>
            <a:pPr algn="ctr">
              <a:defRPr sz="1600" b="1">
                <a:solidFill>
                  <a:srgbClr val="333333"/>
                </a:solidFill>
                <a:latin typeface="Calibri"/>
              </a:defRPr>
            </a:pPr>
            <a:r>
              <a:t>Inverted</a:t>
            </a:r>
          </a:p>
        </p:txBody>
      </p:sp>
      <p:pic>
        <p:nvPicPr>
          <p:cNvPr id="8" name="Picture 7" descr="residual_bscan.png"/>
          <p:cNvPicPr>
            <a:picLocks noChangeAspect="1"/>
          </p:cNvPicPr>
          <p:nvPr/>
        </p:nvPicPr>
        <p:blipFill>
          <a:blip r:embed="rId5"/>
          <a:stretch>
            <a:fillRect/>
          </a:stretch>
        </p:blipFill>
        <p:spPr>
          <a:xfrm>
            <a:off x="8138160" y="1371600"/>
            <a:ext cx="3749039" cy="2659442"/>
          </a:xfrm>
          <a:prstGeom prst="rect">
            <a:avLst/>
          </a:prstGeom>
        </p:spPr>
      </p:pic>
      <p:sp>
        <p:nvSpPr>
          <p:cNvPr id="9" name="TextBox 8"/>
          <p:cNvSpPr txBox="1"/>
          <p:nvPr/>
        </p:nvSpPr>
        <p:spPr>
          <a:xfrm>
            <a:off x="8138160" y="1097280"/>
            <a:ext cx="3749039" cy="365760"/>
          </a:xfrm>
          <a:prstGeom prst="rect">
            <a:avLst/>
          </a:prstGeom>
          <a:noFill/>
        </p:spPr>
        <p:txBody>
          <a:bodyPr wrap="square">
            <a:spAutoFit/>
          </a:bodyPr>
          <a:lstStyle/>
          <a:p>
            <a:pPr algn="ctr">
              <a:defRPr sz="1600" b="1">
                <a:solidFill>
                  <a:srgbClr val="333333"/>
                </a:solidFill>
                <a:latin typeface="Calibri"/>
              </a:defRPr>
            </a:pPr>
            <a:r>
              <a:t>Residual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GPU Acceleration: Measured Benchmarks</a:t>
            </a:r>
          </a:p>
        </p:txBody>
      </p:sp>
      <p:pic>
        <p:nvPicPr>
          <p:cNvPr id="4" name="Picture 3" descr="gpu_scaling.png"/>
          <p:cNvPicPr>
            <a:picLocks noChangeAspect="1"/>
          </p:cNvPicPr>
          <p:nvPr/>
        </p:nvPicPr>
        <p:blipFill>
          <a:blip r:embed="rId3"/>
          <a:stretch>
            <a:fillRect/>
          </a:stretch>
        </p:blipFill>
        <p:spPr>
          <a:xfrm>
            <a:off x="274320" y="1097280"/>
            <a:ext cx="7772400" cy="2719033"/>
          </a:xfrm>
          <a:prstGeom prst="rect">
            <a:avLst/>
          </a:prstGeom>
        </p:spPr>
      </p:pic>
      <p:sp>
        <p:nvSpPr>
          <p:cNvPr id="5" name="TextBox 4"/>
          <p:cNvSpPr txBox="1"/>
          <p:nvPr/>
        </p:nvSpPr>
        <p:spPr>
          <a:xfrm>
            <a:off x="8229600" y="1371600"/>
            <a:ext cx="3657600" cy="4572000"/>
          </a:xfrm>
          <a:prstGeom prst="rect">
            <a:avLst/>
          </a:prstGeom>
          <a:noFill/>
        </p:spPr>
        <p:txBody>
          <a:bodyPr wrap="square">
            <a:spAutoFit/>
          </a:bodyPr>
          <a:lstStyle/>
          <a:p>
            <a:pPr>
              <a:spcAft>
                <a:spcPts val="600"/>
              </a:spcAft>
              <a:defRPr sz="1400">
                <a:solidFill>
                  <a:srgbClr val="333333"/>
                </a:solidFill>
                <a:latin typeface="Calibri"/>
              </a:defRPr>
            </a:pPr>
            <a:r>
              <a:t>Measured on NVIDIA GB10</a:t>
            </a:r>
          </a:p>
          <a:p>
            <a:pPr>
              <a:spcAft>
                <a:spcPts val="600"/>
              </a:spcAft>
              <a:defRPr sz="1400">
                <a:solidFill>
                  <a:srgbClr val="333333"/>
                </a:solidFill>
                <a:latin typeface="Calibri"/>
              </a:defRPr>
            </a:pPr>
            <a:r>
              <a:t>(DGX Spark, 128 GB)</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5 grid sizes benchmarked:</a:t>
            </a:r>
          </a:p>
          <a:p>
            <a:pPr>
              <a:spcAft>
                <a:spcPts val="600"/>
              </a:spcAft>
              <a:defRPr sz="1400">
                <a:solidFill>
                  <a:srgbClr val="333333"/>
                </a:solidFill>
                <a:latin typeface="Calibri"/>
              </a:defRPr>
            </a:pPr>
            <a:r>
              <a:t>  50K → 3.2M cells</a:t>
            </a:r>
          </a:p>
          <a:p>
            <a:pPr>
              <a:spcAft>
                <a:spcPts val="600"/>
              </a:spcAft>
              <a:defRPr sz="1400">
                <a:solidFill>
                  <a:srgbClr val="333333"/>
                </a:solidFill>
                <a:latin typeface="Calibri"/>
              </a:defRPr>
            </a:pPr>
            <a:r>
              <a:t>  500 time steps each</a:t>
            </a:r>
          </a:p>
          <a:p>
            <a:pPr>
              <a:spcAft>
                <a:spcPts val="600"/>
              </a:spcAft>
              <a:defRPr sz="1400">
                <a:solidFill>
                  <a:srgbClr val="333333"/>
                </a:solidFill>
                <a:latin typeface="Calibri"/>
              </a:defRPr>
            </a:pPr>
            <a:r>
              <a:t>  2 runs averaged</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CuPy: drop-in NumPy</a:t>
            </a:r>
          </a:p>
          <a:p>
            <a:pPr>
              <a:spcAft>
                <a:spcPts val="600"/>
              </a:spcAft>
              <a:defRPr sz="1400">
                <a:solidFill>
                  <a:srgbClr val="333333"/>
                </a:solidFill>
                <a:latin typeface="Calibri"/>
              </a:defRPr>
            </a:pPr>
            <a:r>
              <a:t>replacement for CUDA</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Speedup increases with</a:t>
            </a:r>
          </a:p>
          <a:p>
            <a:pPr>
              <a:spcAft>
                <a:spcPts val="600"/>
              </a:spcAft>
              <a:defRPr sz="1400">
                <a:solidFill>
                  <a:srgbClr val="333333"/>
                </a:solidFill>
                <a:latin typeface="Calibri"/>
              </a:defRPr>
            </a:pPr>
            <a:r>
              <a:t>grid size (more parallel</a:t>
            </a:r>
          </a:p>
          <a:p>
            <a:pPr>
              <a:spcAft>
                <a:spcPts val="600"/>
              </a:spcAft>
              <a:defRPr sz="1400">
                <a:solidFill>
                  <a:srgbClr val="333333"/>
                </a:solidFill>
                <a:latin typeface="Calibri"/>
              </a:defRPr>
            </a:pPr>
            <a:r>
              <a:t>work saturates GPU)</a:t>
            </a:r>
          </a:p>
        </p:txBody>
      </p:sp>
      <p:sp>
        <p:nvSpPr>
          <p:cNvPr id="6" name="TextBox 5"/>
          <p:cNvSpPr txBox="1"/>
          <p:nvPr/>
        </p:nvSpPr>
        <p:spPr>
          <a:xfrm>
            <a:off x="8686800" y="5029200"/>
            <a:ext cx="2743200" cy="1097280"/>
          </a:xfrm>
          <a:prstGeom prst="rect">
            <a:avLst/>
          </a:prstGeom>
          <a:noFill/>
        </p:spPr>
        <p:txBody>
          <a:bodyPr wrap="square">
            <a:spAutoFit/>
          </a:bodyPr>
          <a:lstStyle/>
          <a:p>
            <a:pPr algn="ctr">
              <a:defRPr sz="3600" b="1">
                <a:solidFill>
                  <a:srgbClr val="2E7D32"/>
                </a:solidFill>
                <a:latin typeface="Calibri"/>
              </a:defRPr>
            </a:pPr>
            <a:r>
              <a:t>3.2-7.0x</a:t>
            </a:r>
          </a:p>
          <a:p>
            <a:pPr algn="ctr">
              <a:defRPr sz="1400">
                <a:solidFill>
                  <a:srgbClr val="333333"/>
                </a:solidFill>
                <a:latin typeface="Calibri"/>
              </a:defRPr>
            </a:pPr>
            <a:r>
              <a:t>measured speedup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GPU CPML (Full GPU Time-Stepping)</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600"/>
              </a:spcAft>
              <a:defRPr sz="1500">
                <a:solidFill>
                  <a:srgbClr val="333333"/>
                </a:solidFill>
                <a:latin typeface="Calibri"/>
              </a:defRPr>
            </a:pPr>
            <a:r>
              <a:t>Ported all 8 PML boundary corrections to GPU (CuPy vectorised ops)</a:t>
            </a:r>
          </a:p>
          <a:p>
            <a:pPr>
              <a:spcAft>
                <a:spcPts val="600"/>
              </a:spcAft>
              <a:defRPr sz="1500">
                <a:solidFill>
                  <a:srgbClr val="333333"/>
                </a:solidFill>
                <a:latin typeface="Calibri"/>
              </a:defRPr>
            </a:pPr>
            <a:r>
              <a:t>Replaced per-layer Python loops with 2D array broadcasting</a:t>
            </a:r>
          </a:p>
          <a:p>
            <a:pPr>
              <a:spcAft>
                <a:spcPts val="600"/>
              </a:spcAft>
              <a:defRPr sz="1500">
                <a:solidFill>
                  <a:srgbClr val="333333"/>
                </a:solidFill>
                <a:latin typeface="Calibri"/>
              </a:defRPr>
            </a:pPr>
            <a:r>
              <a:t>All psi arrays on GPU — complete GPU-resident time-stepping loop</a:t>
            </a:r>
          </a:p>
          <a:p>
            <a:pPr>
              <a:spcAft>
                <a:spcPts val="600"/>
              </a:spcAft>
              <a:defRPr sz="1500">
                <a:solidFill>
                  <a:srgbClr val="333333"/>
                </a:solidFill>
                <a:latin typeface="Calibri"/>
              </a:defRPr>
            </a:pPr>
            <a:endParaRPr/>
          </a:p>
          <a:p>
            <a:pPr>
              <a:spcAft>
                <a:spcPts val="600"/>
              </a:spcAft>
              <a:defRPr sz="1500">
                <a:solidFill>
                  <a:srgbClr val="333333"/>
                </a:solidFill>
                <a:latin typeface="Calibri"/>
              </a:defRPr>
            </a:pPr>
            <a:r>
              <a:t>Verification: bit-identical traces vs CPU (zero error at float64 precision)</a:t>
            </a:r>
          </a:p>
          <a:p>
            <a:pPr>
              <a:spcAft>
                <a:spcPts val="600"/>
              </a:spcAft>
              <a:defRPr sz="1500">
                <a:solidFill>
                  <a:srgbClr val="333333"/>
                </a:solidFill>
                <a:latin typeface="Calibri"/>
              </a:defRPr>
            </a:pPr>
            <a:endParaRPr/>
          </a:p>
          <a:p>
            <a:pPr>
              <a:spcAft>
                <a:spcPts val="600"/>
              </a:spcAft>
              <a:defRPr sz="1500">
                <a:solidFill>
                  <a:srgbClr val="333333"/>
                </a:solidFill>
                <a:latin typeface="Calibri"/>
              </a:defRPr>
            </a:pPr>
            <a:r>
              <a:t>Performance at project grid (180x280):</a:t>
            </a:r>
          </a:p>
          <a:p>
            <a:pPr>
              <a:spcAft>
                <a:spcPts val="600"/>
              </a:spcAft>
              <a:defRPr sz="1500">
                <a:solidFill>
                  <a:srgbClr val="333333"/>
                </a:solidFill>
                <a:latin typeface="Calibri"/>
              </a:defRPr>
            </a:pPr>
            <a:r>
              <a:t>  CPU with CPML: 1.70 s    |    GPU v2 with CPML: 1.10 s    →   1.5x speedup</a:t>
            </a:r>
          </a:p>
          <a:p>
            <a:pPr>
              <a:spcAft>
                <a:spcPts val="600"/>
              </a:spcAft>
              <a:defRPr sz="1500">
                <a:solidFill>
                  <a:srgbClr val="333333"/>
                </a:solidFill>
                <a:latin typeface="Calibri"/>
              </a:defRPr>
            </a:pPr>
            <a:endParaRPr/>
          </a:p>
          <a:p>
            <a:pPr>
              <a:spcAft>
                <a:spcPts val="600"/>
              </a:spcAft>
              <a:defRPr sz="1500">
                <a:solidFill>
                  <a:srgbClr val="333333"/>
                </a:solidFill>
                <a:latin typeface="Calibri"/>
              </a:defRPr>
            </a:pPr>
            <a:r>
              <a:t>Why modest speedup? CPML operates on thin boundary strips (15 cells wide)</a:t>
            </a:r>
          </a:p>
          <a:p>
            <a:pPr>
              <a:spcAft>
                <a:spcPts val="600"/>
              </a:spcAft>
              <a:defRPr sz="1500">
                <a:solidFill>
                  <a:srgbClr val="333333"/>
                </a:solidFill>
                <a:latin typeface="Calibri"/>
              </a:defRPr>
            </a:pPr>
            <a:r>
              <a:t>  — low parallelism per kernel launch. At larger grids (e.g., 3D with</a:t>
            </a:r>
          </a:p>
          <a:p>
            <a:pPr>
              <a:spcAft>
                <a:spcPts val="600"/>
              </a:spcAft>
              <a:defRPr sz="1500">
                <a:solidFill>
                  <a:srgbClr val="333333"/>
                </a:solidFill>
                <a:latin typeface="Calibri"/>
              </a:defRPr>
            </a:pPr>
            <a:r>
              <a:t>  millions of cells), the field-update cost dominates and overall GPU</a:t>
            </a:r>
          </a:p>
          <a:p>
            <a:pPr>
              <a:spcAft>
                <a:spcPts val="600"/>
              </a:spcAft>
              <a:defRPr sz="1500">
                <a:solidFill>
                  <a:srgbClr val="333333"/>
                </a:solidFill>
                <a:latin typeface="Calibri"/>
              </a:defRPr>
            </a:pPr>
            <a:r>
              <a:t>  speedup approaches the 3-7x measured for field updates alone.</a:t>
            </a:r>
          </a:p>
        </p:txBody>
      </p:sp>
      <p:sp>
        <p:nvSpPr>
          <p:cNvPr id="5" name="TextBox 4"/>
          <p:cNvSpPr txBox="1"/>
          <p:nvPr/>
        </p:nvSpPr>
        <p:spPr>
          <a:xfrm>
            <a:off x="8686800" y="5029200"/>
            <a:ext cx="2743200" cy="1097280"/>
          </a:xfrm>
          <a:prstGeom prst="rect">
            <a:avLst/>
          </a:prstGeom>
          <a:noFill/>
        </p:spPr>
        <p:txBody>
          <a:bodyPr wrap="square">
            <a:spAutoFit/>
          </a:bodyPr>
          <a:lstStyle/>
          <a:p>
            <a:pPr algn="ctr">
              <a:defRPr sz="3600" b="1">
                <a:solidFill>
                  <a:srgbClr val="2E7D32"/>
                </a:solidFill>
                <a:latin typeface="Calibri"/>
              </a:defRPr>
            </a:pPr>
            <a:r>
              <a:t>Bit-identical</a:t>
            </a:r>
          </a:p>
          <a:p>
            <a:pPr algn="ctr">
              <a:defRPr sz="1400">
                <a:solidFill>
                  <a:srgbClr val="333333"/>
                </a:solidFill>
                <a:latin typeface="Calibri"/>
              </a:defRPr>
            </a:pPr>
            <a:r>
              <a:t>to CPU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Dispersive Materials (Debye Model)</a:t>
            </a:r>
          </a:p>
        </p:txBody>
      </p:sp>
      <p:pic>
        <p:nvPicPr>
          <p:cNvPr id="4" name="Picture 3" descr="dispersive_comparison.png"/>
          <p:cNvPicPr>
            <a:picLocks noChangeAspect="1"/>
          </p:cNvPicPr>
          <p:nvPr/>
        </p:nvPicPr>
        <p:blipFill>
          <a:blip r:embed="rId3"/>
          <a:stretch>
            <a:fillRect/>
          </a:stretch>
        </p:blipFill>
        <p:spPr>
          <a:xfrm>
            <a:off x="274320" y="1097280"/>
            <a:ext cx="7315200" cy="3627954"/>
          </a:xfrm>
          <a:prstGeom prst="rect">
            <a:avLst/>
          </a:prstGeom>
        </p:spPr>
      </p:pic>
      <p:sp>
        <p:nvSpPr>
          <p:cNvPr id="5" name="TextBox 4"/>
          <p:cNvSpPr txBox="1"/>
          <p:nvPr/>
        </p:nvSpPr>
        <p:spPr>
          <a:xfrm>
            <a:off x="7772400" y="1371600"/>
            <a:ext cx="4114800" cy="3657600"/>
          </a:xfrm>
          <a:prstGeom prst="rect">
            <a:avLst/>
          </a:prstGeom>
          <a:noFill/>
        </p:spPr>
        <p:txBody>
          <a:bodyPr wrap="square">
            <a:spAutoFit/>
          </a:bodyPr>
          <a:lstStyle/>
          <a:p>
            <a:pPr>
              <a:spcAft>
                <a:spcPts val="600"/>
              </a:spcAft>
              <a:defRPr sz="1400">
                <a:solidFill>
                  <a:srgbClr val="333333"/>
                </a:solidFill>
                <a:latin typeface="Calibri"/>
              </a:defRPr>
            </a:pPr>
            <a:r>
              <a:t>Single-pole Debye ADE</a:t>
            </a:r>
          </a:p>
          <a:p>
            <a:pPr>
              <a:spcAft>
                <a:spcPts val="600"/>
              </a:spcAft>
              <a:defRPr sz="1400">
                <a:solidFill>
                  <a:srgbClr val="333333"/>
                </a:solidFill>
                <a:latin typeface="Calibri"/>
              </a:defRPr>
            </a:pPr>
            <a:r>
              <a:t>eps_inf=5.0, eps_s=7.0</a:t>
            </a:r>
          </a:p>
          <a:p>
            <a:pPr>
              <a:spcAft>
                <a:spcPts val="600"/>
              </a:spcAft>
              <a:defRPr sz="1400">
                <a:solidFill>
                  <a:srgbClr val="333333"/>
                </a:solidFill>
                <a:latin typeface="Calibri"/>
              </a:defRPr>
            </a:pPr>
            <a:r>
              <a:t>tau = 0.1 ns</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Adds polarisation current</a:t>
            </a:r>
          </a:p>
          <a:p>
            <a:pPr>
              <a:spcAft>
                <a:spcPts val="600"/>
              </a:spcAft>
              <a:defRPr sz="1400">
                <a:solidFill>
                  <a:srgbClr val="333333"/>
                </a:solidFill>
                <a:latin typeface="Calibri"/>
              </a:defRPr>
            </a:pPr>
            <a:r>
              <a:t>to E-field update</a:t>
            </a:r>
          </a:p>
          <a:p>
            <a:pPr>
              <a:spcAft>
                <a:spcPts val="600"/>
              </a:spcAft>
              <a:defRPr sz="1400">
                <a:solidFill>
                  <a:srgbClr val="333333"/>
                </a:solidFill>
                <a:latin typeface="Calibri"/>
              </a:defRPr>
            </a:pPr>
            <a:endParaRPr/>
          </a:p>
          <a:p>
            <a:pPr>
              <a:spcAft>
                <a:spcPts val="600"/>
              </a:spcAft>
              <a:defRPr sz="1400">
                <a:solidFill>
                  <a:srgbClr val="333333"/>
                </a:solidFill>
                <a:latin typeface="Calibri"/>
              </a:defRPr>
            </a:pPr>
            <a:r>
              <a:t>Significant for quantitative</a:t>
            </a:r>
          </a:p>
          <a:p>
            <a:pPr>
              <a:spcAft>
                <a:spcPts val="600"/>
              </a:spcAft>
              <a:defRPr sz="1400">
                <a:solidFill>
                  <a:srgbClr val="333333"/>
                </a:solidFill>
                <a:latin typeface="Calibri"/>
              </a:defRPr>
            </a:pPr>
            <a:r>
              <a:t>FWI with real data</a:t>
            </a:r>
          </a:p>
        </p:txBody>
      </p:sp>
      <p:sp>
        <p:nvSpPr>
          <p:cNvPr id="6" name="TextBox 5"/>
          <p:cNvSpPr txBox="1"/>
          <p:nvPr/>
        </p:nvSpPr>
        <p:spPr>
          <a:xfrm>
            <a:off x="8686800" y="5029200"/>
            <a:ext cx="2743200" cy="1097280"/>
          </a:xfrm>
          <a:prstGeom prst="rect">
            <a:avLst/>
          </a:prstGeom>
          <a:noFill/>
        </p:spPr>
        <p:txBody>
          <a:bodyPr wrap="square">
            <a:spAutoFit/>
          </a:bodyPr>
          <a:lstStyle/>
          <a:p>
            <a:pPr algn="ctr">
              <a:defRPr sz="3600" b="1">
                <a:solidFill>
                  <a:srgbClr val="2E7D32"/>
                </a:solidFill>
                <a:latin typeface="Calibri"/>
              </a:defRPr>
            </a:pPr>
            <a:r>
              <a:t>~20%</a:t>
            </a:r>
          </a:p>
          <a:p>
            <a:pPr algn="ctr">
              <a:defRPr sz="1400">
                <a:solidFill>
                  <a:srgbClr val="333333"/>
                </a:solidFill>
                <a:latin typeface="Calibri"/>
              </a:defRPr>
            </a:pPr>
            <a:r>
              <a:t>trace effect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Distributed Dipole Antenna Model</a:t>
            </a:r>
          </a:p>
        </p:txBody>
      </p:sp>
      <p:pic>
        <p:nvPicPr>
          <p:cNvPr id="4" name="Picture 3" descr="antenna_comparison.png"/>
          <p:cNvPicPr>
            <a:picLocks noChangeAspect="1"/>
          </p:cNvPicPr>
          <p:nvPr/>
        </p:nvPicPr>
        <p:blipFill>
          <a:blip r:embed="rId3"/>
          <a:stretch>
            <a:fillRect/>
          </a:stretch>
        </p:blipFill>
        <p:spPr>
          <a:xfrm>
            <a:off x="274320" y="1097280"/>
            <a:ext cx="11430000" cy="4235775"/>
          </a:xfrm>
          <a:prstGeom prst="rect">
            <a:avLst/>
          </a:prstGeom>
        </p:spPr>
      </p:pic>
      <p:sp>
        <p:nvSpPr>
          <p:cNvPr id="5" name="TextBox 4"/>
          <p:cNvSpPr txBox="1"/>
          <p:nvPr/>
        </p:nvSpPr>
        <p:spPr>
          <a:xfrm>
            <a:off x="9144000" y="5029200"/>
            <a:ext cx="2743200" cy="1097280"/>
          </a:xfrm>
          <a:prstGeom prst="rect">
            <a:avLst/>
          </a:prstGeom>
          <a:noFill/>
        </p:spPr>
        <p:txBody>
          <a:bodyPr wrap="square">
            <a:spAutoFit/>
          </a:bodyPr>
          <a:lstStyle/>
          <a:p>
            <a:pPr algn="ctr">
              <a:defRPr sz="3600" b="1">
                <a:solidFill>
                  <a:srgbClr val="2E7D32"/>
                </a:solidFill>
                <a:latin typeface="Calibri"/>
              </a:defRPr>
            </a:pPr>
            <a:r>
              <a:t>~40%</a:t>
            </a:r>
          </a:p>
          <a:p>
            <a:pPr algn="ctr">
              <a:defRPr sz="1400">
                <a:solidFill>
                  <a:srgbClr val="333333"/>
                </a:solidFill>
                <a:latin typeface="Calibri"/>
              </a:defRPr>
            </a:pPr>
            <a:r>
              <a:t>amplitude effect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Multi-Scale Frequency Continuation</a:t>
            </a:r>
          </a:p>
        </p:txBody>
      </p:sp>
      <p:pic>
        <p:nvPicPr>
          <p:cNvPr id="4" name="Picture 3" descr="multiscale_bar.png"/>
          <p:cNvPicPr>
            <a:picLocks noChangeAspect="1"/>
          </p:cNvPicPr>
          <p:nvPr/>
        </p:nvPicPr>
        <p:blipFill>
          <a:blip r:embed="rId3"/>
          <a:stretch>
            <a:fillRect/>
          </a:stretch>
        </p:blipFill>
        <p:spPr>
          <a:xfrm>
            <a:off x="274320" y="1097280"/>
            <a:ext cx="11430000" cy="4553379"/>
          </a:xfrm>
          <a:prstGeom prst="rect">
            <a:avLst/>
          </a:prstGeom>
        </p:spPr>
      </p:pic>
      <p:sp>
        <p:nvSpPr>
          <p:cNvPr id="5" name="TextBox 4"/>
          <p:cNvSpPr txBox="1"/>
          <p:nvPr/>
        </p:nvSpPr>
        <p:spPr>
          <a:xfrm>
            <a:off x="914400" y="5760720"/>
            <a:ext cx="10058400" cy="457200"/>
          </a:xfrm>
          <a:prstGeom prst="rect">
            <a:avLst/>
          </a:prstGeom>
          <a:noFill/>
        </p:spPr>
        <p:txBody>
          <a:bodyPr wrap="square">
            <a:spAutoFit/>
          </a:bodyPr>
          <a:lstStyle/>
          <a:p>
            <a:pPr algn="ctr">
              <a:defRPr sz="1500" b="0">
                <a:solidFill>
                  <a:srgbClr val="333333"/>
                </a:solidFill>
                <a:latin typeface="Calibri"/>
              </a:defRPr>
            </a:pPr>
            <a:r>
              <a:t>Progressive refinement: 0.5 GHz (coarse) → 1.0 GHz (medium) → 1.5 GHz (fine)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Software Architecture</a:t>
            </a:r>
          </a:p>
        </p:txBody>
      </p:sp>
      <p:sp>
        <p:nvSpPr>
          <p:cNvPr id="4" name="TextBox 3"/>
          <p:cNvSpPr txBox="1"/>
          <p:nvPr/>
        </p:nvSpPr>
        <p:spPr>
          <a:xfrm>
            <a:off x="914400" y="1463040"/>
            <a:ext cx="2743200" cy="457200"/>
          </a:xfrm>
          <a:prstGeom prst="rect">
            <a:avLst/>
          </a:prstGeom>
          <a:noFill/>
        </p:spPr>
        <p:txBody>
          <a:bodyPr wrap="square">
            <a:spAutoFit/>
          </a:bodyPr>
          <a:lstStyle/>
          <a:p>
            <a:pPr algn="l">
              <a:defRPr sz="2000" b="1">
                <a:solidFill>
                  <a:srgbClr val="1B3A5C"/>
                </a:solidFill>
                <a:latin typeface="Calibri"/>
              </a:defRPr>
            </a:pPr>
            <a:r>
              <a:t>core/</a:t>
            </a:r>
          </a:p>
        </p:txBody>
      </p:sp>
      <p:sp>
        <p:nvSpPr>
          <p:cNvPr id="5" name="TextBox 4"/>
          <p:cNvSpPr txBox="1"/>
          <p:nvPr/>
        </p:nvSpPr>
        <p:spPr>
          <a:xfrm>
            <a:off x="3657600" y="1463040"/>
            <a:ext cx="7315200" cy="457200"/>
          </a:xfrm>
          <a:prstGeom prst="rect">
            <a:avLst/>
          </a:prstGeom>
          <a:noFill/>
        </p:spPr>
        <p:txBody>
          <a:bodyPr wrap="square">
            <a:spAutoFit/>
          </a:bodyPr>
          <a:lstStyle/>
          <a:p>
            <a:pPr algn="l">
              <a:defRPr sz="1600" b="0">
                <a:solidFill>
                  <a:srgbClr val="333333"/>
                </a:solidFill>
                <a:latin typeface="Calibri"/>
              </a:defRPr>
            </a:pPr>
            <a:r>
              <a:t>FDTD engine, CPML, materials, geometry, source, scan</a:t>
            </a:r>
          </a:p>
        </p:txBody>
      </p:sp>
      <p:sp>
        <p:nvSpPr>
          <p:cNvPr id="6" name="TextBox 5"/>
          <p:cNvSpPr txBox="1"/>
          <p:nvPr/>
        </p:nvSpPr>
        <p:spPr>
          <a:xfrm>
            <a:off x="914400" y="2240280"/>
            <a:ext cx="2743200" cy="457200"/>
          </a:xfrm>
          <a:prstGeom prst="rect">
            <a:avLst/>
          </a:prstGeom>
          <a:noFill/>
        </p:spPr>
        <p:txBody>
          <a:bodyPr wrap="square">
            <a:spAutoFit/>
          </a:bodyPr>
          <a:lstStyle/>
          <a:p>
            <a:pPr algn="l">
              <a:defRPr sz="2000" b="1">
                <a:solidFill>
                  <a:srgbClr val="1B3A5C"/>
                </a:solidFill>
                <a:latin typeface="Calibri"/>
              </a:defRPr>
            </a:pPr>
            <a:r>
              <a:t>inversion/</a:t>
            </a:r>
          </a:p>
        </p:txBody>
      </p:sp>
      <p:sp>
        <p:nvSpPr>
          <p:cNvPr id="7" name="TextBox 6"/>
          <p:cNvSpPr txBox="1"/>
          <p:nvPr/>
        </p:nvSpPr>
        <p:spPr>
          <a:xfrm>
            <a:off x="3657600" y="2240280"/>
            <a:ext cx="7315200" cy="457200"/>
          </a:xfrm>
          <a:prstGeom prst="rect">
            <a:avLst/>
          </a:prstGeom>
          <a:noFill/>
        </p:spPr>
        <p:txBody>
          <a:bodyPr wrap="square">
            <a:spAutoFit/>
          </a:bodyPr>
          <a:lstStyle/>
          <a:p>
            <a:pPr algn="l">
              <a:defRPr sz="1600" b="0">
                <a:solidFill>
                  <a:srgbClr val="333333"/>
                </a:solidFill>
                <a:latin typeface="Calibri"/>
              </a:defRPr>
            </a:pPr>
            <a:r>
              <a:t>Adjoint, objective, regularisation, optimizer, geometry, multi-scale</a:t>
            </a:r>
          </a:p>
        </p:txBody>
      </p:sp>
      <p:sp>
        <p:nvSpPr>
          <p:cNvPr id="8" name="TextBox 7"/>
          <p:cNvSpPr txBox="1"/>
          <p:nvPr/>
        </p:nvSpPr>
        <p:spPr>
          <a:xfrm>
            <a:off x="914400" y="3017520"/>
            <a:ext cx="2743200" cy="457200"/>
          </a:xfrm>
          <a:prstGeom prst="rect">
            <a:avLst/>
          </a:prstGeom>
          <a:noFill/>
        </p:spPr>
        <p:txBody>
          <a:bodyPr wrap="square">
            <a:spAutoFit/>
          </a:bodyPr>
          <a:lstStyle/>
          <a:p>
            <a:pPr algn="l">
              <a:defRPr sz="2000" b="1">
                <a:solidFill>
                  <a:srgbClr val="1B3A5C"/>
                </a:solidFill>
                <a:latin typeface="Calibri"/>
              </a:defRPr>
            </a:pPr>
            <a:r>
              <a:t>gpu/</a:t>
            </a:r>
          </a:p>
        </p:txBody>
      </p:sp>
      <p:sp>
        <p:nvSpPr>
          <p:cNvPr id="9" name="TextBox 8"/>
          <p:cNvSpPr txBox="1"/>
          <p:nvPr/>
        </p:nvSpPr>
        <p:spPr>
          <a:xfrm>
            <a:off x="3657600" y="3017520"/>
            <a:ext cx="7315200" cy="457200"/>
          </a:xfrm>
          <a:prstGeom prst="rect">
            <a:avLst/>
          </a:prstGeom>
          <a:noFill/>
        </p:spPr>
        <p:txBody>
          <a:bodyPr wrap="square">
            <a:spAutoFit/>
          </a:bodyPr>
          <a:lstStyle/>
          <a:p>
            <a:pPr algn="l">
              <a:defRPr sz="1600" b="0">
                <a:solidFill>
                  <a:srgbClr val="333333"/>
                </a:solidFill>
                <a:latin typeface="Calibri"/>
              </a:defRPr>
            </a:pPr>
            <a:r>
              <a:t>CuPy FDTD, GPU CPML, benchmarking</a:t>
            </a:r>
          </a:p>
        </p:txBody>
      </p:sp>
      <p:sp>
        <p:nvSpPr>
          <p:cNvPr id="10" name="TextBox 9"/>
          <p:cNvSpPr txBox="1"/>
          <p:nvPr/>
        </p:nvSpPr>
        <p:spPr>
          <a:xfrm>
            <a:off x="914400" y="3794760"/>
            <a:ext cx="2743200" cy="457200"/>
          </a:xfrm>
          <a:prstGeom prst="rect">
            <a:avLst/>
          </a:prstGeom>
          <a:noFill/>
        </p:spPr>
        <p:txBody>
          <a:bodyPr wrap="square">
            <a:spAutoFit/>
          </a:bodyPr>
          <a:lstStyle/>
          <a:p>
            <a:pPr algn="l">
              <a:defRPr sz="2000" b="1">
                <a:solidFill>
                  <a:srgbClr val="1B3A5C"/>
                </a:solidFill>
                <a:latin typeface="Calibri"/>
              </a:defRPr>
            </a:pPr>
            <a:r>
              <a:t>visualization/</a:t>
            </a:r>
          </a:p>
        </p:txBody>
      </p:sp>
      <p:sp>
        <p:nvSpPr>
          <p:cNvPr id="11" name="TextBox 10"/>
          <p:cNvSpPr txBox="1"/>
          <p:nvPr/>
        </p:nvSpPr>
        <p:spPr>
          <a:xfrm>
            <a:off x="3657600" y="3794760"/>
            <a:ext cx="7315200" cy="457200"/>
          </a:xfrm>
          <a:prstGeom prst="rect">
            <a:avLst/>
          </a:prstGeom>
          <a:noFill/>
        </p:spPr>
        <p:txBody>
          <a:bodyPr wrap="square">
            <a:spAutoFit/>
          </a:bodyPr>
          <a:lstStyle/>
          <a:p>
            <a:pPr algn="l">
              <a:defRPr sz="1600" b="0">
                <a:solidFill>
                  <a:srgbClr val="333333"/>
                </a:solidFill>
                <a:latin typeface="Calibri"/>
              </a:defRPr>
            </a:pPr>
            <a:r>
              <a:t>All plotting modules</a:t>
            </a:r>
          </a:p>
        </p:txBody>
      </p:sp>
      <p:sp>
        <p:nvSpPr>
          <p:cNvPr id="12" name="TextBox 11"/>
          <p:cNvSpPr txBox="1"/>
          <p:nvPr/>
        </p:nvSpPr>
        <p:spPr>
          <a:xfrm>
            <a:off x="914400" y="4572000"/>
            <a:ext cx="2743200" cy="457200"/>
          </a:xfrm>
          <a:prstGeom prst="rect">
            <a:avLst/>
          </a:prstGeom>
          <a:noFill/>
        </p:spPr>
        <p:txBody>
          <a:bodyPr wrap="square">
            <a:spAutoFit/>
          </a:bodyPr>
          <a:lstStyle/>
          <a:p>
            <a:pPr algn="l">
              <a:defRPr sz="2000" b="1">
                <a:solidFill>
                  <a:srgbClr val="1B3A5C"/>
                </a:solidFill>
                <a:latin typeface="Calibri"/>
              </a:defRPr>
            </a:pPr>
            <a:r>
              <a:t>tests/</a:t>
            </a:r>
          </a:p>
        </p:txBody>
      </p:sp>
      <p:sp>
        <p:nvSpPr>
          <p:cNvPr id="13" name="TextBox 12"/>
          <p:cNvSpPr txBox="1"/>
          <p:nvPr/>
        </p:nvSpPr>
        <p:spPr>
          <a:xfrm>
            <a:off x="3657600" y="4572000"/>
            <a:ext cx="7315200" cy="457200"/>
          </a:xfrm>
          <a:prstGeom prst="rect">
            <a:avLst/>
          </a:prstGeom>
          <a:noFill/>
        </p:spPr>
        <p:txBody>
          <a:bodyPr wrap="square">
            <a:spAutoFit/>
          </a:bodyPr>
          <a:lstStyle/>
          <a:p>
            <a:pPr algn="l">
              <a:defRPr sz="1600" b="0">
                <a:solidFill>
                  <a:srgbClr val="333333"/>
                </a:solidFill>
                <a:latin typeface="Calibri"/>
              </a:defRPr>
            </a:pPr>
            <a:r>
              <a:t>6 verification tests (all pass)</a:t>
            </a:r>
          </a:p>
        </p:txBody>
      </p:sp>
      <p:sp>
        <p:nvSpPr>
          <p:cNvPr id="14" name="TextBox 13"/>
          <p:cNvSpPr txBox="1"/>
          <p:nvPr/>
        </p:nvSpPr>
        <p:spPr>
          <a:xfrm>
            <a:off x="8229600" y="5029200"/>
            <a:ext cx="2743200" cy="1097280"/>
          </a:xfrm>
          <a:prstGeom prst="rect">
            <a:avLst/>
          </a:prstGeom>
          <a:noFill/>
        </p:spPr>
        <p:txBody>
          <a:bodyPr wrap="square">
            <a:spAutoFit/>
          </a:bodyPr>
          <a:lstStyle/>
          <a:p>
            <a:pPr algn="ctr">
              <a:defRPr sz="3600" b="1">
                <a:solidFill>
                  <a:srgbClr val="2E7D32"/>
                </a:solidFill>
                <a:latin typeface="Calibri"/>
              </a:defRPr>
            </a:pPr>
            <a:r>
              <a:t>~2,500</a:t>
            </a:r>
          </a:p>
          <a:p>
            <a:pPr algn="ctr">
              <a:defRPr sz="1400">
                <a:solidFill>
                  <a:srgbClr val="333333"/>
                </a:solidFill>
                <a:latin typeface="Calibri"/>
              </a:defRPr>
            </a:pPr>
            <a:r>
              <a:t>lines of Python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A5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square">
            <a:spAutoFit/>
          </a:bodyPr>
          <a:lstStyle/>
          <a:p>
            <a:pPr algn="ctr">
              <a:defRPr sz="3000" b="1">
                <a:solidFill>
                  <a:srgbClr val="FFFFFF"/>
                </a:solidFill>
                <a:latin typeface="Calibri"/>
              </a:defRPr>
            </a:pPr>
            <a:r>
              <a:t>Summary &amp; Key Contributions</a:t>
            </a:r>
          </a:p>
        </p:txBody>
      </p:sp>
      <p:sp>
        <p:nvSpPr>
          <p:cNvPr id="4" name="TextBox 3"/>
          <p:cNvSpPr txBox="1"/>
          <p:nvPr/>
        </p:nvSpPr>
        <p:spPr>
          <a:xfrm>
            <a:off x="1371600" y="1463040"/>
            <a:ext cx="9144000" cy="457200"/>
          </a:xfrm>
          <a:prstGeom prst="rect">
            <a:avLst/>
          </a:prstGeom>
          <a:noFill/>
        </p:spPr>
        <p:txBody>
          <a:bodyPr wrap="square">
            <a:spAutoFit/>
          </a:bodyPr>
          <a:lstStyle/>
          <a:p>
            <a:pPr algn="l">
              <a:defRPr sz="1800" b="0">
                <a:solidFill>
                  <a:srgbClr val="FFFFFF"/>
                </a:solidFill>
                <a:latin typeface="Calibri"/>
              </a:defRPr>
            </a:pPr>
            <a:r>
              <a:t>1.  Complete 2D TMz FDTD solver with CPML — 6/6 tests pass</a:t>
            </a:r>
          </a:p>
        </p:txBody>
      </p:sp>
      <p:sp>
        <p:nvSpPr>
          <p:cNvPr id="5" name="TextBox 4"/>
          <p:cNvSpPr txBox="1"/>
          <p:nvPr/>
        </p:nvSpPr>
        <p:spPr>
          <a:xfrm>
            <a:off x="1371600" y="2011680"/>
            <a:ext cx="9144000" cy="457200"/>
          </a:xfrm>
          <a:prstGeom prst="rect">
            <a:avLst/>
          </a:prstGeom>
          <a:noFill/>
        </p:spPr>
        <p:txBody>
          <a:bodyPr wrap="square">
            <a:spAutoFit/>
          </a:bodyPr>
          <a:lstStyle/>
          <a:p>
            <a:pPr algn="l">
              <a:defRPr sz="1800" b="0">
                <a:solidFill>
                  <a:srgbClr val="FFFFFF"/>
                </a:solidFill>
                <a:latin typeface="Calibri"/>
              </a:defRPr>
            </a:pPr>
            <a:r>
              <a:t>2.  Adjoint gradient validated to 0.4% vs finite differences</a:t>
            </a:r>
          </a:p>
        </p:txBody>
      </p:sp>
      <p:sp>
        <p:nvSpPr>
          <p:cNvPr id="6" name="TextBox 5"/>
          <p:cNvSpPr txBox="1"/>
          <p:nvPr/>
        </p:nvSpPr>
        <p:spPr>
          <a:xfrm>
            <a:off x="1371600" y="2560320"/>
            <a:ext cx="9144000" cy="457200"/>
          </a:xfrm>
          <a:prstGeom prst="rect">
            <a:avLst/>
          </a:prstGeom>
          <a:noFill/>
        </p:spPr>
        <p:txBody>
          <a:bodyPr wrap="square">
            <a:spAutoFit/>
          </a:bodyPr>
          <a:lstStyle/>
          <a:p>
            <a:pPr algn="l">
              <a:defRPr sz="1800" b="0">
                <a:solidFill>
                  <a:srgbClr val="FFFFFF"/>
                </a:solidFill>
                <a:latin typeface="Calibri"/>
              </a:defRPr>
            </a:pPr>
            <a:r>
              <a:t>3.  Pixel-wise FWI: correct but impractical → evidence-based pivot</a:t>
            </a:r>
          </a:p>
        </p:txBody>
      </p:sp>
      <p:sp>
        <p:nvSpPr>
          <p:cNvPr id="7" name="TextBox 6"/>
          <p:cNvSpPr txBox="1"/>
          <p:nvPr/>
        </p:nvSpPr>
        <p:spPr>
          <a:xfrm>
            <a:off x="1371600" y="3108960"/>
            <a:ext cx="9144000" cy="457200"/>
          </a:xfrm>
          <a:prstGeom prst="rect">
            <a:avLst/>
          </a:prstGeom>
          <a:noFill/>
        </p:spPr>
        <p:txBody>
          <a:bodyPr wrap="square">
            <a:spAutoFit/>
          </a:bodyPr>
          <a:lstStyle/>
          <a:p>
            <a:pPr algn="l">
              <a:defRPr sz="1800" b="0">
                <a:solidFill>
                  <a:srgbClr val="FFFFFF"/>
                </a:solidFill>
                <a:latin typeface="Calibri"/>
              </a:defRPr>
            </a:pPr>
            <a:r>
              <a:t>4.  Geometry inversion: 9 params, &lt; 3 mm position, &lt; 1 mm depth</a:t>
            </a:r>
          </a:p>
        </p:txBody>
      </p:sp>
      <p:sp>
        <p:nvSpPr>
          <p:cNvPr id="8" name="TextBox 7"/>
          <p:cNvSpPr txBox="1"/>
          <p:nvPr/>
        </p:nvSpPr>
        <p:spPr>
          <a:xfrm>
            <a:off x="1371600" y="3657600"/>
            <a:ext cx="9144000" cy="457200"/>
          </a:xfrm>
          <a:prstGeom prst="rect">
            <a:avLst/>
          </a:prstGeom>
          <a:noFill/>
        </p:spPr>
        <p:txBody>
          <a:bodyPr wrap="square">
            <a:spAutoFit/>
          </a:bodyPr>
          <a:lstStyle/>
          <a:p>
            <a:pPr algn="l">
              <a:defRPr sz="1800" b="0">
                <a:solidFill>
                  <a:srgbClr val="FFFFFF"/>
                </a:solidFill>
                <a:latin typeface="Calibri"/>
              </a:defRPr>
            </a:pPr>
            <a:r>
              <a:t>5.  GPU acceleration: 3.2-7.0x measured speedup, bit-identical CPML</a:t>
            </a:r>
          </a:p>
        </p:txBody>
      </p:sp>
      <p:sp>
        <p:nvSpPr>
          <p:cNvPr id="9" name="TextBox 8"/>
          <p:cNvSpPr txBox="1"/>
          <p:nvPr/>
        </p:nvSpPr>
        <p:spPr>
          <a:xfrm>
            <a:off x="1371600" y="4206240"/>
            <a:ext cx="9144000" cy="457200"/>
          </a:xfrm>
          <a:prstGeom prst="rect">
            <a:avLst/>
          </a:prstGeom>
          <a:noFill/>
        </p:spPr>
        <p:txBody>
          <a:bodyPr wrap="square">
            <a:spAutoFit/>
          </a:bodyPr>
          <a:lstStyle/>
          <a:p>
            <a:pPr algn="l">
              <a:defRPr sz="1800" b="0">
                <a:solidFill>
                  <a:srgbClr val="FFFFFF"/>
                </a:solidFill>
                <a:latin typeface="Calibri"/>
              </a:defRPr>
            </a:pPr>
            <a:r>
              <a:t>6.  Extensions: Debye dispersion (~20% effect), dipole antenna</a:t>
            </a:r>
          </a:p>
        </p:txBody>
      </p:sp>
      <p:sp>
        <p:nvSpPr>
          <p:cNvPr id="10" name="TextBox 9"/>
          <p:cNvSpPr txBox="1"/>
          <p:nvPr/>
        </p:nvSpPr>
        <p:spPr>
          <a:xfrm>
            <a:off x="1371600" y="4754879"/>
            <a:ext cx="9144000" cy="457200"/>
          </a:xfrm>
          <a:prstGeom prst="rect">
            <a:avLst/>
          </a:prstGeom>
          <a:noFill/>
        </p:spPr>
        <p:txBody>
          <a:bodyPr wrap="square">
            <a:spAutoFit/>
          </a:bodyPr>
          <a:lstStyle/>
          <a:p>
            <a:pPr algn="l">
              <a:defRPr sz="1800" b="0">
                <a:solidFill>
                  <a:srgbClr val="FFFFFF"/>
                </a:solidFill>
                <a:latin typeface="Calibri"/>
              </a:defRPr>
            </a:pPr>
            <a:r>
              <a:t>     (~40% effect), multi-scale frequency continuation</a:t>
            </a:r>
          </a:p>
        </p:txBody>
      </p:sp>
      <p:sp>
        <p:nvSpPr>
          <p:cNvPr id="11" name="TextBox 10"/>
          <p:cNvSpPr txBox="1"/>
          <p:nvPr/>
        </p:nvSpPr>
        <p:spPr>
          <a:xfrm>
            <a:off x="1371600" y="5303520"/>
            <a:ext cx="9144000" cy="457200"/>
          </a:xfrm>
          <a:prstGeom prst="rect">
            <a:avLst/>
          </a:prstGeom>
          <a:noFill/>
        </p:spPr>
        <p:txBody>
          <a:bodyPr wrap="square">
            <a:spAutoFit/>
          </a:bodyPr>
          <a:lstStyle/>
          <a:p>
            <a:pPr algn="l">
              <a:defRPr sz="1800" b="0">
                <a:solidFill>
                  <a:srgbClr val="FFFFFF"/>
                </a:solidFill>
                <a:latin typeface="Calibri"/>
              </a:defRPr>
            </a:pPr>
            <a:endParaRPr/>
          </a:p>
        </p:txBody>
      </p:sp>
      <p:sp>
        <p:nvSpPr>
          <p:cNvPr id="13" name="TextBox 12"/>
          <p:cNvSpPr txBox="1"/>
          <p:nvPr/>
        </p:nvSpPr>
        <p:spPr>
          <a:xfrm>
            <a:off x="914400" y="5532120"/>
            <a:ext cx="10058400" cy="548640"/>
          </a:xfrm>
          <a:prstGeom prst="rect">
            <a:avLst/>
          </a:prstGeom>
          <a:noFill/>
        </p:spPr>
        <p:txBody>
          <a:bodyPr wrap="square">
            <a:spAutoFit/>
          </a:bodyPr>
          <a:lstStyle/>
          <a:p>
            <a:pPr algn="ctr">
              <a:defRPr sz="2400" b="1">
                <a:solidFill>
                  <a:srgbClr val="BBCCDD"/>
                </a:solidFill>
                <a:latin typeface="Calibri"/>
              </a:defRPr>
            </a:pPr>
            <a:r>
              <a:rPr dirty="0"/>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1725</Words>
  <Application>Microsoft Macintosh PowerPoint</Application>
  <PresentationFormat>Widescreen</PresentationFormat>
  <Paragraphs>266</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Abdullah Maruf</cp:lastModifiedBy>
  <cp:revision>2</cp:revision>
  <dcterms:created xsi:type="dcterms:W3CDTF">2013-01-27T09:14:16Z</dcterms:created>
  <dcterms:modified xsi:type="dcterms:W3CDTF">2026-04-15T18:33:40Z</dcterms:modified>
  <cp:category/>
</cp:coreProperties>
</file>